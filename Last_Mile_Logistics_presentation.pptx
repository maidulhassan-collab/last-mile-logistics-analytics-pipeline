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f63ec361244a6d" /><Relationship Type="http://schemas.openxmlformats.org/officeDocument/2006/relationships/extended-properties" Target="/docProps/app.xml" Id="R28166e9389604fc5" /><Relationship Type="http://schemas.openxmlformats.org/officeDocument/2006/relationships/officeDocument" Target="/ppt/presentation.xml" Id="Rd0b5cf555a454585" /></Relationships>
</file>

<file path=ppt/presentation.xml><?xml version="1.0" encoding="utf-8"?>
<p:presentation xmlns:p="http://schemas.openxmlformats.org/presentationml/2006/main">
  <p:sldMasterIdLst>
    <p:sldMasterId xmlns:r="http://schemas.openxmlformats.org/officeDocument/2006/relationships" id="2147483648" r:id="Rd6caba4f428e42ab"/>
  </p:sldMasterIdLst>
  <p:notesMasterIdLst>
    <p:notesMasterId xmlns:r="http://schemas.openxmlformats.org/officeDocument/2006/relationships" r:id="R8c43440708a947fb"/>
  </p:notesMasterIdLst>
  <p:sldIdLst>
    <p:sldId xmlns:r="http://schemas.openxmlformats.org/officeDocument/2006/relationships" id="256" r:id="Re9707bfa4a7f4c29"/>
    <p:sldId xmlns:r="http://schemas.openxmlformats.org/officeDocument/2006/relationships" id="257" r:id="R2bec0a19f05545ae"/>
    <p:sldId xmlns:r="http://schemas.openxmlformats.org/officeDocument/2006/relationships" id="258" r:id="Rc503877b16814d38"/>
    <p:sldId xmlns:r="http://schemas.openxmlformats.org/officeDocument/2006/relationships" id="259" r:id="R9644396336fc45db"/>
    <p:sldId xmlns:r="http://schemas.openxmlformats.org/officeDocument/2006/relationships" id="260" r:id="Rda44f35004eb406d"/>
    <p:sldId xmlns:r="http://schemas.openxmlformats.org/officeDocument/2006/relationships" id="261" r:id="Rc78d02ac46ae41ee"/>
    <p:sldId xmlns:r="http://schemas.openxmlformats.org/officeDocument/2006/relationships" id="262" r:id="Rcca15e33bd384109"/>
    <p:sldId xmlns:r="http://schemas.openxmlformats.org/officeDocument/2006/relationships" id="263" r:id="R9f3ca5d887df413d"/>
    <p:sldId xmlns:r="http://schemas.openxmlformats.org/officeDocument/2006/relationships" id="264" r:id="R46adf919dc6d4888"/>
    <p:sldId xmlns:r="http://schemas.openxmlformats.org/officeDocument/2006/relationships" id="265" r:id="R7529cfb959ad43a2"/>
    <p:sldId xmlns:r="http://schemas.openxmlformats.org/officeDocument/2006/relationships" id="266" r:id="R40308aa053ae4fd9"/>
    <p:sldId xmlns:r="http://schemas.openxmlformats.org/officeDocument/2006/relationships" id="267" r:id="Rdaac418960734010"/>
    <p:sldId xmlns:r="http://schemas.openxmlformats.org/officeDocument/2006/relationships" id="268" r:id="R1828f2b7cbaa4663"/>
    <p:sldId xmlns:r="http://schemas.openxmlformats.org/officeDocument/2006/relationships" id="269" r:id="R22c1aa42b46c440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0b0f9cead44155" /><Relationship Type="http://schemas.openxmlformats.org/officeDocument/2006/relationships/slideMaster" Target="/ppt/slideMasters/slideMaster1.xml" Id="Rd6caba4f428e42ab" /><Relationship Type="http://schemas.openxmlformats.org/officeDocument/2006/relationships/notesMaster" Target="/ppt/notesMasters/notesMaster1.xml" Id="R8c43440708a947fb" /><Relationship Type="http://schemas.openxmlformats.org/officeDocument/2006/relationships/presProps" Target="/ppt/presProps.xml" Id="Re1ba43c1c46a4e4d" /><Relationship Type="http://schemas.openxmlformats.org/officeDocument/2006/relationships/tableStyles" Target="/ppt/tableStyles.xml" Id="Rfe82b48b337f439a" /><Relationship Type="http://schemas.openxmlformats.org/officeDocument/2006/relationships/slide" Target="/ppt/slides/slide1.xml" Id="Re9707bfa4a7f4c29" /><Relationship Type="http://schemas.openxmlformats.org/officeDocument/2006/relationships/slide" Target="/ppt/slides/slide2.xml" Id="R2bec0a19f05545ae" /><Relationship Type="http://schemas.openxmlformats.org/officeDocument/2006/relationships/slide" Target="/ppt/slides/slide3.xml" Id="Rc503877b16814d38" /><Relationship Type="http://schemas.openxmlformats.org/officeDocument/2006/relationships/slide" Target="/ppt/slides/slide4.xml" Id="R9644396336fc45db" /><Relationship Type="http://schemas.openxmlformats.org/officeDocument/2006/relationships/slide" Target="/ppt/slides/slide5.xml" Id="Rda44f35004eb406d" /><Relationship Type="http://schemas.openxmlformats.org/officeDocument/2006/relationships/slide" Target="/ppt/slides/slide6.xml" Id="Rc78d02ac46ae41ee" /><Relationship Type="http://schemas.openxmlformats.org/officeDocument/2006/relationships/slide" Target="/ppt/slides/slide7.xml" Id="Rcca15e33bd384109" /><Relationship Type="http://schemas.openxmlformats.org/officeDocument/2006/relationships/slide" Target="/ppt/slides/slide8.xml" Id="R9f3ca5d887df413d" /><Relationship Type="http://schemas.openxmlformats.org/officeDocument/2006/relationships/slide" Target="/ppt/slides/slide9.xml" Id="R46adf919dc6d4888" /><Relationship Type="http://schemas.openxmlformats.org/officeDocument/2006/relationships/slide" Target="/ppt/slides/slide10.xml" Id="R7529cfb959ad43a2" /><Relationship Type="http://schemas.openxmlformats.org/officeDocument/2006/relationships/slide" Target="/ppt/slides/slide11.xml" Id="R40308aa053ae4fd9" /><Relationship Type="http://schemas.openxmlformats.org/officeDocument/2006/relationships/slide" Target="/ppt/slides/slide12.xml" Id="Rdaac418960734010" /><Relationship Type="http://schemas.openxmlformats.org/officeDocument/2006/relationships/slide" Target="/ppt/slides/slide13.xml" Id="R1828f2b7cbaa4663" /><Relationship Type="http://schemas.openxmlformats.org/officeDocument/2006/relationships/slide" Target="/ppt/slides/slide14.xml" Id="R22c1aa42b46c44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ee49a1403f44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5ec7db5bb048f6" /><Relationship Type="http://schemas.openxmlformats.org/officeDocument/2006/relationships/notesMaster" Target="/ppt/notesMasters/notesMaster1.xml" Id="R9899b6aedb5843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4c62efdda542e0" /><Relationship Type="http://schemas.openxmlformats.org/officeDocument/2006/relationships/notesMaster" Target="/ppt/notesMasters/notesMaster1.xml" Id="Rffd669c0bc074d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7408c5d57742b8" /><Relationship Type="http://schemas.openxmlformats.org/officeDocument/2006/relationships/notesMaster" Target="/ppt/notesMasters/notesMaster1.xml" Id="R83340223e66049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90f339e22b4e92" /><Relationship Type="http://schemas.openxmlformats.org/officeDocument/2006/relationships/notesMaster" Target="/ppt/notesMasters/notesMaster1.xml" Id="Rc3f812c0030643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9058b7f8f445db" /><Relationship Type="http://schemas.openxmlformats.org/officeDocument/2006/relationships/notesMaster" Target="/ppt/notesMasters/notesMaster1.xml" Id="R0c601c1493ea46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c46d0835f74a1c" /><Relationship Type="http://schemas.openxmlformats.org/officeDocument/2006/relationships/notesMaster" Target="/ppt/notesMasters/notesMaster1.xml" Id="Rb5e9da86f99d4c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cedebb7dd3ab41ca" /><Relationship Type="http://schemas.openxmlformats.org/officeDocument/2006/relationships/notesMaster" Target="/ppt/notesMasters/notesMaster1.xml" Id="R497d49ccfbb049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ac0a8a2fd64e3b" /><Relationship Type="http://schemas.openxmlformats.org/officeDocument/2006/relationships/notesMaster" Target="/ppt/notesMasters/notesMaster1.xml" Id="R953d5086fba54b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c14e87619847c9" /><Relationship Type="http://schemas.openxmlformats.org/officeDocument/2006/relationships/notesMaster" Target="/ppt/notesMasters/notesMaster1.xml" Id="R12126294529e434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e1dfd1cd154024" /><Relationship Type="http://schemas.openxmlformats.org/officeDocument/2006/relationships/notesMaster" Target="/ppt/notesMasters/notesMaster1.xml" Id="R0ba1b6a177ad49c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c3eab6a773f4f29" /><Relationship Type="http://schemas.openxmlformats.org/officeDocument/2006/relationships/notesMaster" Target="/ppt/notesMasters/notesMaster1.xml" Id="R798afda9a5b0422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da55e0b62264aa7" /><Relationship Type="http://schemas.openxmlformats.org/officeDocument/2006/relationships/notesMaster" Target="/ppt/notesMasters/notesMaster1.xml" Id="R47969ef6c9b1467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a78720c75824893" /><Relationship Type="http://schemas.openxmlformats.org/officeDocument/2006/relationships/notesMaster" Target="/ppt/notesMasters/notesMaster1.xml" Id="R157f58df016c4f5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cadc4e2ea8e4868" /><Relationship Type="http://schemas.openxmlformats.org/officeDocument/2006/relationships/notesMaster" Target="/ppt/notesMasters/notesMaster1.xml" Id="R551cc2d27c1b4c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project connects the full analytics lifecycle, from synthetic logistics CSV files to a business dashboard. I built ingestion and validation in Python, layered SQL models in PostgreSQL and dbt, dependency orchestration in Airflow, and operational reporting in Power BI. The focus is both engineering reliability and a clear business view of delivery performance.</a:t>
            </a:r>
          </a:p>
          <a:p xmlns:a="http://schemas.openxmlformats.org/drawingml/2006/main">
            <a:r>
              <a:t/>
            </a:r>
          </a:p>
          <a:p xmlns:a="http://schemas.openxmlformats.org/drawingml/2006/main">
            <a:r>
              <a:t>Source: Last_Mile_Logistics_Analytics_Project_Report.docx, Executive Summary; Sections 2–8. Prepared by Md. Maidul Hassan Shanto, 28 October 2026. Synthetic portfolio dataset. No report images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operational challenge is fragmentation. Orders, event histories, people, facilities and financial records must be integrated before managers can understand performance. The project translates these sources into questions about volume, delivery outcomes, timeliness and the performance of hubs and couriers. These are analytical questions for a synthetic scenario, not claims about a real company.</a:t>
            </a:r>
          </a:p>
          <a:p xmlns:a="http://schemas.openxmlformats.org/drawingml/2006/main">
            <a:r>
              <a:t/>
            </a:r>
          </a:p>
          <a:p xmlns:a="http://schemas.openxmlformats.org/drawingml/2006/main">
            <a:r>
              <a:t>Source: Last_Mile_Logistics_Analytics_Project_Report.docx, Sections 1–2; Section 8. Prepared by Md. Maidul Hassan Shanto, 28 October 2026. Synthetic portfolio dataset. No report images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comprises seven operational CSV files. Tracking events are the largest entity at exactly 4,244,332 rows. The remaining records cover 60,000 orders, 60,000 payments, 2,930 returns, 600 merchants, 220 couriers and 12 hubs. These are source and database row counts verified by the successful ETL. The dataset is synthetic and was created for portfolio and learning purposes.</a:t>
            </a:r>
          </a:p>
          <a:p xmlns:a="http://schemas.openxmlformats.org/drawingml/2006/main">
            <a:r>
              <a:t/>
            </a:r>
          </a:p>
          <a:p xmlns:a="http://schemas.openxmlformats.org/drawingml/2006/main">
            <a:r>
              <a:t>Source: Last_Mile_Logistics_Analytics_Project_Report.docx, Section 2, entity row-count table; Section 9.1. Prepared by Md. Maidul Hassan Shanto, 28 October 2026. Synthetic portfolio dataset. No report images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separates responsibilities. Python ingests and validates raw files. PostgreSQL persists raw and analytical structures. dbt builds modular transformations, followed by quality tests. Power BI consumes the resulting analytics tables and views. Airflow controls the ETL, dbt run and dbt test dependencies. Validation is a logical quality gate, not a separate database or service. The Power BI dashboard consumes model output; its refresh is not shown as an Airflow task.</a:t>
            </a:r>
          </a:p>
          <a:p xmlns:a="http://schemas.openxmlformats.org/drawingml/2006/main">
            <a:r>
              <a:t/>
            </a:r>
          </a:p>
          <a:p xmlns:a="http://schemas.openxmlformats.org/drawingml/2006/main">
            <a:r>
              <a:t>Source: Last_Mile_Logistics_Analytics_Project_Report.docx, Section 3; Sections 4–8. Prepared by Md. Maidul Hassan Shanto, 28 October 2026. Synthetic portfolio dataset. No report images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ETL uses Python, Pandas and psycopg2. It fails immediately if a file is absent or the schema is unexpected. Primary-key checks reject null or duplicate identifiers. Missing non-key values produce profiling warnings rather than automatically removing records. The raw tables refresh as a set, using PostgreSQL COPY for bulk ingestion. After loading, each table must match its CSV row count or the pipeline raises an exception. Structured logs record each stage.</a:t>
            </a:r>
          </a:p>
          <a:p xmlns:a="http://schemas.openxmlformats.org/drawingml/2006/main">
            <a:r>
              <a:t/>
            </a:r>
          </a:p>
          <a:p xmlns:a="http://schemas.openxmlformats.org/drawingml/2006/main">
            <a:r>
              <a:t>Source: Last_Mile_Logistics_Analytics_Project_Report.docx, Section 4; Section 9.1. Prepared by Md. Maidul Hassan Shanto, 28 October 2026. Synthetic portfolio dataset. No report images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PostgreSQL is the central persistent database. Raw tables keep source-level records, while dbt defines the downstream staging, intermediate and mart models. This keeps business rules out of ingestion code and allows a KPI to be traced back to source. Confirmed model names include stg_orders, stg_tracking_events, int_order_events, fct_orders and mart_daily_kpi. Analytics-layer tables and views feed the dashboard, including hub and courier reporting.</a:t>
            </a:r>
          </a:p>
          <a:p xmlns:a="http://schemas.openxmlformats.org/drawingml/2006/main">
            <a:r>
              <a:t/>
            </a:r>
          </a:p>
          <a:p xmlns:a="http://schemas.openxmlformats.org/drawingml/2006/main">
            <a:r>
              <a:t>Source: Last_Mile_Logistics_Analytics_Project_Report.docx, Section 5, layering table; Section 6.1; Section 8. Prepared by Md. Maidul Hassan Shanto, 28 October 2026. Synthetic portfolio dataset. No report images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recovered dbt project uses reusable SQL models, source definitions and a custom range assertion. Staging prepares source records, the intermediate order-events model consolidates event logic, the order fact sets the analytical grain, and the daily KPI mart aggregates operational metrics. The final test suite passed all 16 configured tests with zero warnings or errors. This validates the configured checks; it does not claim every possible data issue is eliminated.</a:t>
            </a:r>
          </a:p>
          <a:p xmlns:a="http://schemas.openxmlformats.org/drawingml/2006/main">
            <a:r>
              <a:t/>
            </a:r>
          </a:p>
          <a:p xmlns:a="http://schemas.openxmlformats.org/drawingml/2006/main">
            <a:r>
              <a:t>Source: Last_Mile_Logistics_Analytics_Project_Report.docx, Section 6; Section 9.1. Prepared by Md. Maidul Hassan Shanto, 28 October 2026. Synthetic portfolio dataset. No report images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tasks in the final Airflow DAG succeeded in the manual validation run. Dependencies enforce that transformations wait for ETL success and tests wait for model builds. This gives workflow execution, clear task failure states and repeatability. The present DAG has schedule=None and requires a manual trigger. The orchestration after that trigger is automated. Automatic scheduling, retries and alerts are future improvements.</a:t>
            </a:r>
          </a:p>
          <a:p xmlns:a="http://schemas.openxmlformats.org/drawingml/2006/main">
            <a:r>
              <a:t/>
            </a:r>
          </a:p>
          <a:p xmlns:a="http://schemas.openxmlformats.org/drawingml/2006/main">
            <a:r>
              <a:t>Source: Last_Mile_Logistics_Analytics_Project_Report.docx, Section 7; Section 9.1. Prepared by Md. Maidul Hassan Shanto, 28 October 2026. Synthetic portfolio dataset. No report images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Power BI is the business-facing output. The dashboard connects to PostgreSQL analytics tables and views, keeping transformation logic in the modeled data layer. The four headline results are 60K orders, 92.42 percent Delivery Success Rate, 75.82 percent SLA Compliance and 44.15 hours Average Delivery TAT. Quarterly volume tracks demand, status distribution shows outcomes, and hub and courier views enable operational comparisons. Percentages use the project-defined eligible populations and filters.</a:t>
            </a:r>
          </a:p>
          <a:p xmlns:a="http://schemas.openxmlformats.org/drawingml/2006/main">
            <a:r>
              <a:t/>
            </a:r>
          </a:p>
          <a:p xmlns:a="http://schemas.openxmlformats.org/drawingml/2006/main">
            <a:r>
              <a:t>Source: Last_Mile_Logistics_Analytics_Project_Report.docx, Section 8; headline metrics table. Prepared by Md. Maidul Hassan Shanto, 28 October 2026. Synthetic portfolio dataset. No report images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findings are descriptive observations from synthetic data. The delivery success metric indicates that most eligible orders were delivered. SLA Compliance at 75.82 percent suggests room to investigate delivery timeliness, but the report does not establish causes or interventions. Average delivery turnaround time is 44.15 hours. Delivered is the dominant status category; smaller outcome groups include returns and unsuccessful or active deliveries. Rates are model-defined and should not be recomputed from an unrelated status visual.</a:t>
            </a:r>
          </a:p>
          <a:p xmlns:a="http://schemas.openxmlformats.org/drawingml/2006/main">
            <a:r>
              <a:t/>
            </a:r>
          </a:p>
          <a:p xmlns:a="http://schemas.openxmlformats.org/drawingml/2006/main">
            <a:r>
              <a:t>Source: Last_Mile_Logistics_Analytics_Project_Report.docx, Section 8; headline metrics table. Prepared by Md. Maidul Hassan Shanto, 28 October 2026. Synthetic portfolio dataset. No report images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Recovery and debugging were a substantial part of implementation. WSL instability caused I/O errors and read-only behavior. The recovery preserved source assets, rebuilt a clean Ubuntu/WSL runtime, and restored source and configuration without carrying over damaged generated environments. Python and Airflow virtual environments were recreated. PostgreSQL was reconnected through environment variables, and each stage was validated independently before the end-to-end run. This reinforces why source assets should remain separate from generated runtime artifacts.</a:t>
            </a:r>
          </a:p>
          <a:p xmlns:a="http://schemas.openxmlformats.org/drawingml/2006/main">
            <a:r>
              <a:t/>
            </a:r>
          </a:p>
          <a:p xmlns:a="http://schemas.openxmlformats.org/drawingml/2006/main">
            <a:r>
              <a:t>Source: Last_Mile_Logistics_Analytics_Project_Report.docx, Section 9.2; Appendix A; Appendix B. Prepared by Md. Maidul Hassan Shanto, 28 October 2026. Synthetic portfolio dataset. No report images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demonstrates a complete lifecycle rather than a single isolated tool. It includes Python ingestion, relational storage, analytical SQL, dbt model organization and testing, Airflow dependencies, and Power BI KPI communication. Environment recovery, secure configuration and repository hygiene are part of the engineering story. The business contribution is translating logistics activity into understandable operational measurements.</a:t>
            </a:r>
          </a:p>
          <a:p xmlns:a="http://schemas.openxmlformats.org/drawingml/2006/main">
            <a:r>
              <a:t/>
            </a:r>
          </a:p>
          <a:p xmlns:a="http://schemas.openxmlformats.org/drawingml/2006/main">
            <a:r>
              <a:t>Source: Last_Mile_Logistics_Analytics_Project_Report.docx, Section 11; Appendix B. Prepared by Md. Maidul Hassan Shanto, 28 October 2026. Synthetic portfolio dataset. No report images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roadmap is proposed future work, not a completed implementation. The report recommends scheduling, retries, timeouts, alerts, monitoring, incremental dbt processing, containerization, CI checks and deeper BI. The phased ordering is a presentation of those next steps, not a delivery commitment. Advanced quality monitoring, cloud deployment and predictive delivery-risk modeling are additional future candidates requested in the presentation brief. No cloud system, predictive result or production deployment is claimed.</a:t>
            </a:r>
          </a:p>
          <a:p xmlns:a="http://schemas.openxmlformats.org/drawingml/2006/main">
            <a:r>
              <a:t/>
            </a:r>
          </a:p>
          <a:p xmlns:a="http://schemas.openxmlformats.org/drawingml/2006/main">
            <a:r>
              <a:t>Source: Last_Mile_Logistics_Analytics_Project_Report.docx, Section 10 roadmap; future candidates in presentation brief. Prepared by Md. Maidul Hassan Shanto, 28 October 2026. Synthetic portfolio dataset. No report images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turns more than 4.24 million tracking events and related operational records into a validated analytical foundation and a business dashboard. Reliability is demonstrated by verified ingestion and 16 passing dbt checks. Automation refers to dependency-driven task execution following a manual Airflow trigger. Business focus comes from dashboard measures for delivery outcomes, timeliness, volume, hubs and couriers. All results are from a synthetic portfolio dataset.</a:t>
            </a:r>
          </a:p>
          <a:p xmlns:a="http://schemas.openxmlformats.org/drawingml/2006/main">
            <a:r>
              <a:t/>
            </a:r>
          </a:p>
          <a:p xmlns:a="http://schemas.openxmlformats.org/drawingml/2006/main">
            <a:r>
              <a:t>Source: Last_Mile_Logistics_Analytics_Project_Report.docx, Executive Summary; Sections 9–11. Prepared by Md. Maidul Hassan Shanto, 28 October 2026. Synthetic portfolio dataset. No report images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7b75324c404f6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913299d8a4640e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2733b99b41e45c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5792750843b4aa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f0368f729834ac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41a0551d05a43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5E58F0-F91F-415D-8CA2-52850197519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029E1FD-27FC-43B2-B2CD-12ACD1B542D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B290645-EFC2-45B9-9621-26A138DB44D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80A260-5F50-4253-A4BF-6FB4F3826C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A61E748-DF59-4061-BEB5-9F365777DF3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00B8214-F671-43AD-A172-C5AAA56850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38FBE0-08C2-455D-A5A8-B1ED4C72BDE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4E9C36F-C477-4236-897B-8C3593A3473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68151E-3411-4A33-A477-AF4BFA355D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41E794-57A9-42D6-AA49-555C9E282CE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127cb94bdc54374" /><Relationship Type="http://schemas.openxmlformats.org/officeDocument/2006/relationships/slideLayout" Target="/ppt/slideLayouts/slideLayout1.xml" Id="R19c848dbcc0f401b" /><Relationship Type="http://schemas.openxmlformats.org/officeDocument/2006/relationships/slideLayout" Target="/ppt/slideLayouts/slideLayout2.xml" Id="R67b4a35d20d647e6" /><Relationship Type="http://schemas.openxmlformats.org/officeDocument/2006/relationships/slideLayout" Target="/ppt/slideLayouts/slideLayout3.xml" Id="R8cd2e9e9dad84cfa" /><Relationship Type="http://schemas.openxmlformats.org/officeDocument/2006/relationships/slideLayout" Target="/ppt/slideLayouts/slideLayout4.xml" Id="R496022b39463470a" /><Relationship Type="http://schemas.openxmlformats.org/officeDocument/2006/relationships/slideLayout" Target="/ppt/slideLayouts/slideLayout5.xml" Id="R8ebcd68086c34e07" /><Relationship Type="http://schemas.openxmlformats.org/officeDocument/2006/relationships/slideLayout" Target="/ppt/slideLayouts/slideLayout6.xml" Id="R113f5c38212342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c848dbcc0f401b"/>
    <p:sldLayoutId xmlns:r="http://schemas.openxmlformats.org/officeDocument/2006/relationships" id="2147483650" r:id="R67b4a35d20d647e6"/>
    <p:sldLayoutId xmlns:r="http://schemas.openxmlformats.org/officeDocument/2006/relationships" id="2147483651" r:id="R8cd2e9e9dad84cfa"/>
    <p:sldLayoutId xmlns:r="http://schemas.openxmlformats.org/officeDocument/2006/relationships" id="2147483652" r:id="R496022b39463470a"/>
    <p:sldLayoutId xmlns:r="http://schemas.openxmlformats.org/officeDocument/2006/relationships" id="2147483653" r:id="R8ebcd68086c34e07"/>
    <p:sldLayoutId xmlns:r="http://schemas.openxmlformats.org/officeDocument/2006/relationships" id="2147483654" r:id="R113f5c38212342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529364ee71c4bd2" /><Relationship Type="http://schemas.openxmlformats.org/officeDocument/2006/relationships/notesSlide" Target="/ppt/notesSlides/notesSlide1.xml" Id="R897012a05d914d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69689ae59974f27" /><Relationship Type="http://schemas.openxmlformats.org/officeDocument/2006/relationships/notesSlide" Target="/ppt/notesSlides/notesSlide2.xml" Id="R4b7bfd5992634d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bcdcdd1ecf4471a" /><Relationship Type="http://schemas.openxmlformats.org/officeDocument/2006/relationships/notesSlide" Target="/ppt/notesSlides/notesSlide3.xml" Id="R4ae44441af34493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e3414fab7364609" /><Relationship Type="http://schemas.openxmlformats.org/officeDocument/2006/relationships/notesSlide" Target="/ppt/notesSlides/notesSlide4.xml" Id="R3d2cabb764af4c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96691d7ae91495f" /><Relationship Type="http://schemas.openxmlformats.org/officeDocument/2006/relationships/notesSlide" Target="/ppt/notesSlides/notesSlide5.xml" Id="R7598f9ca94f94f3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89edfc84b0546ad" /><Relationship Type="http://schemas.openxmlformats.org/officeDocument/2006/relationships/notesSlide" Target="/ppt/notesSlides/notesSlide6.xml" Id="R6b141f3c3a424e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e5b84f03d764050" /><Relationship Type="http://schemas.openxmlformats.org/officeDocument/2006/relationships/notesSlide" Target="/ppt/notesSlides/notesSlide7.xml" Id="R0b87f4ffb6ff46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f4604d61a174d3b" /><Relationship Type="http://schemas.openxmlformats.org/officeDocument/2006/relationships/notesSlide" Target="/ppt/notesSlides/notesSlide8.xml" Id="R44e4b33d137948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5f21d530a7940fc" /><Relationship Type="http://schemas.openxmlformats.org/officeDocument/2006/relationships/notesSlide" Target="/ppt/notesSlides/notesSlide9.xml" Id="Rd17e9df010da491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4709663f00b4b46" /><Relationship Type="http://schemas.openxmlformats.org/officeDocument/2006/relationships/notesSlide" Target="/ppt/notesSlides/notesSlide10.xml" Id="Rc39c00dae255415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bc64ad5ab7f4c01" /><Relationship Type="http://schemas.openxmlformats.org/officeDocument/2006/relationships/notesSlide" Target="/ppt/notesSlides/notesSlide11.xml" Id="R0d69d5d97e74448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166173c23c64572" /><Relationship Type="http://schemas.openxmlformats.org/officeDocument/2006/relationships/notesSlide" Target="/ppt/notesSlides/notesSlide12.xml" Id="R2c18e8feaed4487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1f008dcdc6546e5" /><Relationship Type="http://schemas.openxmlformats.org/officeDocument/2006/relationships/notesSlide" Target="/ppt/notesSlides/notesSlide13.xml" Id="R74b3f1f587bd42f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3ce55e25b0b4688" /><Relationship Type="http://schemas.openxmlformats.org/officeDocument/2006/relationships/notesSlide" Target="/ppt/notesSlides/notesSlide14.xml" Id="R6c9d4ad30b374b26" /></Relationships>
</file>

<file path=ppt/slides/slide1.xml><?xml version="1.0" encoding="utf-8"?>
<p:sld xmlns:p="http://schemas.openxmlformats.org/presentationml/2006/main">
  <p:cSld>
    <p:bg>
      <p:bgPr>
        <a:solidFill xmlns:a="http://schemas.openxmlformats.org/drawingml/2006/main">
          <a:srgbClr val="091522"/>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7B29F096-83C7-4B48-8947-E266A6C72D8E}"/>
              </a:ext>
            </a:extLst>
          </p:cNvPr>
          <p:cNvCxnSpPr>
            <a:stCxn xmlns:a="http://schemas.openxmlformats.org/drawingml/2006/main" id="11" idx="2"/>
            <a:endCxn xmlns:a="http://schemas.openxmlformats.org/drawingml/2006/main" id="14" idx="0"/>
          </p:cNvCxnSpPr>
          <p:nvPr/>
        </p:nvCxnSpPr>
        <p:spPr>
          <a:xfrm xmlns:a="http://schemas.openxmlformats.org/drawingml/2006/main">
            <a:off x="10310813" y="3762375"/>
            <a:ext cx="0" cy="304800"/>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78E93EB2-8EB2-46D5-BCD2-A057CBF9507B}"/>
              </a:ext>
            </a:extLst>
          </p:cNvPr>
          <p:cNvCxnSpPr>
            <a:stCxn xmlns:a="http://schemas.openxmlformats.org/drawingml/2006/main" id="8" idx="2"/>
            <a:endCxn xmlns:a="http://schemas.openxmlformats.org/drawingml/2006/main" id="11" idx="0"/>
          </p:cNvCxnSpPr>
          <p:nvPr/>
        </p:nvCxnSpPr>
        <p:spPr>
          <a:xfrm xmlns:a="http://schemas.openxmlformats.org/drawingml/2006/main">
            <a:off x="10310813" y="2514600"/>
            <a:ext cx="0" cy="304800"/>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sp>
        <p:nvSpPr>
          <p:cNvPr id="22" name="shape-1">
            <a:extLst xmlns:a="http://schemas.openxmlformats.org/drawingml/2006/main">
              <a:ext uri="{FF2B5EF4-FFF2-40B4-BE49-F238E27FC236}">
                <a16:creationId xmlns:a16="http://schemas.microsoft.com/office/drawing/2014/main" id="{A606FBB7-7E27-4AB6-BB77-16AC995D01DD}"/>
              </a:ext>
            </a:extLst>
          </p:cNvPr>
          <p:cNvSpPr>
            <a:spLocks xmlns:a="http://schemas.openxmlformats.org/drawingml/2006/main" noGrp="1"/>
          </p:cNvSpPr>
          <p:nvPr/>
        </p:nvSpPr>
        <p:spPr>
          <a:xfrm xmlns:a="http://schemas.openxmlformats.org/drawingml/2006/main">
            <a:off x="571500" y="333375"/>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48DCE7"/>
                </a:solidFill>
                <a:latin typeface="Liberation Sans"/>
                <a:ea typeface="Liberation Sans"/>
                <a:cs typeface="Liberation Sans"/>
              </a:defRPr>
            </a:defPPr>
          </a:lstStyle>
          <a:p xmlns:a="http://schemas.openxmlformats.org/drawingml/2006/main">
            <a:pPr algn="l">
              <a:defRPr sz="1125" b="1">
                <a:solidFill>
                  <a:srgbClr val="48DCE7"/>
                </a:solidFill>
                <a:latin typeface="Liberation Sans"/>
                <a:ea typeface="Liberation Sans"/>
                <a:cs typeface="Liberation Sans"/>
              </a:defRPr>
            </a:pPr>
            <a:r>
              <a:rPr sz="1125" b="1">
                <a:solidFill>
                  <a:srgbClr val="48DCE7"/>
                </a:solidFill>
                <a:latin typeface="Liberation Sans"/>
                <a:ea typeface="Liberation Sans"/>
                <a:cs typeface="Liberation Sans"/>
              </a:rPr>
              <a:t>PORTFOLIO PROJECT</a:t>
            </a:r>
          </a:p>
        </p:txBody>
      </p:sp>
      <p:sp>
        <p:nvSpPr>
          <p:cNvPr id="2" name="shape-2">
            <a:extLst xmlns:a="http://schemas.openxmlformats.org/drawingml/2006/main">
              <a:ext uri="{FF2B5EF4-FFF2-40B4-BE49-F238E27FC236}">
                <a16:creationId xmlns:a16="http://schemas.microsoft.com/office/drawing/2014/main" id="{201C7821-99D5-45A1-B5DE-CC27062FA17B}"/>
              </a:ext>
            </a:extLst>
          </p:cNvPr>
          <p:cNvSpPr>
            <a:spLocks xmlns:a="http://schemas.openxmlformats.org/drawingml/2006/main" noGrp="1"/>
          </p:cNvSpPr>
          <p:nvPr/>
        </p:nvSpPr>
        <p:spPr>
          <a:xfrm xmlns:a="http://schemas.openxmlformats.org/drawingml/2006/main">
            <a:off x="571500" y="704850"/>
            <a:ext cx="110490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3F7FB"/>
                </a:solidFill>
                <a:latin typeface="Liberation Sans"/>
                <a:ea typeface="Liberation Sans"/>
                <a:cs typeface="Liberation Sans"/>
              </a:defRPr>
            </a:defPPr>
          </a:lstStyle>
          <a:p xmlns:a="http://schemas.openxmlformats.org/drawingml/2006/main">
            <a:r>
              <a:t/>
            </a:r>
          </a:p>
        </p:txBody>
      </p:sp>
      <p:sp>
        <p:nvSpPr>
          <p:cNvPr id="3" name="line-3">
            <a:extLst xmlns:a="http://schemas.openxmlformats.org/drawingml/2006/main">
              <a:ext uri="{FF2B5EF4-FFF2-40B4-BE49-F238E27FC236}">
                <a16:creationId xmlns:a16="http://schemas.microsoft.com/office/drawing/2014/main" id="{AF512A91-4E05-4D01-8924-E801CC6E00A2}"/>
              </a:ext>
            </a:extLst>
          </p:cNvPr>
          <p:cNvSpPr>
            <a:spLocks xmlns:a="http://schemas.openxmlformats.org/drawingml/2006/main" noGrp="1"/>
          </p:cNvSpPr>
          <p:nvPr/>
        </p:nvSpPr>
        <p:spPr>
          <a:xfrm xmlns:a="http://schemas.openxmlformats.org/drawingml/2006/main">
            <a:off x="571500" y="6353175"/>
            <a:ext cx="11049000"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4" name="shape-4">
            <a:extLst xmlns:a="http://schemas.openxmlformats.org/drawingml/2006/main">
              <a:ext uri="{FF2B5EF4-FFF2-40B4-BE49-F238E27FC236}">
                <a16:creationId xmlns:a16="http://schemas.microsoft.com/office/drawing/2014/main" id="{8B085034-D167-4618-A058-9818E070C7AA}"/>
              </a:ext>
            </a:extLst>
          </p:cNvPr>
          <p:cNvSpPr>
            <a:spLocks xmlns:a="http://schemas.openxmlformats.org/drawingml/2006/main" noGrp="1"/>
          </p:cNvSpPr>
          <p:nvPr/>
        </p:nvSpPr>
        <p:spPr>
          <a:xfrm xmlns:a="http://schemas.openxmlformats.org/drawingml/2006/main">
            <a:off x="5715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A9BBCB"/>
                </a:solidFill>
                <a:latin typeface="Liberation Sans"/>
                <a:ea typeface="Liberation Sans"/>
                <a:cs typeface="Liberation Sans"/>
              </a:defRPr>
            </a:defPPr>
          </a:lstStyle>
          <a:p xmlns:a="http://schemas.openxmlformats.org/drawingml/2006/main">
            <a:pPr algn="l">
              <a:defRPr sz="900" b="0">
                <a:solidFill>
                  <a:srgbClr val="A9BBCB"/>
                </a:solidFill>
                <a:latin typeface="Liberation Sans"/>
                <a:ea typeface="Liberation Sans"/>
                <a:cs typeface="Liberation Sans"/>
              </a:defRPr>
            </a:pPr>
            <a:r>
              <a:rPr sz="900" b="0">
                <a:solidFill>
                  <a:srgbClr val="A9BBCB"/>
                </a:solidFill>
                <a:latin typeface="Liberation Sans"/>
                <a:ea typeface="Liberation Sans"/>
                <a:cs typeface="Liberation Sans"/>
              </a:rPr>
              <a:t>SYNTHETIC DATA · PORTFOLIO PROJECT</a:t>
            </a:r>
          </a:p>
        </p:txBody>
      </p:sp>
      <p:sp>
        <p:nvSpPr>
          <p:cNvPr id="5" name="shape-5">
            <a:extLst xmlns:a="http://schemas.openxmlformats.org/drawingml/2006/main">
              <a:ext uri="{FF2B5EF4-FFF2-40B4-BE49-F238E27FC236}">
                <a16:creationId xmlns:a16="http://schemas.microsoft.com/office/drawing/2014/main" id="{BDBC24CF-C660-4BD0-AD9C-40CE82F353E2}"/>
              </a:ext>
            </a:extLst>
          </p:cNvPr>
          <p:cNvSpPr>
            <a:spLocks xmlns:a="http://schemas.openxmlformats.org/drawingml/2006/main" noGrp="1"/>
          </p:cNvSpPr>
          <p:nvPr/>
        </p:nvSpPr>
        <p:spPr>
          <a:xfrm xmlns:a="http://schemas.openxmlformats.org/drawingml/2006/main">
            <a:off x="11144250" y="646747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9BBCB"/>
                </a:solidFill>
                <a:latin typeface="Liberation Sans"/>
                <a:ea typeface="Liberation Sans"/>
                <a:cs typeface="Liberation Sans"/>
              </a:defRPr>
            </a:defPPr>
          </a:lstStyle>
          <a:p xmlns:a="http://schemas.openxmlformats.org/drawingml/2006/main">
            <a:pPr algn="r">
              <a:defRPr sz="1275" b="0">
                <a:solidFill>
                  <a:srgbClr val="A9BBCB"/>
                </a:solidFill>
                <a:latin typeface="Liberation Sans"/>
                <a:ea typeface="Liberation Sans"/>
                <a:cs typeface="Liberation Sans"/>
              </a:defRPr>
            </a:pPr>
            <a:r>
              <a:rPr sz="1275" b="0">
                <a:solidFill>
                  <a:srgbClr val="A9BBCB"/>
                </a:solidFill>
                <a:latin typeface="Liberation Sans"/>
                <a:ea typeface="Liberation Sans"/>
                <a:cs typeface="Liberation Sans"/>
              </a:rPr>
              <a:t>01</a:t>
            </a:r>
          </a:p>
        </p:txBody>
      </p:sp>
      <p:sp>
        <p:nvSpPr>
          <p:cNvPr id="6" name="shape-6">
            <a:extLst xmlns:a="http://schemas.openxmlformats.org/drawingml/2006/main">
              <a:ext uri="{FF2B5EF4-FFF2-40B4-BE49-F238E27FC236}">
                <a16:creationId xmlns:a16="http://schemas.microsoft.com/office/drawing/2014/main" id="{A51269ED-F6E8-45BA-AFC5-0D89D837C21A}"/>
              </a:ext>
            </a:extLst>
          </p:cNvPr>
          <p:cNvSpPr>
            <a:spLocks xmlns:a="http://schemas.openxmlformats.org/drawingml/2006/main" noGrp="1"/>
          </p:cNvSpPr>
          <p:nvPr/>
        </p:nvSpPr>
        <p:spPr>
          <a:xfrm xmlns:a="http://schemas.openxmlformats.org/drawingml/2006/main">
            <a:off x="571500" y="1257300"/>
            <a:ext cx="80962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75" b="1">
                <a:solidFill>
                  <a:srgbClr val="F3F7FB"/>
                </a:solidFill>
                <a:latin typeface="Liberation Sans"/>
                <a:ea typeface="Liberation Sans"/>
                <a:cs typeface="Liberation Sans"/>
              </a:defRPr>
            </a:defPPr>
          </a:lstStyle>
          <a:p xmlns:a="http://schemas.openxmlformats.org/drawingml/2006/main">
            <a:pPr algn="l">
              <a:defRPr sz="4575" b="1">
                <a:solidFill>
                  <a:srgbClr val="F3F7FB"/>
                </a:solidFill>
                <a:latin typeface="Liberation Sans"/>
                <a:ea typeface="Liberation Sans"/>
                <a:cs typeface="Liberation Sans"/>
              </a:defRPr>
            </a:pPr>
            <a:r>
              <a:rPr sz="4575" b="1">
                <a:solidFill>
                  <a:srgbClr val="F3F7FB"/>
                </a:solidFill>
                <a:latin typeface="Liberation Sans"/>
                <a:ea typeface="Liberation Sans"/>
                <a:cs typeface="Liberation Sans"/>
              </a:rPr>
              <a:t>End-to-End</a:t>
            </a:r>
          </a:p>
          <a:p xmlns:a="http://schemas.openxmlformats.org/drawingml/2006/main">
            <a:pPr algn="l">
              <a:defRPr sz="4575" b="1">
                <a:solidFill>
                  <a:srgbClr val="F3F7FB"/>
                </a:solidFill>
                <a:latin typeface="Liberation Sans"/>
                <a:ea typeface="Liberation Sans"/>
                <a:cs typeface="Liberation Sans"/>
              </a:defRPr>
            </a:pPr>
            <a:r>
              <a:rPr sz="4575" b="1">
                <a:solidFill>
                  <a:srgbClr val="F3F7FB"/>
                </a:solidFill>
                <a:latin typeface="Liberation Sans"/>
                <a:ea typeface="Liberation Sans"/>
                <a:cs typeface="Liberation Sans"/>
              </a:rPr>
              <a:t>Last-Mile Logistics</a:t>
            </a:r>
          </a:p>
          <a:p xmlns:a="http://schemas.openxmlformats.org/drawingml/2006/main">
            <a:pPr algn="l">
              <a:defRPr sz="4575" b="1">
                <a:solidFill>
                  <a:srgbClr val="F3F7FB"/>
                </a:solidFill>
                <a:latin typeface="Liberation Sans"/>
                <a:ea typeface="Liberation Sans"/>
                <a:cs typeface="Liberation Sans"/>
              </a:defRPr>
            </a:pPr>
            <a:r>
              <a:rPr sz="4575" b="1">
                <a:solidFill>
                  <a:srgbClr val="F3F7FB"/>
                </a:solidFill>
                <a:latin typeface="Liberation Sans"/>
                <a:ea typeface="Liberation Sans"/>
                <a:cs typeface="Liberation Sans"/>
              </a:rPr>
              <a:t>Analytics Pipeline</a:t>
            </a:r>
          </a:p>
        </p:txBody>
      </p:sp>
      <p:sp>
        <p:nvSpPr>
          <p:cNvPr id="7" name="shape-7">
            <a:extLst xmlns:a="http://schemas.openxmlformats.org/drawingml/2006/main">
              <a:ext uri="{FF2B5EF4-FFF2-40B4-BE49-F238E27FC236}">
                <a16:creationId xmlns:a16="http://schemas.microsoft.com/office/drawing/2014/main" id="{EE4406DA-39F7-4CB5-9370-72BE10032361}"/>
              </a:ext>
            </a:extLst>
          </p:cNvPr>
          <p:cNvSpPr>
            <a:spLocks xmlns:a="http://schemas.openxmlformats.org/drawingml/2006/main" noGrp="1"/>
          </p:cNvSpPr>
          <p:nvPr/>
        </p:nvSpPr>
        <p:spPr>
          <a:xfrm xmlns:a="http://schemas.openxmlformats.org/drawingml/2006/main">
            <a:off x="571500" y="3857625"/>
            <a:ext cx="7810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A9BBCB"/>
                </a:solidFill>
                <a:latin typeface="Liberation Sans"/>
                <a:ea typeface="Liberation Sans"/>
                <a:cs typeface="Liberation Sans"/>
              </a:defRPr>
            </a:defPPr>
          </a:lstStyle>
          <a:p xmlns:a="http://schemas.openxmlformats.org/drawingml/2006/main">
            <a:pPr algn="l">
              <a:defRPr sz="2100" b="0">
                <a:solidFill>
                  <a:srgbClr val="A9BBCB"/>
                </a:solidFill>
                <a:latin typeface="Liberation Sans"/>
                <a:ea typeface="Liberation Sans"/>
                <a:cs typeface="Liberation Sans"/>
              </a:defRPr>
            </a:pPr>
            <a:r>
              <a:rPr sz="2100" b="0">
                <a:solidFill>
                  <a:srgbClr val="A9BBCB"/>
                </a:solidFill>
                <a:latin typeface="Liberation Sans"/>
                <a:ea typeface="Liberation Sans"/>
                <a:cs typeface="Liberation Sans"/>
              </a:rPr>
              <a:t>From Raw Logistics Data to Automated</a:t>
            </a:r>
          </a:p>
          <a:p xmlns:a="http://schemas.openxmlformats.org/drawingml/2006/main">
            <a:pPr algn="l">
              <a:defRPr sz="2100" b="0">
                <a:solidFill>
                  <a:srgbClr val="A9BBCB"/>
                </a:solidFill>
                <a:latin typeface="Liberation Sans"/>
                <a:ea typeface="Liberation Sans"/>
                <a:cs typeface="Liberation Sans"/>
              </a:defRPr>
            </a:pPr>
            <a:r>
              <a:rPr sz="2100" b="0">
                <a:solidFill>
                  <a:srgbClr val="A9BBCB"/>
                </a:solidFill>
                <a:latin typeface="Liberation Sans"/>
                <a:ea typeface="Liberation Sans"/>
                <a:cs typeface="Liberation Sans"/>
              </a:rPr>
              <a:t>Analytics &amp; Business Intelligence</a:t>
            </a:r>
          </a:p>
        </p:txBody>
      </p:sp>
      <p:sp>
        <p:nvSpPr>
          <p:cNvPr id="8" name="shape-8">
            <a:extLst xmlns:a="http://schemas.openxmlformats.org/drawingml/2006/main">
              <a:ext uri="{FF2B5EF4-FFF2-40B4-BE49-F238E27FC236}">
                <a16:creationId xmlns:a16="http://schemas.microsoft.com/office/drawing/2014/main" id="{CF1A6F11-14F4-4869-9567-D4AE70789C59}"/>
              </a:ext>
            </a:extLst>
          </p:cNvPr>
          <p:cNvSpPr>
            <a:spLocks xmlns:a="http://schemas.openxmlformats.org/drawingml/2006/main" noGrp="1"/>
          </p:cNvSpPr>
          <p:nvPr/>
        </p:nvSpPr>
        <p:spPr>
          <a:xfrm xmlns:a="http://schemas.openxmlformats.org/drawingml/2006/main">
            <a:off x="9001125" y="1571625"/>
            <a:ext cx="2619375" cy="942975"/>
          </a:xfrm>
          <a:prstGeom xmlns:a="http://schemas.openxmlformats.org/drawingml/2006/main" prst="roundRect">
            <a:avLst>
              <a:gd name="adj" fmla="val 12121"/>
            </a:avLst>
          </a:prstGeom>
          <a:solidFill xmlns:a="http://schemas.openxmlformats.org/drawingml/2006/main">
            <a:srgbClr val="122536"/>
          </a:solidFill>
          <a:ln xmlns:a="http://schemas.openxmlformats.org/drawingml/2006/main" w="9525">
            <a:solidFill>
              <a:srgbClr val="2A4052"/>
            </a:solidFill>
            <a:prstDash val="solid"/>
          </a:ln>
        </p:spPr>
      </p:sp>
      <p:sp>
        <p:nvSpPr>
          <p:cNvPr id="9" name="shape-9">
            <a:extLst xmlns:a="http://schemas.openxmlformats.org/drawingml/2006/main">
              <a:ext uri="{FF2B5EF4-FFF2-40B4-BE49-F238E27FC236}">
                <a16:creationId xmlns:a16="http://schemas.microsoft.com/office/drawing/2014/main" id="{22991A0B-46C5-4A22-AFCA-26617A5B65F0}"/>
              </a:ext>
            </a:extLst>
          </p:cNvPr>
          <p:cNvSpPr>
            <a:spLocks xmlns:a="http://schemas.openxmlformats.org/drawingml/2006/main" noGrp="1"/>
          </p:cNvSpPr>
          <p:nvPr/>
        </p:nvSpPr>
        <p:spPr>
          <a:xfrm xmlns:a="http://schemas.openxmlformats.org/drawingml/2006/main">
            <a:off x="9191625" y="1743075"/>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48DCE7"/>
                </a:solidFill>
                <a:latin typeface="Liberation Sans"/>
                <a:ea typeface="Liberation Sans"/>
                <a:cs typeface="Liberation Sans"/>
              </a:defRPr>
            </a:defPPr>
          </a:lstStyle>
          <a:p xmlns:a="http://schemas.openxmlformats.org/drawingml/2006/main">
            <a:pPr algn="l">
              <a:defRPr sz="1800" b="1">
                <a:solidFill>
                  <a:srgbClr val="48DCE7"/>
                </a:solidFill>
                <a:latin typeface="Liberation Sans"/>
                <a:ea typeface="Liberation Sans"/>
                <a:cs typeface="Liberation Sans"/>
              </a:defRPr>
            </a:pPr>
            <a:r>
              <a:rPr sz="1800" b="1">
                <a:solidFill>
                  <a:srgbClr val="48DCE7"/>
                </a:solidFill>
                <a:latin typeface="Liberation Sans"/>
                <a:ea typeface="Liberation Sans"/>
                <a:cs typeface="Liberation Sans"/>
              </a:rPr>
              <a:t>Source data</a:t>
            </a:r>
          </a:p>
        </p:txBody>
      </p:sp>
      <p:sp>
        <p:nvSpPr>
          <p:cNvPr id="10" name="shape-10">
            <a:extLst xmlns:a="http://schemas.openxmlformats.org/drawingml/2006/main">
              <a:ext uri="{FF2B5EF4-FFF2-40B4-BE49-F238E27FC236}">
                <a16:creationId xmlns:a16="http://schemas.microsoft.com/office/drawing/2014/main" id="{758E7007-5B8F-44B0-8417-7B67C8656E6E}"/>
              </a:ext>
            </a:extLst>
          </p:cNvPr>
          <p:cNvSpPr>
            <a:spLocks xmlns:a="http://schemas.openxmlformats.org/drawingml/2006/main" noGrp="1"/>
          </p:cNvSpPr>
          <p:nvPr/>
        </p:nvSpPr>
        <p:spPr>
          <a:xfrm xmlns:a="http://schemas.openxmlformats.org/drawingml/2006/main">
            <a:off x="9191625" y="2114550"/>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A9BBCB"/>
                </a:solidFill>
                <a:latin typeface="Liberation Sans"/>
                <a:ea typeface="Liberation Sans"/>
                <a:cs typeface="Liberation Sans"/>
              </a:defRPr>
            </a:defPPr>
          </a:lstStyle>
          <a:p xmlns:a="http://schemas.openxmlformats.org/drawingml/2006/main">
            <a:pPr algn="l">
              <a:defRPr sz="1500" b="0">
                <a:solidFill>
                  <a:srgbClr val="A9BBCB"/>
                </a:solidFill>
                <a:latin typeface="Liberation Sans"/>
                <a:ea typeface="Liberation Sans"/>
                <a:cs typeface="Liberation Sans"/>
              </a:defRPr>
            </a:pPr>
            <a:r>
              <a:rPr sz="1500" b="0">
                <a:solidFill>
                  <a:srgbClr val="A9BBCB"/>
                </a:solidFill>
                <a:latin typeface="Liberation Sans"/>
                <a:ea typeface="Liberation Sans"/>
                <a:cs typeface="Liberation Sans"/>
              </a:rPr>
              <a:t>7 operational CSVs</a:t>
            </a:r>
          </a:p>
        </p:txBody>
      </p:sp>
      <p:sp>
        <p:nvSpPr>
          <p:cNvPr id="11" name="shape-11">
            <a:extLst xmlns:a="http://schemas.openxmlformats.org/drawingml/2006/main">
              <a:ext uri="{FF2B5EF4-FFF2-40B4-BE49-F238E27FC236}">
                <a16:creationId xmlns:a16="http://schemas.microsoft.com/office/drawing/2014/main" id="{112E0FFF-A425-44C4-B81E-E5858F329DB0}"/>
              </a:ext>
            </a:extLst>
          </p:cNvPr>
          <p:cNvSpPr>
            <a:spLocks xmlns:a="http://schemas.openxmlformats.org/drawingml/2006/main" noGrp="1"/>
          </p:cNvSpPr>
          <p:nvPr/>
        </p:nvSpPr>
        <p:spPr>
          <a:xfrm xmlns:a="http://schemas.openxmlformats.org/drawingml/2006/main">
            <a:off x="9001125" y="2819400"/>
            <a:ext cx="2619375" cy="942975"/>
          </a:xfrm>
          <a:prstGeom xmlns:a="http://schemas.openxmlformats.org/drawingml/2006/main" prst="roundRect">
            <a:avLst>
              <a:gd name="adj" fmla="val 12121"/>
            </a:avLst>
          </a:prstGeom>
          <a:solidFill xmlns:a="http://schemas.openxmlformats.org/drawingml/2006/main">
            <a:srgbClr val="122536"/>
          </a:solidFill>
          <a:ln xmlns:a="http://schemas.openxmlformats.org/drawingml/2006/main" w="9525">
            <a:solidFill>
              <a:srgbClr val="2A4052"/>
            </a:solidFill>
            <a:prstDash val="solid"/>
          </a:ln>
        </p:spPr>
      </p:sp>
      <p:sp>
        <p:nvSpPr>
          <p:cNvPr id="12" name="shape-12">
            <a:extLst xmlns:a="http://schemas.openxmlformats.org/drawingml/2006/main">
              <a:ext uri="{FF2B5EF4-FFF2-40B4-BE49-F238E27FC236}">
                <a16:creationId xmlns:a16="http://schemas.microsoft.com/office/drawing/2014/main" id="{29B04F1E-619E-4210-A43F-E05B506C1528}"/>
              </a:ext>
            </a:extLst>
          </p:cNvPr>
          <p:cNvSpPr>
            <a:spLocks xmlns:a="http://schemas.openxmlformats.org/drawingml/2006/main" noGrp="1"/>
          </p:cNvSpPr>
          <p:nvPr/>
        </p:nvSpPr>
        <p:spPr>
          <a:xfrm xmlns:a="http://schemas.openxmlformats.org/drawingml/2006/main">
            <a:off x="9191625" y="29908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48DCE7"/>
                </a:solidFill>
                <a:latin typeface="Liberation Sans"/>
                <a:ea typeface="Liberation Sans"/>
                <a:cs typeface="Liberation Sans"/>
              </a:defRPr>
            </a:defPPr>
          </a:lstStyle>
          <a:p xmlns:a="http://schemas.openxmlformats.org/drawingml/2006/main">
            <a:pPr algn="l">
              <a:defRPr sz="1800" b="1">
                <a:solidFill>
                  <a:srgbClr val="48DCE7"/>
                </a:solidFill>
                <a:latin typeface="Liberation Sans"/>
                <a:ea typeface="Liberation Sans"/>
                <a:cs typeface="Liberation Sans"/>
              </a:defRPr>
            </a:pPr>
            <a:r>
              <a:rPr sz="1800" b="1">
                <a:solidFill>
                  <a:srgbClr val="48DCE7"/>
                </a:solidFill>
                <a:latin typeface="Liberation Sans"/>
                <a:ea typeface="Liberation Sans"/>
                <a:cs typeface="Liberation Sans"/>
              </a:rPr>
              <a:t>Analytics models</a:t>
            </a:r>
          </a:p>
        </p:txBody>
      </p:sp>
      <p:sp>
        <p:nvSpPr>
          <p:cNvPr id="13" name="shape-13">
            <a:extLst xmlns:a="http://schemas.openxmlformats.org/drawingml/2006/main">
              <a:ext uri="{FF2B5EF4-FFF2-40B4-BE49-F238E27FC236}">
                <a16:creationId xmlns:a16="http://schemas.microsoft.com/office/drawing/2014/main" id="{F856DCE8-7A18-4617-8559-D811DE714BF9}"/>
              </a:ext>
            </a:extLst>
          </p:cNvPr>
          <p:cNvSpPr>
            <a:spLocks xmlns:a="http://schemas.openxmlformats.org/drawingml/2006/main" noGrp="1"/>
          </p:cNvSpPr>
          <p:nvPr/>
        </p:nvSpPr>
        <p:spPr>
          <a:xfrm xmlns:a="http://schemas.openxmlformats.org/drawingml/2006/main">
            <a:off x="9191625" y="336232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A9BBCB"/>
                </a:solidFill>
                <a:latin typeface="Liberation Sans"/>
                <a:ea typeface="Liberation Sans"/>
                <a:cs typeface="Liberation Sans"/>
              </a:defRPr>
            </a:defPPr>
          </a:lstStyle>
          <a:p xmlns:a="http://schemas.openxmlformats.org/drawingml/2006/main">
            <a:pPr algn="l">
              <a:defRPr sz="1500" b="0">
                <a:solidFill>
                  <a:srgbClr val="A9BBCB"/>
                </a:solidFill>
                <a:latin typeface="Liberation Sans"/>
                <a:ea typeface="Liberation Sans"/>
                <a:cs typeface="Liberation Sans"/>
              </a:defRPr>
            </a:pPr>
            <a:r>
              <a:rPr sz="1500" b="0">
                <a:solidFill>
                  <a:srgbClr val="A9BBCB"/>
                </a:solidFill>
                <a:latin typeface="Liberation Sans"/>
                <a:ea typeface="Liberation Sans"/>
                <a:cs typeface="Liberation Sans"/>
              </a:rPr>
              <a:t>PostgreSQL + dbt</a:t>
            </a:r>
          </a:p>
        </p:txBody>
      </p:sp>
      <p:sp>
        <p:nvSpPr>
          <p:cNvPr id="14" name="shape-14">
            <a:extLst xmlns:a="http://schemas.openxmlformats.org/drawingml/2006/main">
              <a:ext uri="{FF2B5EF4-FFF2-40B4-BE49-F238E27FC236}">
                <a16:creationId xmlns:a16="http://schemas.microsoft.com/office/drawing/2014/main" id="{A9FB6E53-E081-4B6C-84BE-15BD0AE755E9}"/>
              </a:ext>
            </a:extLst>
          </p:cNvPr>
          <p:cNvSpPr>
            <a:spLocks xmlns:a="http://schemas.openxmlformats.org/drawingml/2006/main" noGrp="1"/>
          </p:cNvSpPr>
          <p:nvPr/>
        </p:nvSpPr>
        <p:spPr>
          <a:xfrm xmlns:a="http://schemas.openxmlformats.org/drawingml/2006/main">
            <a:off x="9001125" y="4067175"/>
            <a:ext cx="2619375" cy="942975"/>
          </a:xfrm>
          <a:prstGeom xmlns:a="http://schemas.openxmlformats.org/drawingml/2006/main" prst="roundRect">
            <a:avLst>
              <a:gd name="adj" fmla="val 12121"/>
            </a:avLst>
          </a:prstGeom>
          <a:solidFill xmlns:a="http://schemas.openxmlformats.org/drawingml/2006/main">
            <a:srgbClr val="122536"/>
          </a:solidFill>
          <a:ln xmlns:a="http://schemas.openxmlformats.org/drawingml/2006/main" w="9525">
            <a:solidFill>
              <a:srgbClr val="2A4052"/>
            </a:solidFill>
            <a:prstDash val="solid"/>
          </a:ln>
        </p:spPr>
      </p:sp>
      <p:sp>
        <p:nvSpPr>
          <p:cNvPr id="15" name="shape-15">
            <a:extLst xmlns:a="http://schemas.openxmlformats.org/drawingml/2006/main">
              <a:ext uri="{FF2B5EF4-FFF2-40B4-BE49-F238E27FC236}">
                <a16:creationId xmlns:a16="http://schemas.microsoft.com/office/drawing/2014/main" id="{F48E2D9C-5030-46AB-9C03-7B2406637F01}"/>
              </a:ext>
            </a:extLst>
          </p:cNvPr>
          <p:cNvSpPr>
            <a:spLocks xmlns:a="http://schemas.openxmlformats.org/drawingml/2006/main" noGrp="1"/>
          </p:cNvSpPr>
          <p:nvPr/>
        </p:nvSpPr>
        <p:spPr>
          <a:xfrm xmlns:a="http://schemas.openxmlformats.org/drawingml/2006/main">
            <a:off x="9191625" y="4238625"/>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39DBB0"/>
                </a:solidFill>
                <a:latin typeface="Liberation Sans"/>
                <a:ea typeface="Liberation Sans"/>
                <a:cs typeface="Liberation Sans"/>
              </a:defRPr>
            </a:defPPr>
          </a:lstStyle>
          <a:p xmlns:a="http://schemas.openxmlformats.org/drawingml/2006/main">
            <a:pPr algn="l">
              <a:defRPr sz="1575" b="1">
                <a:solidFill>
                  <a:srgbClr val="39DBB0"/>
                </a:solidFill>
                <a:latin typeface="Liberation Sans"/>
                <a:ea typeface="Liberation Sans"/>
                <a:cs typeface="Liberation Sans"/>
              </a:defRPr>
            </a:pPr>
            <a:r>
              <a:rPr sz="1575" b="1">
                <a:solidFill>
                  <a:srgbClr val="39DBB0"/>
                </a:solidFill>
                <a:latin typeface="Liberation Sans"/>
                <a:ea typeface="Liberation Sans"/>
                <a:cs typeface="Liberation Sans"/>
              </a:rPr>
              <a:t>Business intelligence</a:t>
            </a:r>
          </a:p>
        </p:txBody>
      </p:sp>
      <p:sp>
        <p:nvSpPr>
          <p:cNvPr id="16" name="shape-16">
            <a:extLst xmlns:a="http://schemas.openxmlformats.org/drawingml/2006/main">
              <a:ext uri="{FF2B5EF4-FFF2-40B4-BE49-F238E27FC236}">
                <a16:creationId xmlns:a16="http://schemas.microsoft.com/office/drawing/2014/main" id="{2167E0DD-9EC9-4AC2-B55A-EDC7812BA0CF}"/>
              </a:ext>
            </a:extLst>
          </p:cNvPr>
          <p:cNvSpPr>
            <a:spLocks xmlns:a="http://schemas.openxmlformats.org/drawingml/2006/main" noGrp="1"/>
          </p:cNvSpPr>
          <p:nvPr/>
        </p:nvSpPr>
        <p:spPr>
          <a:xfrm xmlns:a="http://schemas.openxmlformats.org/drawingml/2006/main">
            <a:off x="9191625" y="4610100"/>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A9BBCB"/>
                </a:solidFill>
                <a:latin typeface="Liberation Sans"/>
                <a:ea typeface="Liberation Sans"/>
                <a:cs typeface="Liberation Sans"/>
              </a:defRPr>
            </a:defPPr>
          </a:lstStyle>
          <a:p xmlns:a="http://schemas.openxmlformats.org/drawingml/2006/main">
            <a:pPr algn="l">
              <a:defRPr sz="1500" b="0">
                <a:solidFill>
                  <a:srgbClr val="A9BBCB"/>
                </a:solidFill>
                <a:latin typeface="Liberation Sans"/>
                <a:ea typeface="Liberation Sans"/>
                <a:cs typeface="Liberation Sans"/>
              </a:defRPr>
            </a:pPr>
            <a:r>
              <a:rPr sz="1500" b="0">
                <a:solidFill>
                  <a:srgbClr val="A9BBCB"/>
                </a:solidFill>
                <a:latin typeface="Liberation Sans"/>
                <a:ea typeface="Liberation Sans"/>
                <a:cs typeface="Liberation Sans"/>
              </a:rPr>
              <a:t>Power BI</a:t>
            </a:r>
          </a:p>
        </p:txBody>
      </p:sp>
      <p:sp>
        <p:nvSpPr>
          <p:cNvPr id="19" name="line-17">
            <a:extLst xmlns:a="http://schemas.openxmlformats.org/drawingml/2006/main">
              <a:ext uri="{FF2B5EF4-FFF2-40B4-BE49-F238E27FC236}">
                <a16:creationId xmlns:a16="http://schemas.microsoft.com/office/drawing/2014/main" id="{661C4596-0503-47BD-9F2A-288B12179609}"/>
              </a:ext>
            </a:extLst>
          </p:cNvPr>
          <p:cNvSpPr>
            <a:spLocks xmlns:a="http://schemas.openxmlformats.org/drawingml/2006/main" noGrp="1"/>
          </p:cNvSpPr>
          <p:nvPr/>
        </p:nvSpPr>
        <p:spPr>
          <a:xfrm xmlns:a="http://schemas.openxmlformats.org/drawingml/2006/main">
            <a:off x="571500" y="5000625"/>
            <a:ext cx="11049000"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20" name="shape-18">
            <a:extLst xmlns:a="http://schemas.openxmlformats.org/drawingml/2006/main">
              <a:ext uri="{FF2B5EF4-FFF2-40B4-BE49-F238E27FC236}">
                <a16:creationId xmlns:a16="http://schemas.microsoft.com/office/drawing/2014/main" id="{13AE9B0D-7353-4EDD-9B42-7B989648F95A}"/>
              </a:ext>
            </a:extLst>
          </p:cNvPr>
          <p:cNvSpPr>
            <a:spLocks xmlns:a="http://schemas.openxmlformats.org/drawingml/2006/main" noGrp="1"/>
          </p:cNvSpPr>
          <p:nvPr/>
        </p:nvSpPr>
        <p:spPr>
          <a:xfrm xmlns:a="http://schemas.openxmlformats.org/drawingml/2006/main">
            <a:off x="571500" y="521970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48DCE7"/>
                </a:solidFill>
                <a:latin typeface="Liberation Sans"/>
                <a:ea typeface="Liberation Sans"/>
                <a:cs typeface="Liberation Sans"/>
              </a:defRPr>
            </a:defPPr>
          </a:lstStyle>
          <a:p xmlns:a="http://schemas.openxmlformats.org/drawingml/2006/main">
            <a:pPr algn="l">
              <a:defRPr sz="1800" b="1">
                <a:solidFill>
                  <a:srgbClr val="48DCE7"/>
                </a:solidFill>
                <a:latin typeface="Liberation Sans"/>
                <a:ea typeface="Liberation Sans"/>
                <a:cs typeface="Liberation Sans"/>
              </a:defRPr>
            </a:pPr>
            <a:r>
              <a:rPr sz="1800" b="1">
                <a:solidFill>
                  <a:srgbClr val="48DCE7"/>
                </a:solidFill>
                <a:latin typeface="Liberation Sans"/>
                <a:ea typeface="Liberation Sans"/>
                <a:cs typeface="Liberation Sans"/>
              </a:rPr>
              <a:t>Python  |  PostgreSQL  |  dbt  |  Apache Airflow  |  Power BI</a:t>
            </a:r>
          </a:p>
        </p:txBody>
      </p:sp>
      <p:sp>
        <p:nvSpPr>
          <p:cNvPr id="21" name="shape-19">
            <a:extLst xmlns:a="http://schemas.openxmlformats.org/drawingml/2006/main">
              <a:ext uri="{FF2B5EF4-FFF2-40B4-BE49-F238E27FC236}">
                <a16:creationId xmlns:a16="http://schemas.microsoft.com/office/drawing/2014/main" id="{5128A27C-20A5-44A4-BA4D-8D0F36DC1632}"/>
              </a:ext>
            </a:extLst>
          </p:cNvPr>
          <p:cNvSpPr>
            <a:spLocks xmlns:a="http://schemas.openxmlformats.org/drawingml/2006/main" noGrp="1"/>
          </p:cNvSpPr>
          <p:nvPr/>
        </p:nvSpPr>
        <p:spPr>
          <a:xfrm xmlns:a="http://schemas.openxmlformats.org/drawingml/2006/main">
            <a:off x="571500" y="5810250"/>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3F7FB"/>
                </a:solidFill>
                <a:latin typeface="Liberation Sans"/>
                <a:ea typeface="Liberation Sans"/>
                <a:cs typeface="Liberation Sans"/>
              </a:defRPr>
            </a:defPPr>
          </a:lstStyle>
          <a:p xmlns:a="http://schemas.openxmlformats.org/drawingml/2006/main">
            <a:pPr algn="l">
              <a:defRPr sz="1950" b="1">
                <a:solidFill>
                  <a:srgbClr val="F3F7FB"/>
                </a:solidFill>
                <a:latin typeface="Liberation Sans"/>
                <a:ea typeface="Liberation Sans"/>
                <a:cs typeface="Liberation Sans"/>
              </a:defRPr>
            </a:pPr>
            <a:r>
              <a:rPr sz="1950" b="1">
                <a:solidFill>
                  <a:srgbClr val="F3F7FB"/>
                </a:solidFill>
                <a:latin typeface="Liberation Sans"/>
                <a:ea typeface="Liberation Sans"/>
                <a:cs typeface="Liberation Sans"/>
              </a:rPr>
              <a:t>Md. Maidul Hassan Shanto</a:t>
            </a:r>
          </a:p>
        </p:txBody>
      </p:sp>
    </p:spTree>
    <p:extLst>
      <p:ext uri="{BB962C8B-B14F-4D97-AF65-F5344CB8AC3E}">
        <p14:creationId xmlns:p14="http://schemas.microsoft.com/office/powerpoint/2010/main" val="386798938"/>
      </p:ext>
    </p:extLst>
  </p:cSld>
</p:sld>
</file>

<file path=ppt/slides/slide2.xml><?xml version="1.0" encoding="utf-8"?>
<p:sld xmlns:p="http://schemas.openxmlformats.org/presentationml/2006/main">
  <p:cSld>
    <p:bg>
      <p:bgPr>
        <a:solidFill xmlns:a="http://schemas.openxmlformats.org/drawingml/2006/main">
          <a:srgbClr val="091522"/>
        </a:solidFill>
      </p:bgPr>
    </p:bg>
    <p:spTree>
      <p:nvGrpSpPr>
        <p:cNvPr id="1" name=""/>
        <p:cNvGrpSpPr/>
        <p:nvPr/>
      </p:nvGrpSpPr>
      <p:grpSpPr>
        <a:xfrm xmlns:a="http://schemas.openxmlformats.org/drawingml/2006/main"/>
      </p:grpSpPr>
      <p:sp>
        <p:nvSpPr>
          <p:cNvPr id="36" name="shape-20">
            <a:extLst xmlns:a="http://schemas.openxmlformats.org/drawingml/2006/main">
              <a:ext uri="{FF2B5EF4-FFF2-40B4-BE49-F238E27FC236}">
                <a16:creationId xmlns:a16="http://schemas.microsoft.com/office/drawing/2014/main" id="{31F10E21-832B-4D11-9AE4-49B07540FCFB}"/>
              </a:ext>
            </a:extLst>
          </p:cNvPr>
          <p:cNvSpPr>
            <a:spLocks xmlns:a="http://schemas.openxmlformats.org/drawingml/2006/main" noGrp="1"/>
          </p:cNvSpPr>
          <p:nvPr/>
        </p:nvSpPr>
        <p:spPr>
          <a:xfrm xmlns:a="http://schemas.openxmlformats.org/drawingml/2006/main">
            <a:off x="571500" y="333375"/>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48DCE7"/>
                </a:solidFill>
                <a:latin typeface="Liberation Sans"/>
                <a:ea typeface="Liberation Sans"/>
                <a:cs typeface="Liberation Sans"/>
              </a:defRPr>
            </a:defPPr>
          </a:lstStyle>
          <a:p xmlns:a="http://schemas.openxmlformats.org/drawingml/2006/main">
            <a:pPr algn="l">
              <a:defRPr sz="1125" b="1">
                <a:solidFill>
                  <a:srgbClr val="48DCE7"/>
                </a:solidFill>
                <a:latin typeface="Liberation Sans"/>
                <a:ea typeface="Liberation Sans"/>
                <a:cs typeface="Liberation Sans"/>
              </a:defRPr>
            </a:pPr>
            <a:r>
              <a:rPr sz="1125" b="1">
                <a:solidFill>
                  <a:srgbClr val="48DCE7"/>
                </a:solidFill>
                <a:latin typeface="Liberation Sans"/>
                <a:ea typeface="Liberation Sans"/>
                <a:cs typeface="Liberation Sans"/>
              </a:rPr>
              <a:t>BUSINESS PROBLEM</a:t>
            </a:r>
          </a:p>
        </p:txBody>
      </p:sp>
      <p:sp>
        <p:nvSpPr>
          <p:cNvPr id="2" name="shape-21">
            <a:extLst xmlns:a="http://schemas.openxmlformats.org/drawingml/2006/main">
              <a:ext uri="{FF2B5EF4-FFF2-40B4-BE49-F238E27FC236}">
                <a16:creationId xmlns:a16="http://schemas.microsoft.com/office/drawing/2014/main" id="{0DB18A7A-1243-4566-8248-7006DD5534F5}"/>
              </a:ext>
            </a:extLst>
          </p:cNvPr>
          <p:cNvSpPr>
            <a:spLocks xmlns:a="http://schemas.openxmlformats.org/drawingml/2006/main" noGrp="1"/>
          </p:cNvSpPr>
          <p:nvPr/>
        </p:nvSpPr>
        <p:spPr>
          <a:xfrm xmlns:a="http://schemas.openxmlformats.org/drawingml/2006/main">
            <a:off x="571500" y="704850"/>
            <a:ext cx="110490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3F7FB"/>
                </a:solidFill>
                <a:latin typeface="Liberation Sans"/>
                <a:ea typeface="Liberation Sans"/>
                <a:cs typeface="Liberation Sans"/>
              </a:defRPr>
            </a:defPPr>
          </a:lstStyle>
          <a:p xmlns:a="http://schemas.openxmlformats.org/drawingml/2006/main">
            <a:pPr algn="l">
              <a:defRPr sz="3225" b="1">
                <a:solidFill>
                  <a:srgbClr val="F3F7FB"/>
                </a:solidFill>
                <a:latin typeface="Liberation Sans"/>
                <a:ea typeface="Liberation Sans"/>
                <a:cs typeface="Liberation Sans"/>
              </a:defRPr>
            </a:pPr>
            <a:r>
              <a:rPr sz="3225" b="1">
                <a:solidFill>
                  <a:srgbClr val="F3F7FB"/>
                </a:solidFill>
                <a:latin typeface="Liberation Sans"/>
                <a:ea typeface="Liberation Sans"/>
                <a:cs typeface="Liberation Sans"/>
              </a:rPr>
              <a:t>The Business Challenge</a:t>
            </a:r>
          </a:p>
        </p:txBody>
      </p:sp>
      <p:sp>
        <p:nvSpPr>
          <p:cNvPr id="3" name="line-22">
            <a:extLst xmlns:a="http://schemas.openxmlformats.org/drawingml/2006/main">
              <a:ext uri="{FF2B5EF4-FFF2-40B4-BE49-F238E27FC236}">
                <a16:creationId xmlns:a16="http://schemas.microsoft.com/office/drawing/2014/main" id="{AC0BA941-2828-49C6-9AA7-3F335B7E72B3}"/>
              </a:ext>
            </a:extLst>
          </p:cNvPr>
          <p:cNvSpPr>
            <a:spLocks xmlns:a="http://schemas.openxmlformats.org/drawingml/2006/main" noGrp="1"/>
          </p:cNvSpPr>
          <p:nvPr/>
        </p:nvSpPr>
        <p:spPr>
          <a:xfrm xmlns:a="http://schemas.openxmlformats.org/drawingml/2006/main">
            <a:off x="571500" y="6353175"/>
            <a:ext cx="11049000"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4" name="shape-23">
            <a:extLst xmlns:a="http://schemas.openxmlformats.org/drawingml/2006/main">
              <a:ext uri="{FF2B5EF4-FFF2-40B4-BE49-F238E27FC236}">
                <a16:creationId xmlns:a16="http://schemas.microsoft.com/office/drawing/2014/main" id="{2D6BA0D9-2419-439B-A61D-99970583F1A0}"/>
              </a:ext>
            </a:extLst>
          </p:cNvPr>
          <p:cNvSpPr>
            <a:spLocks xmlns:a="http://schemas.openxmlformats.org/drawingml/2006/main" noGrp="1"/>
          </p:cNvSpPr>
          <p:nvPr/>
        </p:nvSpPr>
        <p:spPr>
          <a:xfrm xmlns:a="http://schemas.openxmlformats.org/drawingml/2006/main">
            <a:off x="5715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A9BBCB"/>
                </a:solidFill>
                <a:latin typeface="Liberation Sans"/>
                <a:ea typeface="Liberation Sans"/>
                <a:cs typeface="Liberation Sans"/>
              </a:defRPr>
            </a:defPPr>
          </a:lstStyle>
          <a:p xmlns:a="http://schemas.openxmlformats.org/drawingml/2006/main">
            <a:pPr algn="l">
              <a:defRPr sz="900" b="0">
                <a:solidFill>
                  <a:srgbClr val="A9BBCB"/>
                </a:solidFill>
                <a:latin typeface="Liberation Sans"/>
                <a:ea typeface="Liberation Sans"/>
                <a:cs typeface="Liberation Sans"/>
              </a:defRPr>
            </a:pPr>
            <a:r>
              <a:rPr sz="900" b="0">
                <a:solidFill>
                  <a:srgbClr val="A9BBCB"/>
                </a:solidFill>
                <a:latin typeface="Liberation Sans"/>
                <a:ea typeface="Liberation Sans"/>
                <a:cs typeface="Liberation Sans"/>
              </a:rPr>
              <a:t>SYNTHETIC DATA · PORTFOLIO PROJECT</a:t>
            </a:r>
          </a:p>
        </p:txBody>
      </p:sp>
      <p:sp>
        <p:nvSpPr>
          <p:cNvPr id="5" name="shape-24">
            <a:extLst xmlns:a="http://schemas.openxmlformats.org/drawingml/2006/main">
              <a:ext uri="{FF2B5EF4-FFF2-40B4-BE49-F238E27FC236}">
                <a16:creationId xmlns:a16="http://schemas.microsoft.com/office/drawing/2014/main" id="{956EC3A3-67A7-4A98-B01F-578F6EAA644F}"/>
              </a:ext>
            </a:extLst>
          </p:cNvPr>
          <p:cNvSpPr>
            <a:spLocks xmlns:a="http://schemas.openxmlformats.org/drawingml/2006/main" noGrp="1"/>
          </p:cNvSpPr>
          <p:nvPr/>
        </p:nvSpPr>
        <p:spPr>
          <a:xfrm xmlns:a="http://schemas.openxmlformats.org/drawingml/2006/main">
            <a:off x="11144250" y="646747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9BBCB"/>
                </a:solidFill>
                <a:latin typeface="Liberation Sans"/>
                <a:ea typeface="Liberation Sans"/>
                <a:cs typeface="Liberation Sans"/>
              </a:defRPr>
            </a:defPPr>
          </a:lstStyle>
          <a:p xmlns:a="http://schemas.openxmlformats.org/drawingml/2006/main">
            <a:pPr algn="r">
              <a:defRPr sz="1275" b="0">
                <a:solidFill>
                  <a:srgbClr val="A9BBCB"/>
                </a:solidFill>
                <a:latin typeface="Liberation Sans"/>
                <a:ea typeface="Liberation Sans"/>
                <a:cs typeface="Liberation Sans"/>
              </a:defRPr>
            </a:pPr>
            <a:r>
              <a:rPr sz="1275" b="0">
                <a:solidFill>
                  <a:srgbClr val="A9BBCB"/>
                </a:solidFill>
                <a:latin typeface="Liberation Sans"/>
                <a:ea typeface="Liberation Sans"/>
                <a:cs typeface="Liberation Sans"/>
              </a:rPr>
              <a:t>02</a:t>
            </a:r>
          </a:p>
        </p:txBody>
      </p:sp>
      <p:sp>
        <p:nvSpPr>
          <p:cNvPr id="6" name="shape-25">
            <a:extLst xmlns:a="http://schemas.openxmlformats.org/drawingml/2006/main">
              <a:ext uri="{FF2B5EF4-FFF2-40B4-BE49-F238E27FC236}">
                <a16:creationId xmlns:a16="http://schemas.microsoft.com/office/drawing/2014/main" id="{1B6B646B-2EAF-42D6-9B3C-6150713BE931}"/>
              </a:ext>
            </a:extLst>
          </p:cNvPr>
          <p:cNvSpPr>
            <a:spLocks xmlns:a="http://schemas.openxmlformats.org/drawingml/2006/main" noGrp="1"/>
          </p:cNvSpPr>
          <p:nvPr/>
        </p:nvSpPr>
        <p:spPr>
          <a:xfrm xmlns:a="http://schemas.openxmlformats.org/drawingml/2006/main">
            <a:off x="571500" y="1781175"/>
            <a:ext cx="4191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3F7FB"/>
                </a:solidFill>
                <a:latin typeface="Liberation Sans"/>
                <a:ea typeface="Liberation Sans"/>
                <a:cs typeface="Liberation Sans"/>
              </a:defRPr>
            </a:defPPr>
          </a:lstStyle>
          <a:p xmlns:a="http://schemas.openxmlformats.org/drawingml/2006/main">
            <a:pPr algn="l">
              <a:defRPr sz="2550" b="1">
                <a:solidFill>
                  <a:srgbClr val="F3F7FB"/>
                </a:solidFill>
                <a:latin typeface="Liberation Sans"/>
                <a:ea typeface="Liberation Sans"/>
                <a:cs typeface="Liberation Sans"/>
              </a:defRPr>
            </a:pPr>
            <a:r>
              <a:rPr sz="2550" b="1">
                <a:solidFill>
                  <a:srgbClr val="F3F7FB"/>
                </a:solidFill>
                <a:latin typeface="Liberation Sans"/>
                <a:ea typeface="Liberation Sans"/>
                <a:cs typeface="Liberation Sans"/>
              </a:rPr>
              <a:t>Fragmented operational</a:t>
            </a:r>
          </a:p>
          <a:p xmlns:a="http://schemas.openxmlformats.org/drawingml/2006/main">
            <a:pPr algn="l">
              <a:defRPr sz="2550" b="1">
                <a:solidFill>
                  <a:srgbClr val="F3F7FB"/>
                </a:solidFill>
                <a:latin typeface="Liberation Sans"/>
                <a:ea typeface="Liberation Sans"/>
                <a:cs typeface="Liberation Sans"/>
              </a:defRPr>
            </a:pPr>
            <a:r>
              <a:rPr sz="2550" b="1">
                <a:solidFill>
                  <a:srgbClr val="F3F7FB"/>
                </a:solidFill>
                <a:latin typeface="Liberation Sans"/>
                <a:ea typeface="Liberation Sans"/>
                <a:cs typeface="Liberation Sans"/>
              </a:rPr>
              <a:t>data makes performance</a:t>
            </a:r>
          </a:p>
          <a:p xmlns:a="http://schemas.openxmlformats.org/drawingml/2006/main">
            <a:pPr algn="l">
              <a:defRPr sz="2550" b="1">
                <a:solidFill>
                  <a:srgbClr val="F3F7FB"/>
                </a:solidFill>
                <a:latin typeface="Liberation Sans"/>
                <a:ea typeface="Liberation Sans"/>
                <a:cs typeface="Liberation Sans"/>
              </a:defRPr>
            </a:pPr>
            <a:r>
              <a:rPr sz="2550" b="1">
                <a:solidFill>
                  <a:srgbClr val="F3F7FB"/>
                </a:solidFill>
                <a:latin typeface="Liberation Sans"/>
                <a:ea typeface="Liberation Sans"/>
                <a:cs typeface="Liberation Sans"/>
              </a:rPr>
              <a:t>harder to evaluate</a:t>
            </a:r>
          </a:p>
        </p:txBody>
      </p:sp>
      <p:sp>
        <p:nvSpPr>
          <p:cNvPr id="7" name="shape-26">
            <a:extLst xmlns:a="http://schemas.openxmlformats.org/drawingml/2006/main">
              <a:ext uri="{FF2B5EF4-FFF2-40B4-BE49-F238E27FC236}">
                <a16:creationId xmlns:a16="http://schemas.microsoft.com/office/drawing/2014/main" id="{1F21CB00-5C4B-499F-9E30-269B3E324070}"/>
              </a:ext>
            </a:extLst>
          </p:cNvPr>
          <p:cNvSpPr>
            <a:spLocks xmlns:a="http://schemas.openxmlformats.org/drawingml/2006/main" noGrp="1"/>
          </p:cNvSpPr>
          <p:nvPr/>
        </p:nvSpPr>
        <p:spPr>
          <a:xfrm xmlns:a="http://schemas.openxmlformats.org/drawingml/2006/main">
            <a:off x="571500" y="3314700"/>
            <a:ext cx="4191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A9BBCB"/>
                </a:solidFill>
                <a:latin typeface="Liberation Sans"/>
                <a:ea typeface="Liberation Sans"/>
                <a:cs typeface="Liberation Sans"/>
              </a:defRPr>
            </a:defPPr>
          </a:lstStyle>
          <a:p xmlns:a="http://schemas.openxmlformats.org/drawingml/2006/main">
            <a:pPr algn="l">
              <a:defRPr sz="1875" b="0">
                <a:solidFill>
                  <a:srgbClr val="A9BBCB"/>
                </a:solidFill>
                <a:latin typeface="Liberation Sans"/>
                <a:ea typeface="Liberation Sans"/>
                <a:cs typeface="Liberation Sans"/>
              </a:defRPr>
            </a:pPr>
            <a:r>
              <a:rPr sz="1875" b="0">
                <a:solidFill>
                  <a:srgbClr val="A9BBCB"/>
                </a:solidFill>
                <a:latin typeface="Liberation Sans"/>
                <a:ea typeface="Liberation Sans"/>
                <a:cs typeface="Liberation Sans"/>
              </a:rPr>
              <a:t>Seven sources span the</a:t>
            </a:r>
          </a:p>
          <a:p xmlns:a="http://schemas.openxmlformats.org/drawingml/2006/main">
            <a:pPr algn="l">
              <a:defRPr sz="1875" b="0">
                <a:solidFill>
                  <a:srgbClr val="A9BBCB"/>
                </a:solidFill>
                <a:latin typeface="Liberation Sans"/>
                <a:ea typeface="Liberation Sans"/>
                <a:cs typeface="Liberation Sans"/>
              </a:defRPr>
            </a:pPr>
            <a:r>
              <a:rPr sz="1875" b="0">
                <a:solidFill>
                  <a:srgbClr val="A9BBCB"/>
                </a:solidFill>
                <a:latin typeface="Liberation Sans"/>
                <a:ea typeface="Liberation Sans"/>
                <a:cs typeface="Liberation Sans"/>
              </a:rPr>
              <a:t>complete delivery lifecycle</a:t>
            </a:r>
          </a:p>
        </p:txBody>
      </p:sp>
      <p:sp>
        <p:nvSpPr>
          <p:cNvPr id="8" name="shape-27">
            <a:extLst xmlns:a="http://schemas.openxmlformats.org/drawingml/2006/main">
              <a:ext uri="{FF2B5EF4-FFF2-40B4-BE49-F238E27FC236}">
                <a16:creationId xmlns:a16="http://schemas.microsoft.com/office/drawing/2014/main" id="{4D170355-E44D-4A36-B401-0404954F23D6}"/>
              </a:ext>
            </a:extLst>
          </p:cNvPr>
          <p:cNvSpPr>
            <a:spLocks xmlns:a="http://schemas.openxmlformats.org/drawingml/2006/main" noGrp="1"/>
          </p:cNvSpPr>
          <p:nvPr/>
        </p:nvSpPr>
        <p:spPr>
          <a:xfrm xmlns:a="http://schemas.openxmlformats.org/drawingml/2006/main">
            <a:off x="571500" y="423862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F3F7FB"/>
                </a:solidFill>
                <a:latin typeface="Liberation Sans"/>
                <a:ea typeface="Liberation Sans"/>
                <a:cs typeface="Liberation Sans"/>
              </a:defRPr>
            </a:defPPr>
          </a:lstStyle>
          <a:p xmlns:a="http://schemas.openxmlformats.org/drawingml/2006/main">
            <a:pPr algn="l">
              <a:defRPr sz="1725" b="0">
                <a:solidFill>
                  <a:srgbClr val="F3F7FB"/>
                </a:solidFill>
                <a:latin typeface="Liberation Sans"/>
                <a:ea typeface="Liberation Sans"/>
                <a:cs typeface="Liberation Sans"/>
              </a:defRPr>
            </a:pPr>
            <a:r>
              <a:rPr sz="1725" b="0">
                <a:solidFill>
                  <a:srgbClr val="F3F7FB"/>
                </a:solidFill>
                <a:latin typeface="Liberation Sans"/>
                <a:ea typeface="Liberation Sans"/>
                <a:cs typeface="Liberation Sans"/>
              </a:rPr>
              <a:t>Orders</a:t>
            </a:r>
          </a:p>
        </p:txBody>
      </p:sp>
      <p:sp>
        <p:nvSpPr>
          <p:cNvPr id="9" name="shape-28">
            <a:extLst xmlns:a="http://schemas.openxmlformats.org/drawingml/2006/main">
              <a:ext uri="{FF2B5EF4-FFF2-40B4-BE49-F238E27FC236}">
                <a16:creationId xmlns:a16="http://schemas.microsoft.com/office/drawing/2014/main" id="{CC7EF573-77C4-4376-BF29-1E292DF7F99E}"/>
              </a:ext>
            </a:extLst>
          </p:cNvPr>
          <p:cNvSpPr>
            <a:spLocks xmlns:a="http://schemas.openxmlformats.org/drawingml/2006/main" noGrp="1"/>
          </p:cNvSpPr>
          <p:nvPr/>
        </p:nvSpPr>
        <p:spPr>
          <a:xfrm xmlns:a="http://schemas.openxmlformats.org/drawingml/2006/main">
            <a:off x="2619375" y="423862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48DCE7"/>
                </a:solidFill>
                <a:latin typeface="Liberation Sans"/>
                <a:ea typeface="Liberation Sans"/>
                <a:cs typeface="Liberation Sans"/>
              </a:defRPr>
            </a:defPPr>
          </a:lstStyle>
          <a:p xmlns:a="http://schemas.openxmlformats.org/drawingml/2006/main">
            <a:pPr algn="l">
              <a:defRPr sz="1725" b="0">
                <a:solidFill>
                  <a:srgbClr val="48DCE7"/>
                </a:solidFill>
                <a:latin typeface="Liberation Sans"/>
                <a:ea typeface="Liberation Sans"/>
                <a:cs typeface="Liberation Sans"/>
              </a:defRPr>
            </a:pPr>
            <a:r>
              <a:rPr sz="1725" b="0">
                <a:solidFill>
                  <a:srgbClr val="48DCE7"/>
                </a:solidFill>
                <a:latin typeface="Liberation Sans"/>
                <a:ea typeface="Liberation Sans"/>
                <a:cs typeface="Liberation Sans"/>
              </a:rPr>
              <a:t>Tracking events</a:t>
            </a:r>
          </a:p>
        </p:txBody>
      </p:sp>
      <p:sp>
        <p:nvSpPr>
          <p:cNvPr id="10" name="shape-29">
            <a:extLst xmlns:a="http://schemas.openxmlformats.org/drawingml/2006/main">
              <a:ext uri="{FF2B5EF4-FFF2-40B4-BE49-F238E27FC236}">
                <a16:creationId xmlns:a16="http://schemas.microsoft.com/office/drawing/2014/main" id="{B19B2BDD-F474-46E5-AF87-8BA64865FB32}"/>
              </a:ext>
            </a:extLst>
          </p:cNvPr>
          <p:cNvSpPr>
            <a:spLocks xmlns:a="http://schemas.openxmlformats.org/drawingml/2006/main" noGrp="1"/>
          </p:cNvSpPr>
          <p:nvPr/>
        </p:nvSpPr>
        <p:spPr>
          <a:xfrm xmlns:a="http://schemas.openxmlformats.org/drawingml/2006/main">
            <a:off x="571500" y="461962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F3F7FB"/>
                </a:solidFill>
                <a:latin typeface="Liberation Sans"/>
                <a:ea typeface="Liberation Sans"/>
                <a:cs typeface="Liberation Sans"/>
              </a:defRPr>
            </a:defPPr>
          </a:lstStyle>
          <a:p xmlns:a="http://schemas.openxmlformats.org/drawingml/2006/main">
            <a:pPr algn="l">
              <a:defRPr sz="1725" b="0">
                <a:solidFill>
                  <a:srgbClr val="F3F7FB"/>
                </a:solidFill>
                <a:latin typeface="Liberation Sans"/>
                <a:ea typeface="Liberation Sans"/>
                <a:cs typeface="Liberation Sans"/>
              </a:defRPr>
            </a:pPr>
            <a:r>
              <a:rPr sz="1725" b="0">
                <a:solidFill>
                  <a:srgbClr val="F3F7FB"/>
                </a:solidFill>
                <a:latin typeface="Liberation Sans"/>
                <a:ea typeface="Liberation Sans"/>
                <a:cs typeface="Liberation Sans"/>
              </a:rPr>
              <a:t>Couriers</a:t>
            </a:r>
          </a:p>
        </p:txBody>
      </p:sp>
      <p:sp>
        <p:nvSpPr>
          <p:cNvPr id="11" name="shape-30">
            <a:extLst xmlns:a="http://schemas.openxmlformats.org/drawingml/2006/main">
              <a:ext uri="{FF2B5EF4-FFF2-40B4-BE49-F238E27FC236}">
                <a16:creationId xmlns:a16="http://schemas.microsoft.com/office/drawing/2014/main" id="{4ED7DB30-94CE-49A0-B592-27B9FBE32E4C}"/>
              </a:ext>
            </a:extLst>
          </p:cNvPr>
          <p:cNvSpPr>
            <a:spLocks xmlns:a="http://schemas.openxmlformats.org/drawingml/2006/main" noGrp="1"/>
          </p:cNvSpPr>
          <p:nvPr/>
        </p:nvSpPr>
        <p:spPr>
          <a:xfrm xmlns:a="http://schemas.openxmlformats.org/drawingml/2006/main">
            <a:off x="2619375" y="461962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F3F7FB"/>
                </a:solidFill>
                <a:latin typeface="Liberation Sans"/>
                <a:ea typeface="Liberation Sans"/>
                <a:cs typeface="Liberation Sans"/>
              </a:defRPr>
            </a:defPPr>
          </a:lstStyle>
          <a:p xmlns:a="http://schemas.openxmlformats.org/drawingml/2006/main">
            <a:pPr algn="l">
              <a:defRPr sz="1725" b="0">
                <a:solidFill>
                  <a:srgbClr val="F3F7FB"/>
                </a:solidFill>
                <a:latin typeface="Liberation Sans"/>
                <a:ea typeface="Liberation Sans"/>
                <a:cs typeface="Liberation Sans"/>
              </a:defRPr>
            </a:pPr>
            <a:r>
              <a:rPr sz="1725" b="0">
                <a:solidFill>
                  <a:srgbClr val="F3F7FB"/>
                </a:solidFill>
                <a:latin typeface="Liberation Sans"/>
                <a:ea typeface="Liberation Sans"/>
                <a:cs typeface="Liberation Sans"/>
              </a:rPr>
              <a:t>Hubs</a:t>
            </a:r>
          </a:p>
        </p:txBody>
      </p:sp>
      <p:sp>
        <p:nvSpPr>
          <p:cNvPr id="12" name="shape-31">
            <a:extLst xmlns:a="http://schemas.openxmlformats.org/drawingml/2006/main">
              <a:ext uri="{FF2B5EF4-FFF2-40B4-BE49-F238E27FC236}">
                <a16:creationId xmlns:a16="http://schemas.microsoft.com/office/drawing/2014/main" id="{79F93DF7-49AB-4828-B0D8-B61585F87955}"/>
              </a:ext>
            </a:extLst>
          </p:cNvPr>
          <p:cNvSpPr>
            <a:spLocks xmlns:a="http://schemas.openxmlformats.org/drawingml/2006/main" noGrp="1"/>
          </p:cNvSpPr>
          <p:nvPr/>
        </p:nvSpPr>
        <p:spPr>
          <a:xfrm xmlns:a="http://schemas.openxmlformats.org/drawingml/2006/main">
            <a:off x="571500" y="500062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F3F7FB"/>
                </a:solidFill>
                <a:latin typeface="Liberation Sans"/>
                <a:ea typeface="Liberation Sans"/>
                <a:cs typeface="Liberation Sans"/>
              </a:defRPr>
            </a:defPPr>
          </a:lstStyle>
          <a:p xmlns:a="http://schemas.openxmlformats.org/drawingml/2006/main">
            <a:pPr algn="l">
              <a:defRPr sz="1725" b="0">
                <a:solidFill>
                  <a:srgbClr val="F3F7FB"/>
                </a:solidFill>
                <a:latin typeface="Liberation Sans"/>
                <a:ea typeface="Liberation Sans"/>
                <a:cs typeface="Liberation Sans"/>
              </a:defRPr>
            </a:pPr>
            <a:r>
              <a:rPr sz="1725" b="0">
                <a:solidFill>
                  <a:srgbClr val="F3F7FB"/>
                </a:solidFill>
                <a:latin typeface="Liberation Sans"/>
                <a:ea typeface="Liberation Sans"/>
                <a:cs typeface="Liberation Sans"/>
              </a:rPr>
              <a:t>Payments</a:t>
            </a:r>
          </a:p>
        </p:txBody>
      </p:sp>
      <p:sp>
        <p:nvSpPr>
          <p:cNvPr id="13" name="shape-32">
            <a:extLst xmlns:a="http://schemas.openxmlformats.org/drawingml/2006/main">
              <a:ext uri="{FF2B5EF4-FFF2-40B4-BE49-F238E27FC236}">
                <a16:creationId xmlns:a16="http://schemas.microsoft.com/office/drawing/2014/main" id="{BEE96E15-8591-4C98-82F7-C0B61ECC27F9}"/>
              </a:ext>
            </a:extLst>
          </p:cNvPr>
          <p:cNvSpPr>
            <a:spLocks xmlns:a="http://schemas.openxmlformats.org/drawingml/2006/main" noGrp="1"/>
          </p:cNvSpPr>
          <p:nvPr/>
        </p:nvSpPr>
        <p:spPr>
          <a:xfrm xmlns:a="http://schemas.openxmlformats.org/drawingml/2006/main">
            <a:off x="2619375" y="500062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F3F7FB"/>
                </a:solidFill>
                <a:latin typeface="Liberation Sans"/>
                <a:ea typeface="Liberation Sans"/>
                <a:cs typeface="Liberation Sans"/>
              </a:defRPr>
            </a:defPPr>
          </a:lstStyle>
          <a:p xmlns:a="http://schemas.openxmlformats.org/drawingml/2006/main">
            <a:pPr algn="l">
              <a:defRPr sz="1725" b="0">
                <a:solidFill>
                  <a:srgbClr val="F3F7FB"/>
                </a:solidFill>
                <a:latin typeface="Liberation Sans"/>
                <a:ea typeface="Liberation Sans"/>
                <a:cs typeface="Liberation Sans"/>
              </a:defRPr>
            </a:pPr>
            <a:r>
              <a:rPr sz="1725" b="0">
                <a:solidFill>
                  <a:srgbClr val="F3F7FB"/>
                </a:solidFill>
                <a:latin typeface="Liberation Sans"/>
                <a:ea typeface="Liberation Sans"/>
                <a:cs typeface="Liberation Sans"/>
              </a:rPr>
              <a:t>Returns</a:t>
            </a:r>
          </a:p>
        </p:txBody>
      </p:sp>
      <p:sp>
        <p:nvSpPr>
          <p:cNvPr id="14" name="shape-33">
            <a:extLst xmlns:a="http://schemas.openxmlformats.org/drawingml/2006/main">
              <a:ext uri="{FF2B5EF4-FFF2-40B4-BE49-F238E27FC236}">
                <a16:creationId xmlns:a16="http://schemas.microsoft.com/office/drawing/2014/main" id="{9A39F7C7-8AD6-4585-8C24-3BB8AE0D0ADE}"/>
              </a:ext>
            </a:extLst>
          </p:cNvPr>
          <p:cNvSpPr>
            <a:spLocks xmlns:a="http://schemas.openxmlformats.org/drawingml/2006/main" noGrp="1"/>
          </p:cNvSpPr>
          <p:nvPr/>
        </p:nvSpPr>
        <p:spPr>
          <a:xfrm xmlns:a="http://schemas.openxmlformats.org/drawingml/2006/main">
            <a:off x="571500" y="538162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F3F7FB"/>
                </a:solidFill>
                <a:latin typeface="Liberation Sans"/>
                <a:ea typeface="Liberation Sans"/>
                <a:cs typeface="Liberation Sans"/>
              </a:defRPr>
            </a:defPPr>
          </a:lstStyle>
          <a:p xmlns:a="http://schemas.openxmlformats.org/drawingml/2006/main">
            <a:pPr algn="l">
              <a:defRPr sz="1725" b="0">
                <a:solidFill>
                  <a:srgbClr val="F3F7FB"/>
                </a:solidFill>
                <a:latin typeface="Liberation Sans"/>
                <a:ea typeface="Liberation Sans"/>
                <a:cs typeface="Liberation Sans"/>
              </a:defRPr>
            </a:pPr>
            <a:r>
              <a:rPr sz="1725" b="0">
                <a:solidFill>
                  <a:srgbClr val="F3F7FB"/>
                </a:solidFill>
                <a:latin typeface="Liberation Sans"/>
                <a:ea typeface="Liberation Sans"/>
                <a:cs typeface="Liberation Sans"/>
              </a:rPr>
              <a:t>Merchants</a:t>
            </a:r>
          </a:p>
        </p:txBody>
      </p:sp>
      <p:sp>
        <p:nvSpPr>
          <p:cNvPr id="15" name="shape-34">
            <a:extLst xmlns:a="http://schemas.openxmlformats.org/drawingml/2006/main">
              <a:ext uri="{FF2B5EF4-FFF2-40B4-BE49-F238E27FC236}">
                <a16:creationId xmlns:a16="http://schemas.microsoft.com/office/drawing/2014/main" id="{B83CA97B-C61B-4141-B564-D907CEBA52F2}"/>
              </a:ext>
            </a:extLst>
          </p:cNvPr>
          <p:cNvSpPr>
            <a:spLocks xmlns:a="http://schemas.openxmlformats.org/drawingml/2006/main" noGrp="1"/>
          </p:cNvSpPr>
          <p:nvPr/>
        </p:nvSpPr>
        <p:spPr>
          <a:xfrm xmlns:a="http://schemas.openxmlformats.org/drawingml/2006/main">
            <a:off x="5238750" y="1724025"/>
            <a:ext cx="3095625" cy="1047750"/>
          </a:xfrm>
          <a:prstGeom xmlns:a="http://schemas.openxmlformats.org/drawingml/2006/main" prst="roundRect">
            <a:avLst>
              <a:gd name="adj" fmla="val 10909"/>
            </a:avLst>
          </a:prstGeom>
          <a:solidFill xmlns:a="http://schemas.openxmlformats.org/drawingml/2006/main">
            <a:srgbClr val="122536"/>
          </a:solidFill>
          <a:ln xmlns:a="http://schemas.openxmlformats.org/drawingml/2006/main" w="9525">
            <a:solidFill>
              <a:srgbClr val="2A4052"/>
            </a:solidFill>
            <a:prstDash val="solid"/>
          </a:ln>
        </p:spPr>
      </p:sp>
      <p:sp>
        <p:nvSpPr>
          <p:cNvPr id="16" name="shape-35">
            <a:extLst xmlns:a="http://schemas.openxmlformats.org/drawingml/2006/main">
              <a:ext uri="{FF2B5EF4-FFF2-40B4-BE49-F238E27FC236}">
                <a16:creationId xmlns:a16="http://schemas.microsoft.com/office/drawing/2014/main" id="{EAA31156-AE6A-428F-A0C6-D878AC71107D}"/>
              </a:ext>
            </a:extLst>
          </p:cNvPr>
          <p:cNvSpPr>
            <a:spLocks xmlns:a="http://schemas.openxmlformats.org/drawingml/2006/main" noGrp="1"/>
          </p:cNvSpPr>
          <p:nvPr/>
        </p:nvSpPr>
        <p:spPr>
          <a:xfrm xmlns:a="http://schemas.openxmlformats.org/drawingml/2006/main">
            <a:off x="5429250" y="1866900"/>
            <a:ext cx="2714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48DCE7"/>
                </a:solidFill>
                <a:latin typeface="Liberation Sans"/>
                <a:ea typeface="Liberation Sans"/>
                <a:cs typeface="Liberation Sans"/>
              </a:defRPr>
            </a:defPPr>
          </a:lstStyle>
          <a:p xmlns:a="http://schemas.openxmlformats.org/drawingml/2006/main">
            <a:pPr algn="l">
              <a:defRPr sz="1800" b="1">
                <a:solidFill>
                  <a:srgbClr val="48DCE7"/>
                </a:solidFill>
                <a:latin typeface="Liberation Sans"/>
                <a:ea typeface="Liberation Sans"/>
                <a:cs typeface="Liberation Sans"/>
              </a:defRPr>
            </a:pPr>
            <a:r>
              <a:rPr sz="1800" b="1">
                <a:solidFill>
                  <a:srgbClr val="48DCE7"/>
                </a:solidFill>
                <a:latin typeface="Liberation Sans"/>
                <a:ea typeface="Liberation Sans"/>
                <a:cs typeface="Liberation Sans"/>
              </a:rPr>
              <a:t>Order volume</a:t>
            </a:r>
          </a:p>
        </p:txBody>
      </p:sp>
      <p:sp>
        <p:nvSpPr>
          <p:cNvPr id="17" name="shape-36">
            <a:extLst xmlns:a="http://schemas.openxmlformats.org/drawingml/2006/main">
              <a:ext uri="{FF2B5EF4-FFF2-40B4-BE49-F238E27FC236}">
                <a16:creationId xmlns:a16="http://schemas.microsoft.com/office/drawing/2014/main" id="{1716D9F0-F749-4551-8393-CC6BAC2C1FFC}"/>
              </a:ext>
            </a:extLst>
          </p:cNvPr>
          <p:cNvSpPr>
            <a:spLocks xmlns:a="http://schemas.openxmlformats.org/drawingml/2006/main" noGrp="1"/>
          </p:cNvSpPr>
          <p:nvPr/>
        </p:nvSpPr>
        <p:spPr>
          <a:xfrm xmlns:a="http://schemas.openxmlformats.org/drawingml/2006/main">
            <a:off x="5429250" y="2219325"/>
            <a:ext cx="2714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F3F7FB"/>
                </a:solidFill>
                <a:latin typeface="Liberation Sans"/>
                <a:ea typeface="Liberation Sans"/>
                <a:cs typeface="Liberation Sans"/>
              </a:defRPr>
            </a:defPPr>
          </a:lstStyle>
          <a:p xmlns:a="http://schemas.openxmlformats.org/drawingml/2006/main">
            <a:pPr algn="l">
              <a:defRPr sz="1575" b="0">
                <a:solidFill>
                  <a:srgbClr val="F3F7FB"/>
                </a:solidFill>
                <a:latin typeface="Liberation Sans"/>
                <a:ea typeface="Liberation Sans"/>
                <a:cs typeface="Liberation Sans"/>
              </a:defRPr>
            </a:pPr>
            <a:r>
              <a:rPr sz="1575" b="0">
                <a:solidFill>
                  <a:srgbClr val="F3F7FB"/>
                </a:solidFill>
                <a:latin typeface="Liberation Sans"/>
                <a:ea typeface="Liberation Sans"/>
                <a:cs typeface="Liberation Sans"/>
              </a:rPr>
              <a:t>How many orders are processed?</a:t>
            </a:r>
          </a:p>
        </p:txBody>
      </p:sp>
      <p:sp>
        <p:nvSpPr>
          <p:cNvPr id="18" name="shape-37">
            <a:extLst xmlns:a="http://schemas.openxmlformats.org/drawingml/2006/main">
              <a:ext uri="{FF2B5EF4-FFF2-40B4-BE49-F238E27FC236}">
                <a16:creationId xmlns:a16="http://schemas.microsoft.com/office/drawing/2014/main" id="{288491EB-E3B2-46D5-810B-20A030131EC2}"/>
              </a:ext>
            </a:extLst>
          </p:cNvPr>
          <p:cNvSpPr>
            <a:spLocks xmlns:a="http://schemas.openxmlformats.org/drawingml/2006/main" noGrp="1"/>
          </p:cNvSpPr>
          <p:nvPr/>
        </p:nvSpPr>
        <p:spPr>
          <a:xfrm xmlns:a="http://schemas.openxmlformats.org/drawingml/2006/main">
            <a:off x="8524875" y="1724025"/>
            <a:ext cx="3095625" cy="1047750"/>
          </a:xfrm>
          <a:prstGeom xmlns:a="http://schemas.openxmlformats.org/drawingml/2006/main" prst="roundRect">
            <a:avLst>
              <a:gd name="adj" fmla="val 10909"/>
            </a:avLst>
          </a:prstGeom>
          <a:solidFill xmlns:a="http://schemas.openxmlformats.org/drawingml/2006/main">
            <a:srgbClr val="122536"/>
          </a:solidFill>
          <a:ln xmlns:a="http://schemas.openxmlformats.org/drawingml/2006/main" w="9525">
            <a:solidFill>
              <a:srgbClr val="2A4052"/>
            </a:solidFill>
            <a:prstDash val="solid"/>
          </a:ln>
        </p:spPr>
      </p:sp>
      <p:sp>
        <p:nvSpPr>
          <p:cNvPr id="19" name="shape-38">
            <a:extLst xmlns:a="http://schemas.openxmlformats.org/drawingml/2006/main">
              <a:ext uri="{FF2B5EF4-FFF2-40B4-BE49-F238E27FC236}">
                <a16:creationId xmlns:a16="http://schemas.microsoft.com/office/drawing/2014/main" id="{7FFDEB81-E68A-4BA8-8D77-144DE4AA8595}"/>
              </a:ext>
            </a:extLst>
          </p:cNvPr>
          <p:cNvSpPr>
            <a:spLocks xmlns:a="http://schemas.openxmlformats.org/drawingml/2006/main" noGrp="1"/>
          </p:cNvSpPr>
          <p:nvPr/>
        </p:nvSpPr>
        <p:spPr>
          <a:xfrm xmlns:a="http://schemas.openxmlformats.org/drawingml/2006/main">
            <a:off x="8715375" y="1866900"/>
            <a:ext cx="2714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48DCE7"/>
                </a:solidFill>
                <a:latin typeface="Liberation Sans"/>
                <a:ea typeface="Liberation Sans"/>
                <a:cs typeface="Liberation Sans"/>
              </a:defRPr>
            </a:defPPr>
          </a:lstStyle>
          <a:p xmlns:a="http://schemas.openxmlformats.org/drawingml/2006/main">
            <a:pPr algn="l">
              <a:defRPr sz="1800" b="1">
                <a:solidFill>
                  <a:srgbClr val="48DCE7"/>
                </a:solidFill>
                <a:latin typeface="Liberation Sans"/>
                <a:ea typeface="Liberation Sans"/>
                <a:cs typeface="Liberation Sans"/>
              </a:defRPr>
            </a:pPr>
            <a:r>
              <a:rPr sz="1800" b="1">
                <a:solidFill>
                  <a:srgbClr val="48DCE7"/>
                </a:solidFill>
                <a:latin typeface="Liberation Sans"/>
                <a:ea typeface="Liberation Sans"/>
                <a:cs typeface="Liberation Sans"/>
              </a:rPr>
              <a:t>SLA Compliance</a:t>
            </a:r>
          </a:p>
        </p:txBody>
      </p:sp>
      <p:sp>
        <p:nvSpPr>
          <p:cNvPr id="20" name="shape-39">
            <a:extLst xmlns:a="http://schemas.openxmlformats.org/drawingml/2006/main">
              <a:ext uri="{FF2B5EF4-FFF2-40B4-BE49-F238E27FC236}">
                <a16:creationId xmlns:a16="http://schemas.microsoft.com/office/drawing/2014/main" id="{FBC9172B-B055-490E-929C-6423355DA24C}"/>
              </a:ext>
            </a:extLst>
          </p:cNvPr>
          <p:cNvSpPr>
            <a:spLocks xmlns:a="http://schemas.openxmlformats.org/drawingml/2006/main" noGrp="1"/>
          </p:cNvSpPr>
          <p:nvPr/>
        </p:nvSpPr>
        <p:spPr>
          <a:xfrm xmlns:a="http://schemas.openxmlformats.org/drawingml/2006/main">
            <a:off x="8715375" y="2219325"/>
            <a:ext cx="2714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F3F7FB"/>
                </a:solidFill>
                <a:latin typeface="Liberation Sans"/>
                <a:ea typeface="Liberation Sans"/>
                <a:cs typeface="Liberation Sans"/>
              </a:defRPr>
            </a:defPPr>
          </a:lstStyle>
          <a:p xmlns:a="http://schemas.openxmlformats.org/drawingml/2006/main">
            <a:pPr algn="l">
              <a:defRPr sz="1575" b="0">
                <a:solidFill>
                  <a:srgbClr val="F3F7FB"/>
                </a:solidFill>
                <a:latin typeface="Liberation Sans"/>
                <a:ea typeface="Liberation Sans"/>
                <a:cs typeface="Liberation Sans"/>
              </a:defRPr>
            </a:pPr>
            <a:r>
              <a:rPr sz="1575" b="0">
                <a:solidFill>
                  <a:srgbClr val="F3F7FB"/>
                </a:solidFill>
                <a:latin typeface="Liberation Sans"/>
                <a:ea typeface="Liberation Sans"/>
                <a:cs typeface="Liberation Sans"/>
              </a:rPr>
              <a:t>Are deliveries meeting SLA targets?</a:t>
            </a:r>
          </a:p>
        </p:txBody>
      </p:sp>
      <p:sp>
        <p:nvSpPr>
          <p:cNvPr id="21" name="shape-40">
            <a:extLst xmlns:a="http://schemas.openxmlformats.org/drawingml/2006/main">
              <a:ext uri="{FF2B5EF4-FFF2-40B4-BE49-F238E27FC236}">
                <a16:creationId xmlns:a16="http://schemas.microsoft.com/office/drawing/2014/main" id="{F8951B91-0D31-4989-B793-55821F4F43AC}"/>
              </a:ext>
            </a:extLst>
          </p:cNvPr>
          <p:cNvSpPr>
            <a:spLocks xmlns:a="http://schemas.openxmlformats.org/drawingml/2006/main" noGrp="1"/>
          </p:cNvSpPr>
          <p:nvPr/>
        </p:nvSpPr>
        <p:spPr>
          <a:xfrm xmlns:a="http://schemas.openxmlformats.org/drawingml/2006/main">
            <a:off x="5238750" y="2914650"/>
            <a:ext cx="3095625" cy="1047750"/>
          </a:xfrm>
          <a:prstGeom xmlns:a="http://schemas.openxmlformats.org/drawingml/2006/main" prst="roundRect">
            <a:avLst>
              <a:gd name="adj" fmla="val 10909"/>
            </a:avLst>
          </a:prstGeom>
          <a:solidFill xmlns:a="http://schemas.openxmlformats.org/drawingml/2006/main">
            <a:srgbClr val="122536"/>
          </a:solidFill>
          <a:ln xmlns:a="http://schemas.openxmlformats.org/drawingml/2006/main" w="9525">
            <a:solidFill>
              <a:srgbClr val="2A4052"/>
            </a:solidFill>
            <a:prstDash val="solid"/>
          </a:ln>
        </p:spPr>
      </p:sp>
      <p:sp>
        <p:nvSpPr>
          <p:cNvPr id="22" name="shape-41">
            <a:extLst xmlns:a="http://schemas.openxmlformats.org/drawingml/2006/main">
              <a:ext uri="{FF2B5EF4-FFF2-40B4-BE49-F238E27FC236}">
                <a16:creationId xmlns:a16="http://schemas.microsoft.com/office/drawing/2014/main" id="{25B8FECD-0E40-4FBA-ACCA-5A9C7D4C3107}"/>
              </a:ext>
            </a:extLst>
          </p:cNvPr>
          <p:cNvSpPr>
            <a:spLocks xmlns:a="http://schemas.openxmlformats.org/drawingml/2006/main" noGrp="1"/>
          </p:cNvSpPr>
          <p:nvPr/>
        </p:nvSpPr>
        <p:spPr>
          <a:xfrm xmlns:a="http://schemas.openxmlformats.org/drawingml/2006/main">
            <a:off x="5429250" y="3057525"/>
            <a:ext cx="2714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48DCE7"/>
                </a:solidFill>
                <a:latin typeface="Liberation Sans"/>
                <a:ea typeface="Liberation Sans"/>
                <a:cs typeface="Liberation Sans"/>
              </a:defRPr>
            </a:defPPr>
          </a:lstStyle>
          <a:p xmlns:a="http://schemas.openxmlformats.org/drawingml/2006/main">
            <a:pPr algn="l">
              <a:defRPr sz="1800" b="1">
                <a:solidFill>
                  <a:srgbClr val="48DCE7"/>
                </a:solidFill>
                <a:latin typeface="Liberation Sans"/>
                <a:ea typeface="Liberation Sans"/>
                <a:cs typeface="Liberation Sans"/>
              </a:defRPr>
            </a:pPr>
            <a:r>
              <a:rPr sz="1800" b="1">
                <a:solidFill>
                  <a:srgbClr val="48DCE7"/>
                </a:solidFill>
                <a:latin typeface="Liberation Sans"/>
                <a:ea typeface="Liberation Sans"/>
                <a:cs typeface="Liberation Sans"/>
              </a:rPr>
              <a:t>Delivery success</a:t>
            </a:r>
          </a:p>
        </p:txBody>
      </p:sp>
      <p:sp>
        <p:nvSpPr>
          <p:cNvPr id="23" name="shape-42">
            <a:extLst xmlns:a="http://schemas.openxmlformats.org/drawingml/2006/main">
              <a:ext uri="{FF2B5EF4-FFF2-40B4-BE49-F238E27FC236}">
                <a16:creationId xmlns:a16="http://schemas.microsoft.com/office/drawing/2014/main" id="{4EFD2866-1E97-49AD-8FAF-4019172A5B7D}"/>
              </a:ext>
            </a:extLst>
          </p:cNvPr>
          <p:cNvSpPr>
            <a:spLocks xmlns:a="http://schemas.openxmlformats.org/drawingml/2006/main" noGrp="1"/>
          </p:cNvSpPr>
          <p:nvPr/>
        </p:nvSpPr>
        <p:spPr>
          <a:xfrm xmlns:a="http://schemas.openxmlformats.org/drawingml/2006/main">
            <a:off x="5429250" y="3409950"/>
            <a:ext cx="2714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F3F7FB"/>
                </a:solidFill>
                <a:latin typeface="Liberation Sans"/>
                <a:ea typeface="Liberation Sans"/>
                <a:cs typeface="Liberation Sans"/>
              </a:defRPr>
            </a:defPPr>
          </a:lstStyle>
          <a:p xmlns:a="http://schemas.openxmlformats.org/drawingml/2006/main">
            <a:pPr algn="l">
              <a:defRPr sz="1575" b="0">
                <a:solidFill>
                  <a:srgbClr val="F3F7FB"/>
                </a:solidFill>
                <a:latin typeface="Liberation Sans"/>
                <a:ea typeface="Liberation Sans"/>
                <a:cs typeface="Liberation Sans"/>
              </a:defRPr>
            </a:pPr>
            <a:r>
              <a:rPr sz="1575" b="0">
                <a:solidFill>
                  <a:srgbClr val="F3F7FB"/>
                </a:solidFill>
                <a:latin typeface="Liberation Sans"/>
                <a:ea typeface="Liberation Sans"/>
                <a:cs typeface="Liberation Sans"/>
              </a:rPr>
              <a:t>What share of eligible orders succeeds?</a:t>
            </a:r>
          </a:p>
        </p:txBody>
      </p:sp>
      <p:sp>
        <p:nvSpPr>
          <p:cNvPr id="24" name="shape-43">
            <a:extLst xmlns:a="http://schemas.openxmlformats.org/drawingml/2006/main">
              <a:ext uri="{FF2B5EF4-FFF2-40B4-BE49-F238E27FC236}">
                <a16:creationId xmlns:a16="http://schemas.microsoft.com/office/drawing/2014/main" id="{12E8D9BD-B1B6-41DC-A463-229DC401C893}"/>
              </a:ext>
            </a:extLst>
          </p:cNvPr>
          <p:cNvSpPr>
            <a:spLocks xmlns:a="http://schemas.openxmlformats.org/drawingml/2006/main" noGrp="1"/>
          </p:cNvSpPr>
          <p:nvPr/>
        </p:nvSpPr>
        <p:spPr>
          <a:xfrm xmlns:a="http://schemas.openxmlformats.org/drawingml/2006/main">
            <a:off x="8524875" y="2914650"/>
            <a:ext cx="3095625" cy="1047750"/>
          </a:xfrm>
          <a:prstGeom xmlns:a="http://schemas.openxmlformats.org/drawingml/2006/main" prst="roundRect">
            <a:avLst>
              <a:gd name="adj" fmla="val 10909"/>
            </a:avLst>
          </a:prstGeom>
          <a:solidFill xmlns:a="http://schemas.openxmlformats.org/drawingml/2006/main">
            <a:srgbClr val="122536"/>
          </a:solidFill>
          <a:ln xmlns:a="http://schemas.openxmlformats.org/drawingml/2006/main" w="9525">
            <a:solidFill>
              <a:srgbClr val="2A4052"/>
            </a:solidFill>
            <a:prstDash val="solid"/>
          </a:ln>
        </p:spPr>
      </p:sp>
      <p:sp>
        <p:nvSpPr>
          <p:cNvPr id="25" name="shape-44">
            <a:extLst xmlns:a="http://schemas.openxmlformats.org/drawingml/2006/main">
              <a:ext uri="{FF2B5EF4-FFF2-40B4-BE49-F238E27FC236}">
                <a16:creationId xmlns:a16="http://schemas.microsoft.com/office/drawing/2014/main" id="{23E893A3-EE97-4E1E-80CB-F37B4D2433E1}"/>
              </a:ext>
            </a:extLst>
          </p:cNvPr>
          <p:cNvSpPr>
            <a:spLocks xmlns:a="http://schemas.openxmlformats.org/drawingml/2006/main" noGrp="1"/>
          </p:cNvSpPr>
          <p:nvPr/>
        </p:nvSpPr>
        <p:spPr>
          <a:xfrm xmlns:a="http://schemas.openxmlformats.org/drawingml/2006/main">
            <a:off x="8715375" y="3057525"/>
            <a:ext cx="2714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48DCE7"/>
                </a:solidFill>
                <a:latin typeface="Liberation Sans"/>
                <a:ea typeface="Liberation Sans"/>
                <a:cs typeface="Liberation Sans"/>
              </a:defRPr>
            </a:defPPr>
          </a:lstStyle>
          <a:p xmlns:a="http://schemas.openxmlformats.org/drawingml/2006/main">
            <a:pPr algn="l">
              <a:defRPr sz="1800" b="1">
                <a:solidFill>
                  <a:srgbClr val="48DCE7"/>
                </a:solidFill>
                <a:latin typeface="Liberation Sans"/>
                <a:ea typeface="Liberation Sans"/>
                <a:cs typeface="Liberation Sans"/>
              </a:defRPr>
            </a:pPr>
            <a:r>
              <a:rPr sz="1800" b="1">
                <a:solidFill>
                  <a:srgbClr val="48DCE7"/>
                </a:solidFill>
                <a:latin typeface="Liberation Sans"/>
                <a:ea typeface="Liberation Sans"/>
                <a:cs typeface="Liberation Sans"/>
              </a:rPr>
              <a:t>Delivery TAT</a:t>
            </a:r>
          </a:p>
        </p:txBody>
      </p:sp>
      <p:sp>
        <p:nvSpPr>
          <p:cNvPr id="26" name="shape-45">
            <a:extLst xmlns:a="http://schemas.openxmlformats.org/drawingml/2006/main">
              <a:ext uri="{FF2B5EF4-FFF2-40B4-BE49-F238E27FC236}">
                <a16:creationId xmlns:a16="http://schemas.microsoft.com/office/drawing/2014/main" id="{54F4849F-D9DF-4320-8FDE-2F717114FB71}"/>
              </a:ext>
            </a:extLst>
          </p:cNvPr>
          <p:cNvSpPr>
            <a:spLocks xmlns:a="http://schemas.openxmlformats.org/drawingml/2006/main" noGrp="1"/>
          </p:cNvSpPr>
          <p:nvPr/>
        </p:nvSpPr>
        <p:spPr>
          <a:xfrm xmlns:a="http://schemas.openxmlformats.org/drawingml/2006/main">
            <a:off x="8715375" y="3409950"/>
            <a:ext cx="2714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F3F7FB"/>
                </a:solidFill>
                <a:latin typeface="Liberation Sans"/>
                <a:ea typeface="Liberation Sans"/>
                <a:cs typeface="Liberation Sans"/>
              </a:defRPr>
            </a:defPPr>
          </a:lstStyle>
          <a:p xmlns:a="http://schemas.openxmlformats.org/drawingml/2006/main">
            <a:pPr algn="l">
              <a:defRPr sz="1575" b="0">
                <a:solidFill>
                  <a:srgbClr val="F3F7FB"/>
                </a:solidFill>
                <a:latin typeface="Liberation Sans"/>
                <a:ea typeface="Liberation Sans"/>
                <a:cs typeface="Liberation Sans"/>
              </a:defRPr>
            </a:pPr>
            <a:r>
              <a:rPr sz="1575" b="0">
                <a:solidFill>
                  <a:srgbClr val="F3F7FB"/>
                </a:solidFill>
                <a:latin typeface="Liberation Sans"/>
                <a:ea typeface="Liberation Sans"/>
                <a:cs typeface="Liberation Sans"/>
              </a:rPr>
              <a:t>How long do deliveries take?</a:t>
            </a:r>
          </a:p>
        </p:txBody>
      </p:sp>
      <p:sp>
        <p:nvSpPr>
          <p:cNvPr id="27" name="shape-46">
            <a:extLst xmlns:a="http://schemas.openxmlformats.org/drawingml/2006/main">
              <a:ext uri="{FF2B5EF4-FFF2-40B4-BE49-F238E27FC236}">
                <a16:creationId xmlns:a16="http://schemas.microsoft.com/office/drawing/2014/main" id="{85B36C2B-E6AF-423A-AC02-57F1AE5F4B6C}"/>
              </a:ext>
            </a:extLst>
          </p:cNvPr>
          <p:cNvSpPr>
            <a:spLocks xmlns:a="http://schemas.openxmlformats.org/drawingml/2006/main" noGrp="1"/>
          </p:cNvSpPr>
          <p:nvPr/>
        </p:nvSpPr>
        <p:spPr>
          <a:xfrm xmlns:a="http://schemas.openxmlformats.org/drawingml/2006/main">
            <a:off x="5238750" y="4105275"/>
            <a:ext cx="3095625" cy="1047750"/>
          </a:xfrm>
          <a:prstGeom xmlns:a="http://schemas.openxmlformats.org/drawingml/2006/main" prst="roundRect">
            <a:avLst>
              <a:gd name="adj" fmla="val 10909"/>
            </a:avLst>
          </a:prstGeom>
          <a:solidFill xmlns:a="http://schemas.openxmlformats.org/drawingml/2006/main">
            <a:srgbClr val="122536"/>
          </a:solidFill>
          <a:ln xmlns:a="http://schemas.openxmlformats.org/drawingml/2006/main" w="9525">
            <a:solidFill>
              <a:srgbClr val="2A4052"/>
            </a:solidFill>
            <a:prstDash val="solid"/>
          </a:ln>
        </p:spPr>
      </p:sp>
      <p:sp>
        <p:nvSpPr>
          <p:cNvPr id="28" name="shape-47">
            <a:extLst xmlns:a="http://schemas.openxmlformats.org/drawingml/2006/main">
              <a:ext uri="{FF2B5EF4-FFF2-40B4-BE49-F238E27FC236}">
                <a16:creationId xmlns:a16="http://schemas.microsoft.com/office/drawing/2014/main" id="{4F3CAA1B-A655-4BB3-8C3C-D24B333ACDC3}"/>
              </a:ext>
            </a:extLst>
          </p:cNvPr>
          <p:cNvSpPr>
            <a:spLocks xmlns:a="http://schemas.openxmlformats.org/drawingml/2006/main" noGrp="1"/>
          </p:cNvSpPr>
          <p:nvPr/>
        </p:nvSpPr>
        <p:spPr>
          <a:xfrm xmlns:a="http://schemas.openxmlformats.org/drawingml/2006/main">
            <a:off x="5429250" y="4248150"/>
            <a:ext cx="2714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48DCE7"/>
                </a:solidFill>
                <a:latin typeface="Liberation Sans"/>
                <a:ea typeface="Liberation Sans"/>
                <a:cs typeface="Liberation Sans"/>
              </a:defRPr>
            </a:defPPr>
          </a:lstStyle>
          <a:p xmlns:a="http://schemas.openxmlformats.org/drawingml/2006/main">
            <a:pPr algn="l">
              <a:defRPr sz="1800" b="1">
                <a:solidFill>
                  <a:srgbClr val="48DCE7"/>
                </a:solidFill>
                <a:latin typeface="Liberation Sans"/>
                <a:ea typeface="Liberation Sans"/>
                <a:cs typeface="Liberation Sans"/>
              </a:defRPr>
            </a:pPr>
            <a:r>
              <a:rPr sz="1800" b="1">
                <a:solidFill>
                  <a:srgbClr val="48DCE7"/>
                </a:solidFill>
                <a:latin typeface="Liberation Sans"/>
                <a:ea typeface="Liberation Sans"/>
                <a:cs typeface="Liberation Sans"/>
              </a:rPr>
              <a:t>Hub performance</a:t>
            </a:r>
          </a:p>
        </p:txBody>
      </p:sp>
      <p:sp>
        <p:nvSpPr>
          <p:cNvPr id="29" name="shape-48">
            <a:extLst xmlns:a="http://schemas.openxmlformats.org/drawingml/2006/main">
              <a:ext uri="{FF2B5EF4-FFF2-40B4-BE49-F238E27FC236}">
                <a16:creationId xmlns:a16="http://schemas.microsoft.com/office/drawing/2014/main" id="{6181FD40-38FF-422F-B63B-F354DFF10DE4}"/>
              </a:ext>
            </a:extLst>
          </p:cNvPr>
          <p:cNvSpPr>
            <a:spLocks xmlns:a="http://schemas.openxmlformats.org/drawingml/2006/main" noGrp="1"/>
          </p:cNvSpPr>
          <p:nvPr/>
        </p:nvSpPr>
        <p:spPr>
          <a:xfrm xmlns:a="http://schemas.openxmlformats.org/drawingml/2006/main">
            <a:off x="5429250" y="4600575"/>
            <a:ext cx="2714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F3F7FB"/>
                </a:solidFill>
                <a:latin typeface="Liberation Sans"/>
                <a:ea typeface="Liberation Sans"/>
                <a:cs typeface="Liberation Sans"/>
              </a:defRPr>
            </a:defPPr>
          </a:lstStyle>
          <a:p xmlns:a="http://schemas.openxmlformats.org/drawingml/2006/main">
            <a:pPr algn="l">
              <a:defRPr sz="1575" b="0">
                <a:solidFill>
                  <a:srgbClr val="F3F7FB"/>
                </a:solidFill>
                <a:latin typeface="Liberation Sans"/>
                <a:ea typeface="Liberation Sans"/>
                <a:cs typeface="Liberation Sans"/>
              </a:defRPr>
            </a:pPr>
            <a:r>
              <a:rPr sz="1575" b="0">
                <a:solidFill>
                  <a:srgbClr val="F3F7FB"/>
                </a:solidFill>
                <a:latin typeface="Liberation Sans"/>
                <a:ea typeface="Liberation Sans"/>
                <a:cs typeface="Liberation Sans"/>
              </a:rPr>
              <a:t>Which hubs perform best?</a:t>
            </a:r>
          </a:p>
        </p:txBody>
      </p:sp>
      <p:sp>
        <p:nvSpPr>
          <p:cNvPr id="30" name="shape-49">
            <a:extLst xmlns:a="http://schemas.openxmlformats.org/drawingml/2006/main">
              <a:ext uri="{FF2B5EF4-FFF2-40B4-BE49-F238E27FC236}">
                <a16:creationId xmlns:a16="http://schemas.microsoft.com/office/drawing/2014/main" id="{29B3F121-2636-4306-BD1E-7D0AAB0F7019}"/>
              </a:ext>
            </a:extLst>
          </p:cNvPr>
          <p:cNvSpPr>
            <a:spLocks xmlns:a="http://schemas.openxmlformats.org/drawingml/2006/main" noGrp="1"/>
          </p:cNvSpPr>
          <p:nvPr/>
        </p:nvSpPr>
        <p:spPr>
          <a:xfrm xmlns:a="http://schemas.openxmlformats.org/drawingml/2006/main">
            <a:off x="8524875" y="4105275"/>
            <a:ext cx="3095625" cy="1047750"/>
          </a:xfrm>
          <a:prstGeom xmlns:a="http://schemas.openxmlformats.org/drawingml/2006/main" prst="roundRect">
            <a:avLst>
              <a:gd name="adj" fmla="val 10909"/>
            </a:avLst>
          </a:prstGeom>
          <a:solidFill xmlns:a="http://schemas.openxmlformats.org/drawingml/2006/main">
            <a:srgbClr val="122536"/>
          </a:solidFill>
          <a:ln xmlns:a="http://schemas.openxmlformats.org/drawingml/2006/main" w="9525">
            <a:solidFill>
              <a:srgbClr val="2A4052"/>
            </a:solidFill>
            <a:prstDash val="solid"/>
          </a:ln>
        </p:spPr>
      </p:sp>
      <p:sp>
        <p:nvSpPr>
          <p:cNvPr id="31" name="shape-50">
            <a:extLst xmlns:a="http://schemas.openxmlformats.org/drawingml/2006/main">
              <a:ext uri="{FF2B5EF4-FFF2-40B4-BE49-F238E27FC236}">
                <a16:creationId xmlns:a16="http://schemas.microsoft.com/office/drawing/2014/main" id="{E0ED8FED-82CD-47D0-9242-4B0BD434586A}"/>
              </a:ext>
            </a:extLst>
          </p:cNvPr>
          <p:cNvSpPr>
            <a:spLocks xmlns:a="http://schemas.openxmlformats.org/drawingml/2006/main" noGrp="1"/>
          </p:cNvSpPr>
          <p:nvPr/>
        </p:nvSpPr>
        <p:spPr>
          <a:xfrm xmlns:a="http://schemas.openxmlformats.org/drawingml/2006/main">
            <a:off x="8715375" y="4248150"/>
            <a:ext cx="2714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48DCE7"/>
                </a:solidFill>
                <a:latin typeface="Liberation Sans"/>
                <a:ea typeface="Liberation Sans"/>
                <a:cs typeface="Liberation Sans"/>
              </a:defRPr>
            </a:defPPr>
          </a:lstStyle>
          <a:p xmlns:a="http://schemas.openxmlformats.org/drawingml/2006/main">
            <a:pPr algn="l">
              <a:defRPr sz="1800" b="1">
                <a:solidFill>
                  <a:srgbClr val="48DCE7"/>
                </a:solidFill>
                <a:latin typeface="Liberation Sans"/>
                <a:ea typeface="Liberation Sans"/>
                <a:cs typeface="Liberation Sans"/>
              </a:defRPr>
            </a:pPr>
            <a:r>
              <a:rPr sz="1800" b="1">
                <a:solidFill>
                  <a:srgbClr val="48DCE7"/>
                </a:solidFill>
                <a:latin typeface="Liberation Sans"/>
                <a:ea typeface="Liberation Sans"/>
                <a:cs typeface="Liberation Sans"/>
              </a:rPr>
              <a:t>Courier performance</a:t>
            </a:r>
          </a:p>
        </p:txBody>
      </p:sp>
      <p:sp>
        <p:nvSpPr>
          <p:cNvPr id="32" name="shape-51">
            <a:extLst xmlns:a="http://schemas.openxmlformats.org/drawingml/2006/main">
              <a:ext uri="{FF2B5EF4-FFF2-40B4-BE49-F238E27FC236}">
                <a16:creationId xmlns:a16="http://schemas.microsoft.com/office/drawing/2014/main" id="{58FA797E-0B5D-484D-B8E0-404204766513}"/>
              </a:ext>
            </a:extLst>
          </p:cNvPr>
          <p:cNvSpPr>
            <a:spLocks xmlns:a="http://schemas.openxmlformats.org/drawingml/2006/main" noGrp="1"/>
          </p:cNvSpPr>
          <p:nvPr/>
        </p:nvSpPr>
        <p:spPr>
          <a:xfrm xmlns:a="http://schemas.openxmlformats.org/drawingml/2006/main">
            <a:off x="8715375" y="4600575"/>
            <a:ext cx="2714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F3F7FB"/>
                </a:solidFill>
                <a:latin typeface="Liberation Sans"/>
                <a:ea typeface="Liberation Sans"/>
                <a:cs typeface="Liberation Sans"/>
              </a:defRPr>
            </a:defPPr>
          </a:lstStyle>
          <a:p xmlns:a="http://schemas.openxmlformats.org/drawingml/2006/main">
            <a:pPr algn="l">
              <a:defRPr sz="1575" b="0">
                <a:solidFill>
                  <a:srgbClr val="F3F7FB"/>
                </a:solidFill>
                <a:latin typeface="Liberation Sans"/>
                <a:ea typeface="Liberation Sans"/>
                <a:cs typeface="Liberation Sans"/>
              </a:defRPr>
            </a:pPr>
            <a:r>
              <a:rPr sz="1575" b="0">
                <a:solidFill>
                  <a:srgbClr val="F3F7FB"/>
                </a:solidFill>
                <a:latin typeface="Liberation Sans"/>
                <a:ea typeface="Liberation Sans"/>
                <a:cs typeface="Liberation Sans"/>
              </a:rPr>
              <a:t>Which couriers perform best?</a:t>
            </a:r>
          </a:p>
        </p:txBody>
      </p:sp>
      <p:sp>
        <p:nvSpPr>
          <p:cNvPr id="33" name="shape-52">
            <a:extLst xmlns:a="http://schemas.openxmlformats.org/drawingml/2006/main">
              <a:ext uri="{FF2B5EF4-FFF2-40B4-BE49-F238E27FC236}">
                <a16:creationId xmlns:a16="http://schemas.microsoft.com/office/drawing/2014/main" id="{0014BA7E-794B-4EC9-B0BE-2653BBA3BB01}"/>
              </a:ext>
            </a:extLst>
          </p:cNvPr>
          <p:cNvSpPr>
            <a:spLocks xmlns:a="http://schemas.openxmlformats.org/drawingml/2006/main" noGrp="1"/>
          </p:cNvSpPr>
          <p:nvPr/>
        </p:nvSpPr>
        <p:spPr>
          <a:xfrm xmlns:a="http://schemas.openxmlformats.org/drawingml/2006/main">
            <a:off x="5238750" y="5410200"/>
            <a:ext cx="6381750" cy="657225"/>
          </a:xfrm>
          <a:prstGeom xmlns:a="http://schemas.openxmlformats.org/drawingml/2006/main" prst="roundRect">
            <a:avLst>
              <a:gd name="adj" fmla="val 17391"/>
            </a:avLst>
          </a:prstGeom>
          <a:solidFill xmlns:a="http://schemas.openxmlformats.org/drawingml/2006/main">
            <a:srgbClr val="122536"/>
          </a:solidFill>
          <a:ln xmlns:a="http://schemas.openxmlformats.org/drawingml/2006/main" w="9525">
            <a:solidFill>
              <a:srgbClr val="2A4052"/>
            </a:solidFill>
            <a:prstDash val="solid"/>
          </a:ln>
        </p:spPr>
      </p:sp>
      <p:sp>
        <p:nvSpPr>
          <p:cNvPr id="34" name="shape-53">
            <a:extLst xmlns:a="http://schemas.openxmlformats.org/drawingml/2006/main">
              <a:ext uri="{FF2B5EF4-FFF2-40B4-BE49-F238E27FC236}">
                <a16:creationId xmlns:a16="http://schemas.microsoft.com/office/drawing/2014/main" id="{6BEF2654-4264-424A-93C9-23928CDAF6B3}"/>
              </a:ext>
            </a:extLst>
          </p:cNvPr>
          <p:cNvSpPr>
            <a:spLocks xmlns:a="http://schemas.openxmlformats.org/drawingml/2006/main" noGrp="1"/>
          </p:cNvSpPr>
          <p:nvPr/>
        </p:nvSpPr>
        <p:spPr>
          <a:xfrm xmlns:a="http://schemas.openxmlformats.org/drawingml/2006/main">
            <a:off x="5429250" y="55245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48DCE7"/>
                </a:solidFill>
                <a:latin typeface="Liberation Sans"/>
                <a:ea typeface="Liberation Sans"/>
                <a:cs typeface="Liberation Sans"/>
              </a:defRPr>
            </a:defPPr>
          </a:lstStyle>
          <a:p xmlns:a="http://schemas.openxmlformats.org/drawingml/2006/main">
            <a:pPr algn="l">
              <a:defRPr sz="1725" b="1">
                <a:solidFill>
                  <a:srgbClr val="48DCE7"/>
                </a:solidFill>
                <a:latin typeface="Liberation Sans"/>
                <a:ea typeface="Liberation Sans"/>
                <a:cs typeface="Liberation Sans"/>
              </a:defRPr>
            </a:pPr>
            <a:r>
              <a:rPr sz="1725" b="1">
                <a:solidFill>
                  <a:srgbClr val="48DCE7"/>
                </a:solidFill>
                <a:latin typeface="Liberation Sans"/>
                <a:ea typeface="Liberation Sans"/>
                <a:cs typeface="Liberation Sans"/>
              </a:rPr>
              <a:t>Order outcomes</a:t>
            </a:r>
          </a:p>
        </p:txBody>
      </p:sp>
      <p:sp>
        <p:nvSpPr>
          <p:cNvPr id="35" name="shape-54">
            <a:extLst xmlns:a="http://schemas.openxmlformats.org/drawingml/2006/main">
              <a:ext uri="{FF2B5EF4-FFF2-40B4-BE49-F238E27FC236}">
                <a16:creationId xmlns:a16="http://schemas.microsoft.com/office/drawing/2014/main" id="{E7782884-C4CE-4599-AAB4-2142E9688EEF}"/>
              </a:ext>
            </a:extLst>
          </p:cNvPr>
          <p:cNvSpPr>
            <a:spLocks xmlns:a="http://schemas.openxmlformats.org/drawingml/2006/main" noGrp="1"/>
          </p:cNvSpPr>
          <p:nvPr/>
        </p:nvSpPr>
        <p:spPr>
          <a:xfrm xmlns:a="http://schemas.openxmlformats.org/drawingml/2006/main">
            <a:off x="5429250" y="5810250"/>
            <a:ext cx="600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F3F7FB"/>
                </a:solidFill>
                <a:latin typeface="Liberation Sans"/>
                <a:ea typeface="Liberation Sans"/>
                <a:cs typeface="Liberation Sans"/>
              </a:defRPr>
            </a:defPPr>
          </a:lstStyle>
          <a:p xmlns:a="http://schemas.openxmlformats.org/drawingml/2006/main">
            <a:pPr algn="l">
              <a:defRPr sz="1575" b="0">
                <a:solidFill>
                  <a:srgbClr val="F3F7FB"/>
                </a:solidFill>
                <a:latin typeface="Liberation Sans"/>
                <a:ea typeface="Liberation Sans"/>
                <a:cs typeface="Liberation Sans"/>
              </a:defRPr>
            </a:pPr>
            <a:r>
              <a:rPr sz="1575" b="0">
                <a:solidFill>
                  <a:srgbClr val="F3F7FB"/>
                </a:solidFill>
                <a:latin typeface="Liberation Sans"/>
                <a:ea typeface="Liberation Sans"/>
                <a:cs typeface="Liberation Sans"/>
              </a:rPr>
              <a:t>Returned, failed, cancelled or still moving?</a:t>
            </a:r>
          </a:p>
        </p:txBody>
      </p:sp>
    </p:spTree>
    <p:extLst>
      <p:ext uri="{BB962C8B-B14F-4D97-AF65-F5344CB8AC3E}">
        <p14:creationId xmlns:p14="http://schemas.microsoft.com/office/powerpoint/2010/main" val="1227775523"/>
      </p:ext>
    </p:extLst>
  </p:cSld>
</p:sld>
</file>

<file path=ppt/slides/slide3.xml><?xml version="1.0" encoding="utf-8"?>
<p:sld xmlns:p="http://schemas.openxmlformats.org/presentationml/2006/main">
  <p:cSld>
    <p:bg>
      <p:bgPr>
        <a:solidFill xmlns:a="http://schemas.openxmlformats.org/drawingml/2006/main">
          <a:srgbClr val="091522"/>
        </a:solidFill>
      </p:bgPr>
    </p:bg>
    <p:spTree>
      <p:nvGrpSpPr>
        <p:cNvPr id="1" name=""/>
        <p:cNvGrpSpPr/>
        <p:nvPr/>
      </p:nvGrpSpPr>
      <p:grpSpPr>
        <a:xfrm xmlns:a="http://schemas.openxmlformats.org/drawingml/2006/main"/>
      </p:grpSpPr>
      <p:sp>
        <p:nvSpPr>
          <p:cNvPr id="31" name="shape-55">
            <a:extLst xmlns:a="http://schemas.openxmlformats.org/drawingml/2006/main">
              <a:ext uri="{FF2B5EF4-FFF2-40B4-BE49-F238E27FC236}">
                <a16:creationId xmlns:a16="http://schemas.microsoft.com/office/drawing/2014/main" id="{067367DF-19BB-48B0-B2A7-FA3FB212DC16}"/>
              </a:ext>
            </a:extLst>
          </p:cNvPr>
          <p:cNvSpPr>
            <a:spLocks xmlns:a="http://schemas.openxmlformats.org/drawingml/2006/main" noGrp="1"/>
          </p:cNvSpPr>
          <p:nvPr/>
        </p:nvSpPr>
        <p:spPr>
          <a:xfrm xmlns:a="http://schemas.openxmlformats.org/drawingml/2006/main">
            <a:off x="571500" y="333375"/>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48DCE7"/>
                </a:solidFill>
                <a:latin typeface="Liberation Sans"/>
                <a:ea typeface="Liberation Sans"/>
                <a:cs typeface="Liberation Sans"/>
              </a:defRPr>
            </a:defPPr>
          </a:lstStyle>
          <a:p xmlns:a="http://schemas.openxmlformats.org/drawingml/2006/main">
            <a:pPr algn="l">
              <a:defRPr sz="1125" b="1">
                <a:solidFill>
                  <a:srgbClr val="48DCE7"/>
                </a:solidFill>
                <a:latin typeface="Liberation Sans"/>
                <a:ea typeface="Liberation Sans"/>
                <a:cs typeface="Liberation Sans"/>
              </a:defRPr>
            </a:pPr>
            <a:r>
              <a:rPr sz="1125" b="1">
                <a:solidFill>
                  <a:srgbClr val="48DCE7"/>
                </a:solidFill>
                <a:latin typeface="Liberation Sans"/>
                <a:ea typeface="Liberation Sans"/>
                <a:cs typeface="Liberation Sans"/>
              </a:rPr>
              <a:t>DATA</a:t>
            </a:r>
          </a:p>
        </p:txBody>
      </p:sp>
      <p:sp>
        <p:nvSpPr>
          <p:cNvPr id="2" name="shape-56">
            <a:extLst xmlns:a="http://schemas.openxmlformats.org/drawingml/2006/main">
              <a:ext uri="{FF2B5EF4-FFF2-40B4-BE49-F238E27FC236}">
                <a16:creationId xmlns:a16="http://schemas.microsoft.com/office/drawing/2014/main" id="{B9453B7B-F329-4CA4-A337-5FB04C7E880F}"/>
              </a:ext>
            </a:extLst>
          </p:cNvPr>
          <p:cNvSpPr>
            <a:spLocks xmlns:a="http://schemas.openxmlformats.org/drawingml/2006/main" noGrp="1"/>
          </p:cNvSpPr>
          <p:nvPr/>
        </p:nvSpPr>
        <p:spPr>
          <a:xfrm xmlns:a="http://schemas.openxmlformats.org/drawingml/2006/main">
            <a:off x="571500" y="704850"/>
            <a:ext cx="110490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3F7FB"/>
                </a:solidFill>
                <a:latin typeface="Liberation Sans"/>
                <a:ea typeface="Liberation Sans"/>
                <a:cs typeface="Liberation Sans"/>
              </a:defRPr>
            </a:defPPr>
          </a:lstStyle>
          <a:p xmlns:a="http://schemas.openxmlformats.org/drawingml/2006/main">
            <a:pPr algn="l">
              <a:defRPr sz="3225" b="1">
                <a:solidFill>
                  <a:srgbClr val="F3F7FB"/>
                </a:solidFill>
                <a:latin typeface="Liberation Sans"/>
                <a:ea typeface="Liberation Sans"/>
                <a:cs typeface="Liberation Sans"/>
              </a:defRPr>
            </a:pPr>
            <a:r>
              <a:rPr sz="3225" b="1">
                <a:solidFill>
                  <a:srgbClr val="F3F7FB"/>
                </a:solidFill>
                <a:latin typeface="Liberation Sans"/>
                <a:ea typeface="Liberation Sans"/>
                <a:cs typeface="Liberation Sans"/>
              </a:rPr>
              <a:t>Dataset &amp; Operational Scale</a:t>
            </a:r>
          </a:p>
        </p:txBody>
      </p:sp>
      <p:sp>
        <p:nvSpPr>
          <p:cNvPr id="3" name="line-57">
            <a:extLst xmlns:a="http://schemas.openxmlformats.org/drawingml/2006/main">
              <a:ext uri="{FF2B5EF4-FFF2-40B4-BE49-F238E27FC236}">
                <a16:creationId xmlns:a16="http://schemas.microsoft.com/office/drawing/2014/main" id="{1CB4C31A-D41E-4C3B-9F42-B1FD26D47E5C}"/>
              </a:ext>
            </a:extLst>
          </p:cNvPr>
          <p:cNvSpPr>
            <a:spLocks xmlns:a="http://schemas.openxmlformats.org/drawingml/2006/main" noGrp="1"/>
          </p:cNvSpPr>
          <p:nvPr/>
        </p:nvSpPr>
        <p:spPr>
          <a:xfrm xmlns:a="http://schemas.openxmlformats.org/drawingml/2006/main">
            <a:off x="571500" y="6353175"/>
            <a:ext cx="11049000"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4" name="shape-58">
            <a:extLst xmlns:a="http://schemas.openxmlformats.org/drawingml/2006/main">
              <a:ext uri="{FF2B5EF4-FFF2-40B4-BE49-F238E27FC236}">
                <a16:creationId xmlns:a16="http://schemas.microsoft.com/office/drawing/2014/main" id="{A6A42835-2936-4773-B08D-74F9C9FA572C}"/>
              </a:ext>
            </a:extLst>
          </p:cNvPr>
          <p:cNvSpPr>
            <a:spLocks xmlns:a="http://schemas.openxmlformats.org/drawingml/2006/main" noGrp="1"/>
          </p:cNvSpPr>
          <p:nvPr/>
        </p:nvSpPr>
        <p:spPr>
          <a:xfrm xmlns:a="http://schemas.openxmlformats.org/drawingml/2006/main">
            <a:off x="5715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A9BBCB"/>
                </a:solidFill>
                <a:latin typeface="Liberation Sans"/>
                <a:ea typeface="Liberation Sans"/>
                <a:cs typeface="Liberation Sans"/>
              </a:defRPr>
            </a:defPPr>
          </a:lstStyle>
          <a:p xmlns:a="http://schemas.openxmlformats.org/drawingml/2006/main">
            <a:pPr algn="l">
              <a:defRPr sz="900" b="0">
                <a:solidFill>
                  <a:srgbClr val="A9BBCB"/>
                </a:solidFill>
                <a:latin typeface="Liberation Sans"/>
                <a:ea typeface="Liberation Sans"/>
                <a:cs typeface="Liberation Sans"/>
              </a:defRPr>
            </a:pPr>
            <a:r>
              <a:rPr sz="900" b="0">
                <a:solidFill>
                  <a:srgbClr val="A9BBCB"/>
                </a:solidFill>
                <a:latin typeface="Liberation Sans"/>
                <a:ea typeface="Liberation Sans"/>
                <a:cs typeface="Liberation Sans"/>
              </a:rPr>
              <a:t>SYNTHETIC DATA · PORTFOLIO PROJECT</a:t>
            </a:r>
          </a:p>
        </p:txBody>
      </p:sp>
      <p:sp>
        <p:nvSpPr>
          <p:cNvPr id="5" name="shape-59">
            <a:extLst xmlns:a="http://schemas.openxmlformats.org/drawingml/2006/main">
              <a:ext uri="{FF2B5EF4-FFF2-40B4-BE49-F238E27FC236}">
                <a16:creationId xmlns:a16="http://schemas.microsoft.com/office/drawing/2014/main" id="{42EF35DC-6F43-4758-BF15-CE9227F2618E}"/>
              </a:ext>
            </a:extLst>
          </p:cNvPr>
          <p:cNvSpPr>
            <a:spLocks xmlns:a="http://schemas.openxmlformats.org/drawingml/2006/main" noGrp="1"/>
          </p:cNvSpPr>
          <p:nvPr/>
        </p:nvSpPr>
        <p:spPr>
          <a:xfrm xmlns:a="http://schemas.openxmlformats.org/drawingml/2006/main">
            <a:off x="11144250" y="646747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9BBCB"/>
                </a:solidFill>
                <a:latin typeface="Liberation Sans"/>
                <a:ea typeface="Liberation Sans"/>
                <a:cs typeface="Liberation Sans"/>
              </a:defRPr>
            </a:defPPr>
          </a:lstStyle>
          <a:p xmlns:a="http://schemas.openxmlformats.org/drawingml/2006/main">
            <a:pPr algn="r">
              <a:defRPr sz="1275" b="0">
                <a:solidFill>
                  <a:srgbClr val="A9BBCB"/>
                </a:solidFill>
                <a:latin typeface="Liberation Sans"/>
                <a:ea typeface="Liberation Sans"/>
                <a:cs typeface="Liberation Sans"/>
              </a:defRPr>
            </a:pPr>
            <a:r>
              <a:rPr sz="1275" b="0">
                <a:solidFill>
                  <a:srgbClr val="A9BBCB"/>
                </a:solidFill>
                <a:latin typeface="Liberation Sans"/>
                <a:ea typeface="Liberation Sans"/>
                <a:cs typeface="Liberation Sans"/>
              </a:rPr>
              <a:t>03</a:t>
            </a:r>
          </a:p>
        </p:txBody>
      </p:sp>
      <p:sp>
        <p:nvSpPr>
          <p:cNvPr id="6" name="shape-60">
            <a:extLst xmlns:a="http://schemas.openxmlformats.org/drawingml/2006/main">
              <a:ext uri="{FF2B5EF4-FFF2-40B4-BE49-F238E27FC236}">
                <a16:creationId xmlns:a16="http://schemas.microsoft.com/office/drawing/2014/main" id="{D1DB4BB4-9212-4300-835A-EE7615EBC6D4}"/>
              </a:ext>
            </a:extLst>
          </p:cNvPr>
          <p:cNvSpPr>
            <a:spLocks xmlns:a="http://schemas.openxmlformats.org/drawingml/2006/main" noGrp="1"/>
          </p:cNvSpPr>
          <p:nvPr/>
        </p:nvSpPr>
        <p:spPr>
          <a:xfrm xmlns:a="http://schemas.openxmlformats.org/drawingml/2006/main">
            <a:off x="571500" y="1800225"/>
            <a:ext cx="4095750" cy="3495675"/>
          </a:xfrm>
          <a:prstGeom xmlns:a="http://schemas.openxmlformats.org/drawingml/2006/main" prst="roundRect">
            <a:avLst>
              <a:gd name="adj" fmla="val 3270"/>
            </a:avLst>
          </a:prstGeom>
          <a:solidFill xmlns:a="http://schemas.openxmlformats.org/drawingml/2006/main">
            <a:srgbClr val="122536"/>
          </a:solidFill>
          <a:ln xmlns:a="http://schemas.openxmlformats.org/drawingml/2006/main" w="9525">
            <a:solidFill>
              <a:srgbClr val="2A4052"/>
            </a:solidFill>
            <a:prstDash val="solid"/>
          </a:ln>
        </p:spPr>
      </p:sp>
      <p:sp>
        <p:nvSpPr>
          <p:cNvPr id="7" name="shape-61">
            <a:extLst xmlns:a="http://schemas.openxmlformats.org/drawingml/2006/main">
              <a:ext uri="{FF2B5EF4-FFF2-40B4-BE49-F238E27FC236}">
                <a16:creationId xmlns:a16="http://schemas.microsoft.com/office/drawing/2014/main" id="{B237C59E-F950-46BF-B0FD-68CD61E9A460}"/>
              </a:ext>
            </a:extLst>
          </p:cNvPr>
          <p:cNvSpPr>
            <a:spLocks xmlns:a="http://schemas.openxmlformats.org/drawingml/2006/main" noGrp="1"/>
          </p:cNvSpPr>
          <p:nvPr/>
        </p:nvSpPr>
        <p:spPr>
          <a:xfrm xmlns:a="http://schemas.openxmlformats.org/drawingml/2006/main">
            <a:off x="800100" y="2438400"/>
            <a:ext cx="36195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850" b="1">
                <a:solidFill>
                  <a:srgbClr val="48DCE7"/>
                </a:solidFill>
                <a:latin typeface="Liberation Sans"/>
                <a:ea typeface="Liberation Sans"/>
                <a:cs typeface="Liberation Sans"/>
              </a:defRPr>
            </a:defPPr>
          </a:lstStyle>
          <a:p xmlns:a="http://schemas.openxmlformats.org/drawingml/2006/main">
            <a:pPr algn="l">
              <a:defRPr sz="5850" b="1">
                <a:solidFill>
                  <a:srgbClr val="48DCE7"/>
                </a:solidFill>
                <a:latin typeface="Liberation Sans"/>
                <a:ea typeface="Liberation Sans"/>
                <a:cs typeface="Liberation Sans"/>
              </a:defRPr>
            </a:pPr>
            <a:r>
              <a:rPr sz="5850" b="1">
                <a:solidFill>
                  <a:srgbClr val="48DCE7"/>
                </a:solidFill>
                <a:latin typeface="Liberation Sans"/>
                <a:ea typeface="Liberation Sans"/>
                <a:cs typeface="Liberation Sans"/>
              </a:rPr>
              <a:t>4.24M+</a:t>
            </a:r>
          </a:p>
        </p:txBody>
      </p:sp>
      <p:sp>
        <p:nvSpPr>
          <p:cNvPr id="8" name="shape-62">
            <a:extLst xmlns:a="http://schemas.openxmlformats.org/drawingml/2006/main">
              <a:ext uri="{FF2B5EF4-FFF2-40B4-BE49-F238E27FC236}">
                <a16:creationId xmlns:a16="http://schemas.microsoft.com/office/drawing/2014/main" id="{5D78B93A-D81F-4E11-9CC3-1733155E6CC6}"/>
              </a:ext>
            </a:extLst>
          </p:cNvPr>
          <p:cNvSpPr>
            <a:spLocks xmlns:a="http://schemas.openxmlformats.org/drawingml/2006/main" noGrp="1"/>
          </p:cNvSpPr>
          <p:nvPr/>
        </p:nvSpPr>
        <p:spPr>
          <a:xfrm xmlns:a="http://schemas.openxmlformats.org/drawingml/2006/main">
            <a:off x="800100" y="3467100"/>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F3F7FB"/>
                </a:solidFill>
                <a:latin typeface="Liberation Sans"/>
                <a:ea typeface="Liberation Sans"/>
                <a:cs typeface="Liberation Sans"/>
              </a:defRPr>
            </a:defPPr>
          </a:lstStyle>
          <a:p xmlns:a="http://schemas.openxmlformats.org/drawingml/2006/main">
            <a:pPr algn="l">
              <a:defRPr sz="2400" b="1">
                <a:solidFill>
                  <a:srgbClr val="F3F7FB"/>
                </a:solidFill>
                <a:latin typeface="Liberation Sans"/>
                <a:ea typeface="Liberation Sans"/>
                <a:cs typeface="Liberation Sans"/>
              </a:defRPr>
            </a:pPr>
            <a:r>
              <a:rPr sz="2400" b="1">
                <a:solidFill>
                  <a:srgbClr val="F3F7FB"/>
                </a:solidFill>
                <a:latin typeface="Liberation Sans"/>
                <a:ea typeface="Liberation Sans"/>
                <a:cs typeface="Liberation Sans"/>
              </a:rPr>
              <a:t>Tracking Events</a:t>
            </a:r>
          </a:p>
        </p:txBody>
      </p:sp>
      <p:sp>
        <p:nvSpPr>
          <p:cNvPr id="9" name="shape-63">
            <a:extLst xmlns:a="http://schemas.openxmlformats.org/drawingml/2006/main">
              <a:ext uri="{FF2B5EF4-FFF2-40B4-BE49-F238E27FC236}">
                <a16:creationId xmlns:a16="http://schemas.microsoft.com/office/drawing/2014/main" id="{02E2AD9F-F76C-47E2-945F-6B7E6712F673}"/>
              </a:ext>
            </a:extLst>
          </p:cNvPr>
          <p:cNvSpPr>
            <a:spLocks xmlns:a="http://schemas.openxmlformats.org/drawingml/2006/main" noGrp="1"/>
          </p:cNvSpPr>
          <p:nvPr/>
        </p:nvSpPr>
        <p:spPr>
          <a:xfrm xmlns:a="http://schemas.openxmlformats.org/drawingml/2006/main">
            <a:off x="800100" y="4076700"/>
            <a:ext cx="3429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A9BBCB"/>
                </a:solidFill>
                <a:latin typeface="Liberation Sans"/>
                <a:ea typeface="Liberation Sans"/>
                <a:cs typeface="Liberation Sans"/>
              </a:defRPr>
            </a:defPPr>
          </a:lstStyle>
          <a:p xmlns:a="http://schemas.openxmlformats.org/drawingml/2006/main">
            <a:pPr algn="l">
              <a:defRPr sz="1800" b="0">
                <a:solidFill>
                  <a:srgbClr val="A9BBCB"/>
                </a:solidFill>
                <a:latin typeface="Liberation Sans"/>
                <a:ea typeface="Liberation Sans"/>
                <a:cs typeface="Liberation Sans"/>
              </a:defRPr>
            </a:pPr>
            <a:r>
              <a:rPr sz="1800" b="0">
                <a:solidFill>
                  <a:srgbClr val="A9BBCB"/>
                </a:solidFill>
                <a:latin typeface="Liberation Sans"/>
                <a:ea typeface="Liberation Sans"/>
                <a:cs typeface="Liberation Sans"/>
              </a:rPr>
              <a:t>4,244,332 verified rows</a:t>
            </a:r>
          </a:p>
        </p:txBody>
      </p:sp>
      <p:sp>
        <p:nvSpPr>
          <p:cNvPr id="10" name="shape-64">
            <a:extLst xmlns:a="http://schemas.openxmlformats.org/drawingml/2006/main">
              <a:ext uri="{FF2B5EF4-FFF2-40B4-BE49-F238E27FC236}">
                <a16:creationId xmlns:a16="http://schemas.microsoft.com/office/drawing/2014/main" id="{B7B9AD7D-11E4-4C25-AA8F-4B0F250977F8}"/>
              </a:ext>
            </a:extLst>
          </p:cNvPr>
          <p:cNvSpPr>
            <a:spLocks xmlns:a="http://schemas.openxmlformats.org/drawingml/2006/main" noGrp="1"/>
          </p:cNvSpPr>
          <p:nvPr/>
        </p:nvSpPr>
        <p:spPr>
          <a:xfrm xmlns:a="http://schemas.openxmlformats.org/drawingml/2006/main">
            <a:off x="800100" y="477202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9BBCB"/>
                </a:solidFill>
                <a:latin typeface="Liberation Sans"/>
                <a:ea typeface="Liberation Sans"/>
                <a:cs typeface="Liberation Sans"/>
              </a:defRPr>
            </a:defPPr>
          </a:lstStyle>
          <a:p xmlns:a="http://schemas.openxmlformats.org/drawingml/2006/main">
            <a:pPr algn="l">
              <a:defRPr sz="1575" b="0">
                <a:solidFill>
                  <a:srgbClr val="A9BBCB"/>
                </a:solidFill>
                <a:latin typeface="Liberation Sans"/>
                <a:ea typeface="Liberation Sans"/>
                <a:cs typeface="Liberation Sans"/>
              </a:defRPr>
            </a:pPr>
            <a:r>
              <a:rPr sz="1575" b="0">
                <a:solidFill>
                  <a:srgbClr val="A9BBCB"/>
                </a:solidFill>
                <a:latin typeface="Liberation Sans"/>
                <a:ea typeface="Liberation Sans"/>
                <a:cs typeface="Liberation Sans"/>
              </a:rPr>
              <a:t>Largest source table</a:t>
            </a:r>
          </a:p>
        </p:txBody>
      </p:sp>
      <p:sp>
        <p:nvSpPr>
          <p:cNvPr id="11" name="shape-65">
            <a:extLst xmlns:a="http://schemas.openxmlformats.org/drawingml/2006/main">
              <a:ext uri="{FF2B5EF4-FFF2-40B4-BE49-F238E27FC236}">
                <a16:creationId xmlns:a16="http://schemas.microsoft.com/office/drawing/2014/main" id="{239D964E-68DE-4E94-A20D-F094749BCDD3}"/>
              </a:ext>
            </a:extLst>
          </p:cNvPr>
          <p:cNvSpPr>
            <a:spLocks xmlns:a="http://schemas.openxmlformats.org/drawingml/2006/main" noGrp="1"/>
          </p:cNvSpPr>
          <p:nvPr/>
        </p:nvSpPr>
        <p:spPr>
          <a:xfrm xmlns:a="http://schemas.openxmlformats.org/drawingml/2006/main">
            <a:off x="4914900" y="1800225"/>
            <a:ext cx="2114550" cy="1657350"/>
          </a:xfrm>
          <a:prstGeom xmlns:a="http://schemas.openxmlformats.org/drawingml/2006/main" prst="roundRect">
            <a:avLst>
              <a:gd name="adj" fmla="val 6897"/>
            </a:avLst>
          </a:prstGeom>
          <a:solidFill xmlns:a="http://schemas.openxmlformats.org/drawingml/2006/main">
            <a:srgbClr val="122536"/>
          </a:solidFill>
          <a:ln xmlns:a="http://schemas.openxmlformats.org/drawingml/2006/main" w="9525">
            <a:solidFill>
              <a:srgbClr val="2A4052"/>
            </a:solidFill>
            <a:prstDash val="solid"/>
          </a:ln>
        </p:spPr>
      </p:sp>
      <p:sp>
        <p:nvSpPr>
          <p:cNvPr id="12" name="shape-66">
            <a:extLst xmlns:a="http://schemas.openxmlformats.org/drawingml/2006/main">
              <a:ext uri="{FF2B5EF4-FFF2-40B4-BE49-F238E27FC236}">
                <a16:creationId xmlns:a16="http://schemas.microsoft.com/office/drawing/2014/main" id="{51E6EABA-2E1C-4872-AC15-95681B70B8B9}"/>
              </a:ext>
            </a:extLst>
          </p:cNvPr>
          <p:cNvSpPr>
            <a:spLocks xmlns:a="http://schemas.openxmlformats.org/drawingml/2006/main" noGrp="1"/>
          </p:cNvSpPr>
          <p:nvPr/>
        </p:nvSpPr>
        <p:spPr>
          <a:xfrm xmlns:a="http://schemas.openxmlformats.org/drawingml/2006/main">
            <a:off x="5133975" y="2143125"/>
            <a:ext cx="1676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48DCE7"/>
                </a:solidFill>
                <a:latin typeface="Liberation Sans"/>
                <a:ea typeface="Liberation Sans"/>
                <a:cs typeface="Liberation Sans"/>
              </a:defRPr>
            </a:defPPr>
          </a:lstStyle>
          <a:p xmlns:a="http://schemas.openxmlformats.org/drawingml/2006/main">
            <a:pPr algn="l">
              <a:defRPr sz="3600" b="1">
                <a:solidFill>
                  <a:srgbClr val="48DCE7"/>
                </a:solidFill>
                <a:latin typeface="Liberation Sans"/>
                <a:ea typeface="Liberation Sans"/>
                <a:cs typeface="Liberation Sans"/>
              </a:defRPr>
            </a:pPr>
            <a:r>
              <a:rPr sz="3600" b="1">
                <a:solidFill>
                  <a:srgbClr val="48DCE7"/>
                </a:solidFill>
                <a:latin typeface="Liberation Sans"/>
                <a:ea typeface="Liberation Sans"/>
                <a:cs typeface="Liberation Sans"/>
              </a:rPr>
              <a:t>60,000</a:t>
            </a:r>
          </a:p>
        </p:txBody>
      </p:sp>
      <p:sp>
        <p:nvSpPr>
          <p:cNvPr id="13" name="shape-67">
            <a:extLst xmlns:a="http://schemas.openxmlformats.org/drawingml/2006/main">
              <a:ext uri="{FF2B5EF4-FFF2-40B4-BE49-F238E27FC236}">
                <a16:creationId xmlns:a16="http://schemas.microsoft.com/office/drawing/2014/main" id="{B636C61A-D48D-455A-A903-47AEEECD5744}"/>
              </a:ext>
            </a:extLst>
          </p:cNvPr>
          <p:cNvSpPr>
            <a:spLocks xmlns:a="http://schemas.openxmlformats.org/drawingml/2006/main" noGrp="1"/>
          </p:cNvSpPr>
          <p:nvPr/>
        </p:nvSpPr>
        <p:spPr>
          <a:xfrm xmlns:a="http://schemas.openxmlformats.org/drawingml/2006/main">
            <a:off x="5133975" y="2838450"/>
            <a:ext cx="16764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F3F7FB"/>
                </a:solidFill>
                <a:latin typeface="Liberation Sans"/>
                <a:ea typeface="Liberation Sans"/>
                <a:cs typeface="Liberation Sans"/>
              </a:defRPr>
            </a:defPPr>
          </a:lstStyle>
          <a:p xmlns:a="http://schemas.openxmlformats.org/drawingml/2006/main">
            <a:pPr algn="l">
              <a:defRPr sz="1650" b="0">
                <a:solidFill>
                  <a:srgbClr val="F3F7FB"/>
                </a:solidFill>
                <a:latin typeface="Liberation Sans"/>
                <a:ea typeface="Liberation Sans"/>
                <a:cs typeface="Liberation Sans"/>
              </a:defRPr>
            </a:pPr>
            <a:r>
              <a:rPr sz="1650" b="0">
                <a:solidFill>
                  <a:srgbClr val="F3F7FB"/>
                </a:solidFill>
                <a:latin typeface="Liberation Sans"/>
                <a:ea typeface="Liberation Sans"/>
                <a:cs typeface="Liberation Sans"/>
              </a:rPr>
              <a:t>Orders</a:t>
            </a:r>
          </a:p>
        </p:txBody>
      </p:sp>
      <p:sp>
        <p:nvSpPr>
          <p:cNvPr id="14" name="shape-68">
            <a:extLst xmlns:a="http://schemas.openxmlformats.org/drawingml/2006/main">
              <a:ext uri="{FF2B5EF4-FFF2-40B4-BE49-F238E27FC236}">
                <a16:creationId xmlns:a16="http://schemas.microsoft.com/office/drawing/2014/main" id="{59766226-6B82-42DA-83A4-20C52C512213}"/>
              </a:ext>
            </a:extLst>
          </p:cNvPr>
          <p:cNvSpPr>
            <a:spLocks xmlns:a="http://schemas.openxmlformats.org/drawingml/2006/main" noGrp="1"/>
          </p:cNvSpPr>
          <p:nvPr/>
        </p:nvSpPr>
        <p:spPr>
          <a:xfrm xmlns:a="http://schemas.openxmlformats.org/drawingml/2006/main">
            <a:off x="7210425" y="1800225"/>
            <a:ext cx="2114550" cy="1657350"/>
          </a:xfrm>
          <a:prstGeom xmlns:a="http://schemas.openxmlformats.org/drawingml/2006/main" prst="roundRect">
            <a:avLst>
              <a:gd name="adj" fmla="val 6897"/>
            </a:avLst>
          </a:prstGeom>
          <a:solidFill xmlns:a="http://schemas.openxmlformats.org/drawingml/2006/main">
            <a:srgbClr val="122536"/>
          </a:solidFill>
          <a:ln xmlns:a="http://schemas.openxmlformats.org/drawingml/2006/main" w="9525">
            <a:solidFill>
              <a:srgbClr val="2A4052"/>
            </a:solidFill>
            <a:prstDash val="solid"/>
          </a:ln>
        </p:spPr>
      </p:sp>
      <p:sp>
        <p:nvSpPr>
          <p:cNvPr id="15" name="shape-69">
            <a:extLst xmlns:a="http://schemas.openxmlformats.org/drawingml/2006/main">
              <a:ext uri="{FF2B5EF4-FFF2-40B4-BE49-F238E27FC236}">
                <a16:creationId xmlns:a16="http://schemas.microsoft.com/office/drawing/2014/main" id="{C0184EB1-3ADA-413D-AC5F-1ECB348DD557}"/>
              </a:ext>
            </a:extLst>
          </p:cNvPr>
          <p:cNvSpPr>
            <a:spLocks xmlns:a="http://schemas.openxmlformats.org/drawingml/2006/main" noGrp="1"/>
          </p:cNvSpPr>
          <p:nvPr/>
        </p:nvSpPr>
        <p:spPr>
          <a:xfrm xmlns:a="http://schemas.openxmlformats.org/drawingml/2006/main">
            <a:off x="7429500" y="2143125"/>
            <a:ext cx="1676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48DCE7"/>
                </a:solidFill>
                <a:latin typeface="Liberation Sans"/>
                <a:ea typeface="Liberation Sans"/>
                <a:cs typeface="Liberation Sans"/>
              </a:defRPr>
            </a:defPPr>
          </a:lstStyle>
          <a:p xmlns:a="http://schemas.openxmlformats.org/drawingml/2006/main">
            <a:pPr algn="l">
              <a:defRPr sz="3600" b="1">
                <a:solidFill>
                  <a:srgbClr val="48DCE7"/>
                </a:solidFill>
                <a:latin typeface="Liberation Sans"/>
                <a:ea typeface="Liberation Sans"/>
                <a:cs typeface="Liberation Sans"/>
              </a:defRPr>
            </a:pPr>
            <a:r>
              <a:rPr sz="3600" b="1">
                <a:solidFill>
                  <a:srgbClr val="48DCE7"/>
                </a:solidFill>
                <a:latin typeface="Liberation Sans"/>
                <a:ea typeface="Liberation Sans"/>
                <a:cs typeface="Liberation Sans"/>
              </a:rPr>
              <a:t>60,000</a:t>
            </a:r>
          </a:p>
        </p:txBody>
      </p:sp>
      <p:sp>
        <p:nvSpPr>
          <p:cNvPr id="16" name="shape-70">
            <a:extLst xmlns:a="http://schemas.openxmlformats.org/drawingml/2006/main">
              <a:ext uri="{FF2B5EF4-FFF2-40B4-BE49-F238E27FC236}">
                <a16:creationId xmlns:a16="http://schemas.microsoft.com/office/drawing/2014/main" id="{80AF1C09-3792-4E18-A5E5-CDEE98397DE1}"/>
              </a:ext>
            </a:extLst>
          </p:cNvPr>
          <p:cNvSpPr>
            <a:spLocks xmlns:a="http://schemas.openxmlformats.org/drawingml/2006/main" noGrp="1"/>
          </p:cNvSpPr>
          <p:nvPr/>
        </p:nvSpPr>
        <p:spPr>
          <a:xfrm xmlns:a="http://schemas.openxmlformats.org/drawingml/2006/main">
            <a:off x="7429500" y="2838450"/>
            <a:ext cx="16764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F3F7FB"/>
                </a:solidFill>
                <a:latin typeface="Liberation Sans"/>
                <a:ea typeface="Liberation Sans"/>
                <a:cs typeface="Liberation Sans"/>
              </a:defRPr>
            </a:defPPr>
          </a:lstStyle>
          <a:p xmlns:a="http://schemas.openxmlformats.org/drawingml/2006/main">
            <a:pPr algn="l">
              <a:defRPr sz="1650" b="0">
                <a:solidFill>
                  <a:srgbClr val="F3F7FB"/>
                </a:solidFill>
                <a:latin typeface="Liberation Sans"/>
                <a:ea typeface="Liberation Sans"/>
                <a:cs typeface="Liberation Sans"/>
              </a:defRPr>
            </a:pPr>
            <a:r>
              <a:rPr sz="1650" b="0">
                <a:solidFill>
                  <a:srgbClr val="F3F7FB"/>
                </a:solidFill>
                <a:latin typeface="Liberation Sans"/>
                <a:ea typeface="Liberation Sans"/>
                <a:cs typeface="Liberation Sans"/>
              </a:rPr>
              <a:t>Payment Records</a:t>
            </a:r>
          </a:p>
        </p:txBody>
      </p:sp>
      <p:sp>
        <p:nvSpPr>
          <p:cNvPr id="17" name="shape-71">
            <a:extLst xmlns:a="http://schemas.openxmlformats.org/drawingml/2006/main">
              <a:ext uri="{FF2B5EF4-FFF2-40B4-BE49-F238E27FC236}">
                <a16:creationId xmlns:a16="http://schemas.microsoft.com/office/drawing/2014/main" id="{28886389-F75F-465F-B180-D7472E97CEF0}"/>
              </a:ext>
            </a:extLst>
          </p:cNvPr>
          <p:cNvSpPr>
            <a:spLocks xmlns:a="http://schemas.openxmlformats.org/drawingml/2006/main" noGrp="1"/>
          </p:cNvSpPr>
          <p:nvPr/>
        </p:nvSpPr>
        <p:spPr>
          <a:xfrm xmlns:a="http://schemas.openxmlformats.org/drawingml/2006/main">
            <a:off x="9505950" y="1800225"/>
            <a:ext cx="2114550" cy="1657350"/>
          </a:xfrm>
          <a:prstGeom xmlns:a="http://schemas.openxmlformats.org/drawingml/2006/main" prst="roundRect">
            <a:avLst>
              <a:gd name="adj" fmla="val 6897"/>
            </a:avLst>
          </a:prstGeom>
          <a:solidFill xmlns:a="http://schemas.openxmlformats.org/drawingml/2006/main">
            <a:srgbClr val="122536"/>
          </a:solidFill>
          <a:ln xmlns:a="http://schemas.openxmlformats.org/drawingml/2006/main" w="9525">
            <a:solidFill>
              <a:srgbClr val="2A4052"/>
            </a:solidFill>
            <a:prstDash val="solid"/>
          </a:ln>
        </p:spPr>
      </p:sp>
      <p:sp>
        <p:nvSpPr>
          <p:cNvPr id="18" name="shape-72">
            <a:extLst xmlns:a="http://schemas.openxmlformats.org/drawingml/2006/main">
              <a:ext uri="{FF2B5EF4-FFF2-40B4-BE49-F238E27FC236}">
                <a16:creationId xmlns:a16="http://schemas.microsoft.com/office/drawing/2014/main" id="{D6E3517E-A943-4CEC-9466-1AD8D6328A80}"/>
              </a:ext>
            </a:extLst>
          </p:cNvPr>
          <p:cNvSpPr>
            <a:spLocks xmlns:a="http://schemas.openxmlformats.org/drawingml/2006/main" noGrp="1"/>
          </p:cNvSpPr>
          <p:nvPr/>
        </p:nvSpPr>
        <p:spPr>
          <a:xfrm xmlns:a="http://schemas.openxmlformats.org/drawingml/2006/main">
            <a:off x="9725025" y="2143125"/>
            <a:ext cx="1676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72ACFF"/>
                </a:solidFill>
                <a:latin typeface="Liberation Sans"/>
                <a:ea typeface="Liberation Sans"/>
                <a:cs typeface="Liberation Sans"/>
              </a:defRPr>
            </a:defPPr>
          </a:lstStyle>
          <a:p xmlns:a="http://schemas.openxmlformats.org/drawingml/2006/main">
            <a:pPr algn="l">
              <a:defRPr sz="3600" b="1">
                <a:solidFill>
                  <a:srgbClr val="72ACFF"/>
                </a:solidFill>
                <a:latin typeface="Liberation Sans"/>
                <a:ea typeface="Liberation Sans"/>
                <a:cs typeface="Liberation Sans"/>
              </a:defRPr>
            </a:pPr>
            <a:r>
              <a:rPr sz="3600" b="1">
                <a:solidFill>
                  <a:srgbClr val="72ACFF"/>
                </a:solidFill>
                <a:latin typeface="Liberation Sans"/>
                <a:ea typeface="Liberation Sans"/>
                <a:cs typeface="Liberation Sans"/>
              </a:rPr>
              <a:t>2,930</a:t>
            </a:r>
          </a:p>
        </p:txBody>
      </p:sp>
      <p:sp>
        <p:nvSpPr>
          <p:cNvPr id="19" name="shape-73">
            <a:extLst xmlns:a="http://schemas.openxmlformats.org/drawingml/2006/main">
              <a:ext uri="{FF2B5EF4-FFF2-40B4-BE49-F238E27FC236}">
                <a16:creationId xmlns:a16="http://schemas.microsoft.com/office/drawing/2014/main" id="{94D6B1A9-77F1-4FBF-A568-7612EF53C9B9}"/>
              </a:ext>
            </a:extLst>
          </p:cNvPr>
          <p:cNvSpPr>
            <a:spLocks xmlns:a="http://schemas.openxmlformats.org/drawingml/2006/main" noGrp="1"/>
          </p:cNvSpPr>
          <p:nvPr/>
        </p:nvSpPr>
        <p:spPr>
          <a:xfrm xmlns:a="http://schemas.openxmlformats.org/drawingml/2006/main">
            <a:off x="9725025" y="2838450"/>
            <a:ext cx="16764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F3F7FB"/>
                </a:solidFill>
                <a:latin typeface="Liberation Sans"/>
                <a:ea typeface="Liberation Sans"/>
                <a:cs typeface="Liberation Sans"/>
              </a:defRPr>
            </a:defPPr>
          </a:lstStyle>
          <a:p xmlns:a="http://schemas.openxmlformats.org/drawingml/2006/main">
            <a:pPr algn="l">
              <a:defRPr sz="1650" b="0">
                <a:solidFill>
                  <a:srgbClr val="F3F7FB"/>
                </a:solidFill>
                <a:latin typeface="Liberation Sans"/>
                <a:ea typeface="Liberation Sans"/>
                <a:cs typeface="Liberation Sans"/>
              </a:defRPr>
            </a:pPr>
            <a:r>
              <a:rPr sz="1650" b="0">
                <a:solidFill>
                  <a:srgbClr val="F3F7FB"/>
                </a:solidFill>
                <a:latin typeface="Liberation Sans"/>
                <a:ea typeface="Liberation Sans"/>
                <a:cs typeface="Liberation Sans"/>
              </a:rPr>
              <a:t>Returns</a:t>
            </a:r>
          </a:p>
        </p:txBody>
      </p:sp>
      <p:sp>
        <p:nvSpPr>
          <p:cNvPr id="20" name="shape-74">
            <a:extLst xmlns:a="http://schemas.openxmlformats.org/drawingml/2006/main">
              <a:ext uri="{FF2B5EF4-FFF2-40B4-BE49-F238E27FC236}">
                <a16:creationId xmlns:a16="http://schemas.microsoft.com/office/drawing/2014/main" id="{66A0046D-8B2A-4158-B701-9A6803A69CA3}"/>
              </a:ext>
            </a:extLst>
          </p:cNvPr>
          <p:cNvSpPr>
            <a:spLocks xmlns:a="http://schemas.openxmlformats.org/drawingml/2006/main" noGrp="1"/>
          </p:cNvSpPr>
          <p:nvPr/>
        </p:nvSpPr>
        <p:spPr>
          <a:xfrm xmlns:a="http://schemas.openxmlformats.org/drawingml/2006/main">
            <a:off x="4914900" y="3638550"/>
            <a:ext cx="2114550" cy="1657350"/>
          </a:xfrm>
          <a:prstGeom xmlns:a="http://schemas.openxmlformats.org/drawingml/2006/main" prst="roundRect">
            <a:avLst>
              <a:gd name="adj" fmla="val 6897"/>
            </a:avLst>
          </a:prstGeom>
          <a:solidFill xmlns:a="http://schemas.openxmlformats.org/drawingml/2006/main">
            <a:srgbClr val="122536"/>
          </a:solidFill>
          <a:ln xmlns:a="http://schemas.openxmlformats.org/drawingml/2006/main" w="9525">
            <a:solidFill>
              <a:srgbClr val="2A4052"/>
            </a:solidFill>
            <a:prstDash val="solid"/>
          </a:ln>
        </p:spPr>
      </p:sp>
      <p:sp>
        <p:nvSpPr>
          <p:cNvPr id="21" name="shape-75">
            <a:extLst xmlns:a="http://schemas.openxmlformats.org/drawingml/2006/main">
              <a:ext uri="{FF2B5EF4-FFF2-40B4-BE49-F238E27FC236}">
                <a16:creationId xmlns:a16="http://schemas.microsoft.com/office/drawing/2014/main" id="{30CA5AE4-4BA2-44AD-9C1F-18443FD47CFC}"/>
              </a:ext>
            </a:extLst>
          </p:cNvPr>
          <p:cNvSpPr>
            <a:spLocks xmlns:a="http://schemas.openxmlformats.org/drawingml/2006/main" noGrp="1"/>
          </p:cNvSpPr>
          <p:nvPr/>
        </p:nvSpPr>
        <p:spPr>
          <a:xfrm xmlns:a="http://schemas.openxmlformats.org/drawingml/2006/main">
            <a:off x="5133975" y="3981450"/>
            <a:ext cx="1676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72ACFF"/>
                </a:solidFill>
                <a:latin typeface="Liberation Sans"/>
                <a:ea typeface="Liberation Sans"/>
                <a:cs typeface="Liberation Sans"/>
              </a:defRPr>
            </a:defPPr>
          </a:lstStyle>
          <a:p xmlns:a="http://schemas.openxmlformats.org/drawingml/2006/main">
            <a:pPr algn="l">
              <a:defRPr sz="3600" b="1">
                <a:solidFill>
                  <a:srgbClr val="72ACFF"/>
                </a:solidFill>
                <a:latin typeface="Liberation Sans"/>
                <a:ea typeface="Liberation Sans"/>
                <a:cs typeface="Liberation Sans"/>
              </a:defRPr>
            </a:pPr>
            <a:r>
              <a:rPr sz="3600" b="1">
                <a:solidFill>
                  <a:srgbClr val="72ACFF"/>
                </a:solidFill>
                <a:latin typeface="Liberation Sans"/>
                <a:ea typeface="Liberation Sans"/>
                <a:cs typeface="Liberation Sans"/>
              </a:rPr>
              <a:t>600</a:t>
            </a:r>
          </a:p>
        </p:txBody>
      </p:sp>
      <p:sp>
        <p:nvSpPr>
          <p:cNvPr id="22" name="shape-76">
            <a:extLst xmlns:a="http://schemas.openxmlformats.org/drawingml/2006/main">
              <a:ext uri="{FF2B5EF4-FFF2-40B4-BE49-F238E27FC236}">
                <a16:creationId xmlns:a16="http://schemas.microsoft.com/office/drawing/2014/main" id="{0FE0A503-D2FA-4C84-883A-2281D6609EEF}"/>
              </a:ext>
            </a:extLst>
          </p:cNvPr>
          <p:cNvSpPr>
            <a:spLocks xmlns:a="http://schemas.openxmlformats.org/drawingml/2006/main" noGrp="1"/>
          </p:cNvSpPr>
          <p:nvPr/>
        </p:nvSpPr>
        <p:spPr>
          <a:xfrm xmlns:a="http://schemas.openxmlformats.org/drawingml/2006/main">
            <a:off x="5133975" y="4676775"/>
            <a:ext cx="16764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F3F7FB"/>
                </a:solidFill>
                <a:latin typeface="Liberation Sans"/>
                <a:ea typeface="Liberation Sans"/>
                <a:cs typeface="Liberation Sans"/>
              </a:defRPr>
            </a:defPPr>
          </a:lstStyle>
          <a:p xmlns:a="http://schemas.openxmlformats.org/drawingml/2006/main">
            <a:pPr algn="l">
              <a:defRPr sz="1650" b="0">
                <a:solidFill>
                  <a:srgbClr val="F3F7FB"/>
                </a:solidFill>
                <a:latin typeface="Liberation Sans"/>
                <a:ea typeface="Liberation Sans"/>
                <a:cs typeface="Liberation Sans"/>
              </a:defRPr>
            </a:pPr>
            <a:r>
              <a:rPr sz="1650" b="0">
                <a:solidFill>
                  <a:srgbClr val="F3F7FB"/>
                </a:solidFill>
                <a:latin typeface="Liberation Sans"/>
                <a:ea typeface="Liberation Sans"/>
                <a:cs typeface="Liberation Sans"/>
              </a:rPr>
              <a:t>Merchants</a:t>
            </a:r>
          </a:p>
        </p:txBody>
      </p:sp>
      <p:sp>
        <p:nvSpPr>
          <p:cNvPr id="23" name="shape-77">
            <a:extLst xmlns:a="http://schemas.openxmlformats.org/drawingml/2006/main">
              <a:ext uri="{FF2B5EF4-FFF2-40B4-BE49-F238E27FC236}">
                <a16:creationId xmlns:a16="http://schemas.microsoft.com/office/drawing/2014/main" id="{2D3762F9-A364-42D9-B95B-EC08AD8D6563}"/>
              </a:ext>
            </a:extLst>
          </p:cNvPr>
          <p:cNvSpPr>
            <a:spLocks xmlns:a="http://schemas.openxmlformats.org/drawingml/2006/main" noGrp="1"/>
          </p:cNvSpPr>
          <p:nvPr/>
        </p:nvSpPr>
        <p:spPr>
          <a:xfrm xmlns:a="http://schemas.openxmlformats.org/drawingml/2006/main">
            <a:off x="7210425" y="3638550"/>
            <a:ext cx="2114550" cy="1657350"/>
          </a:xfrm>
          <a:prstGeom xmlns:a="http://schemas.openxmlformats.org/drawingml/2006/main" prst="roundRect">
            <a:avLst>
              <a:gd name="adj" fmla="val 6897"/>
            </a:avLst>
          </a:prstGeom>
          <a:solidFill xmlns:a="http://schemas.openxmlformats.org/drawingml/2006/main">
            <a:srgbClr val="122536"/>
          </a:solidFill>
          <a:ln xmlns:a="http://schemas.openxmlformats.org/drawingml/2006/main" w="9525">
            <a:solidFill>
              <a:srgbClr val="2A4052"/>
            </a:solidFill>
            <a:prstDash val="solid"/>
          </a:ln>
        </p:spPr>
      </p:sp>
      <p:sp>
        <p:nvSpPr>
          <p:cNvPr id="24" name="shape-78">
            <a:extLst xmlns:a="http://schemas.openxmlformats.org/drawingml/2006/main">
              <a:ext uri="{FF2B5EF4-FFF2-40B4-BE49-F238E27FC236}">
                <a16:creationId xmlns:a16="http://schemas.microsoft.com/office/drawing/2014/main" id="{D4C93C06-E537-4A63-BF32-AFB0D5A53E04}"/>
              </a:ext>
            </a:extLst>
          </p:cNvPr>
          <p:cNvSpPr>
            <a:spLocks xmlns:a="http://schemas.openxmlformats.org/drawingml/2006/main" noGrp="1"/>
          </p:cNvSpPr>
          <p:nvPr/>
        </p:nvSpPr>
        <p:spPr>
          <a:xfrm xmlns:a="http://schemas.openxmlformats.org/drawingml/2006/main">
            <a:off x="7429500" y="3981450"/>
            <a:ext cx="1676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72ACFF"/>
                </a:solidFill>
                <a:latin typeface="Liberation Sans"/>
                <a:ea typeface="Liberation Sans"/>
                <a:cs typeface="Liberation Sans"/>
              </a:defRPr>
            </a:defPPr>
          </a:lstStyle>
          <a:p xmlns:a="http://schemas.openxmlformats.org/drawingml/2006/main">
            <a:pPr algn="l">
              <a:defRPr sz="3600" b="1">
                <a:solidFill>
                  <a:srgbClr val="72ACFF"/>
                </a:solidFill>
                <a:latin typeface="Liberation Sans"/>
                <a:ea typeface="Liberation Sans"/>
                <a:cs typeface="Liberation Sans"/>
              </a:defRPr>
            </a:pPr>
            <a:r>
              <a:rPr sz="3600" b="1">
                <a:solidFill>
                  <a:srgbClr val="72ACFF"/>
                </a:solidFill>
                <a:latin typeface="Liberation Sans"/>
                <a:ea typeface="Liberation Sans"/>
                <a:cs typeface="Liberation Sans"/>
              </a:rPr>
              <a:t>220</a:t>
            </a:r>
          </a:p>
        </p:txBody>
      </p:sp>
      <p:sp>
        <p:nvSpPr>
          <p:cNvPr id="25" name="shape-79">
            <a:extLst xmlns:a="http://schemas.openxmlformats.org/drawingml/2006/main">
              <a:ext uri="{FF2B5EF4-FFF2-40B4-BE49-F238E27FC236}">
                <a16:creationId xmlns:a16="http://schemas.microsoft.com/office/drawing/2014/main" id="{04235B26-5E0F-4940-A6A4-18E16282079E}"/>
              </a:ext>
            </a:extLst>
          </p:cNvPr>
          <p:cNvSpPr>
            <a:spLocks xmlns:a="http://schemas.openxmlformats.org/drawingml/2006/main" noGrp="1"/>
          </p:cNvSpPr>
          <p:nvPr/>
        </p:nvSpPr>
        <p:spPr>
          <a:xfrm xmlns:a="http://schemas.openxmlformats.org/drawingml/2006/main">
            <a:off x="7429500" y="4676775"/>
            <a:ext cx="16764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F3F7FB"/>
                </a:solidFill>
                <a:latin typeface="Liberation Sans"/>
                <a:ea typeface="Liberation Sans"/>
                <a:cs typeface="Liberation Sans"/>
              </a:defRPr>
            </a:defPPr>
          </a:lstStyle>
          <a:p xmlns:a="http://schemas.openxmlformats.org/drawingml/2006/main">
            <a:pPr algn="l">
              <a:defRPr sz="1650" b="0">
                <a:solidFill>
                  <a:srgbClr val="F3F7FB"/>
                </a:solidFill>
                <a:latin typeface="Liberation Sans"/>
                <a:ea typeface="Liberation Sans"/>
                <a:cs typeface="Liberation Sans"/>
              </a:defRPr>
            </a:pPr>
            <a:r>
              <a:rPr sz="1650" b="0">
                <a:solidFill>
                  <a:srgbClr val="F3F7FB"/>
                </a:solidFill>
                <a:latin typeface="Liberation Sans"/>
                <a:ea typeface="Liberation Sans"/>
                <a:cs typeface="Liberation Sans"/>
              </a:rPr>
              <a:t>Couriers</a:t>
            </a:r>
          </a:p>
        </p:txBody>
      </p:sp>
      <p:sp>
        <p:nvSpPr>
          <p:cNvPr id="26" name="shape-80">
            <a:extLst xmlns:a="http://schemas.openxmlformats.org/drawingml/2006/main">
              <a:ext uri="{FF2B5EF4-FFF2-40B4-BE49-F238E27FC236}">
                <a16:creationId xmlns:a16="http://schemas.microsoft.com/office/drawing/2014/main" id="{71806F0F-D535-4EB5-A80B-4C205357844C}"/>
              </a:ext>
            </a:extLst>
          </p:cNvPr>
          <p:cNvSpPr>
            <a:spLocks xmlns:a="http://schemas.openxmlformats.org/drawingml/2006/main" noGrp="1"/>
          </p:cNvSpPr>
          <p:nvPr/>
        </p:nvSpPr>
        <p:spPr>
          <a:xfrm xmlns:a="http://schemas.openxmlformats.org/drawingml/2006/main">
            <a:off x="9505950" y="3638550"/>
            <a:ext cx="2114550" cy="1657350"/>
          </a:xfrm>
          <a:prstGeom xmlns:a="http://schemas.openxmlformats.org/drawingml/2006/main" prst="roundRect">
            <a:avLst>
              <a:gd name="adj" fmla="val 6897"/>
            </a:avLst>
          </a:prstGeom>
          <a:solidFill xmlns:a="http://schemas.openxmlformats.org/drawingml/2006/main">
            <a:srgbClr val="122536"/>
          </a:solidFill>
          <a:ln xmlns:a="http://schemas.openxmlformats.org/drawingml/2006/main" w="9525">
            <a:solidFill>
              <a:srgbClr val="2A4052"/>
            </a:solidFill>
            <a:prstDash val="solid"/>
          </a:ln>
        </p:spPr>
      </p:sp>
      <p:sp>
        <p:nvSpPr>
          <p:cNvPr id="27" name="shape-81">
            <a:extLst xmlns:a="http://schemas.openxmlformats.org/drawingml/2006/main">
              <a:ext uri="{FF2B5EF4-FFF2-40B4-BE49-F238E27FC236}">
                <a16:creationId xmlns:a16="http://schemas.microsoft.com/office/drawing/2014/main" id="{F66D6DFD-8DF1-40A8-B7F6-8A0E149973D1}"/>
              </a:ext>
            </a:extLst>
          </p:cNvPr>
          <p:cNvSpPr>
            <a:spLocks xmlns:a="http://schemas.openxmlformats.org/drawingml/2006/main" noGrp="1"/>
          </p:cNvSpPr>
          <p:nvPr/>
        </p:nvSpPr>
        <p:spPr>
          <a:xfrm xmlns:a="http://schemas.openxmlformats.org/drawingml/2006/main">
            <a:off x="9725025" y="3981450"/>
            <a:ext cx="1676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72ACFF"/>
                </a:solidFill>
                <a:latin typeface="Liberation Sans"/>
                <a:ea typeface="Liberation Sans"/>
                <a:cs typeface="Liberation Sans"/>
              </a:defRPr>
            </a:defPPr>
          </a:lstStyle>
          <a:p xmlns:a="http://schemas.openxmlformats.org/drawingml/2006/main">
            <a:pPr algn="l">
              <a:defRPr sz="3600" b="1">
                <a:solidFill>
                  <a:srgbClr val="72ACFF"/>
                </a:solidFill>
                <a:latin typeface="Liberation Sans"/>
                <a:ea typeface="Liberation Sans"/>
                <a:cs typeface="Liberation Sans"/>
              </a:defRPr>
            </a:pPr>
            <a:r>
              <a:rPr sz="3600" b="1">
                <a:solidFill>
                  <a:srgbClr val="72ACFF"/>
                </a:solidFill>
                <a:latin typeface="Liberation Sans"/>
                <a:ea typeface="Liberation Sans"/>
                <a:cs typeface="Liberation Sans"/>
              </a:rPr>
              <a:t>12</a:t>
            </a:r>
          </a:p>
        </p:txBody>
      </p:sp>
      <p:sp>
        <p:nvSpPr>
          <p:cNvPr id="28" name="shape-82">
            <a:extLst xmlns:a="http://schemas.openxmlformats.org/drawingml/2006/main">
              <a:ext uri="{FF2B5EF4-FFF2-40B4-BE49-F238E27FC236}">
                <a16:creationId xmlns:a16="http://schemas.microsoft.com/office/drawing/2014/main" id="{8A79BCE9-BE7E-424C-8A22-1C9C2B7301CF}"/>
              </a:ext>
            </a:extLst>
          </p:cNvPr>
          <p:cNvSpPr>
            <a:spLocks xmlns:a="http://schemas.openxmlformats.org/drawingml/2006/main" noGrp="1"/>
          </p:cNvSpPr>
          <p:nvPr/>
        </p:nvSpPr>
        <p:spPr>
          <a:xfrm xmlns:a="http://schemas.openxmlformats.org/drawingml/2006/main">
            <a:off x="9725025" y="4676775"/>
            <a:ext cx="16764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F3F7FB"/>
                </a:solidFill>
                <a:latin typeface="Liberation Sans"/>
                <a:ea typeface="Liberation Sans"/>
                <a:cs typeface="Liberation Sans"/>
              </a:defRPr>
            </a:defPPr>
          </a:lstStyle>
          <a:p xmlns:a="http://schemas.openxmlformats.org/drawingml/2006/main">
            <a:pPr algn="l">
              <a:defRPr sz="1650" b="0">
                <a:solidFill>
                  <a:srgbClr val="F3F7FB"/>
                </a:solidFill>
                <a:latin typeface="Liberation Sans"/>
                <a:ea typeface="Liberation Sans"/>
                <a:cs typeface="Liberation Sans"/>
              </a:defRPr>
            </a:pPr>
            <a:r>
              <a:rPr sz="1650" b="0">
                <a:solidFill>
                  <a:srgbClr val="F3F7FB"/>
                </a:solidFill>
                <a:latin typeface="Liberation Sans"/>
                <a:ea typeface="Liberation Sans"/>
                <a:cs typeface="Liberation Sans"/>
              </a:rPr>
              <a:t>Hubs</a:t>
            </a:r>
          </a:p>
        </p:txBody>
      </p:sp>
      <p:sp>
        <p:nvSpPr>
          <p:cNvPr id="29" name="shape-83">
            <a:extLst xmlns:a="http://schemas.openxmlformats.org/drawingml/2006/main">
              <a:ext uri="{FF2B5EF4-FFF2-40B4-BE49-F238E27FC236}">
                <a16:creationId xmlns:a16="http://schemas.microsoft.com/office/drawing/2014/main" id="{636125A6-F1BF-46A1-B334-4B7A6AD080D5}"/>
              </a:ext>
            </a:extLst>
          </p:cNvPr>
          <p:cNvSpPr>
            <a:spLocks xmlns:a="http://schemas.openxmlformats.org/drawingml/2006/main" noGrp="1"/>
          </p:cNvSpPr>
          <p:nvPr/>
        </p:nvSpPr>
        <p:spPr>
          <a:xfrm xmlns:a="http://schemas.openxmlformats.org/drawingml/2006/main">
            <a:off x="571500" y="5572125"/>
            <a:ext cx="11049000" cy="542925"/>
          </a:xfrm>
          <a:prstGeom xmlns:a="http://schemas.openxmlformats.org/drawingml/2006/main" prst="roundRect">
            <a:avLst>
              <a:gd name="adj" fmla="val 21053"/>
            </a:avLst>
          </a:prstGeom>
          <a:solidFill xmlns:a="http://schemas.openxmlformats.org/drawingml/2006/main">
            <a:srgbClr val="16322F"/>
          </a:solidFill>
          <a:ln xmlns:a="http://schemas.openxmlformats.org/drawingml/2006/main" w="0">
            <a:noFill/>
            <a:prstDash val="solid"/>
          </a:ln>
        </p:spPr>
      </p:sp>
      <p:sp>
        <p:nvSpPr>
          <p:cNvPr id="30" name="shape-84">
            <a:extLst xmlns:a="http://schemas.openxmlformats.org/drawingml/2006/main">
              <a:ext uri="{FF2B5EF4-FFF2-40B4-BE49-F238E27FC236}">
                <a16:creationId xmlns:a16="http://schemas.microsoft.com/office/drawing/2014/main" id="{16B11537-FF8F-4CF7-99F8-A7F2FF772440}"/>
              </a:ext>
            </a:extLst>
          </p:cNvPr>
          <p:cNvSpPr>
            <a:spLocks xmlns:a="http://schemas.openxmlformats.org/drawingml/2006/main" noGrp="1"/>
          </p:cNvSpPr>
          <p:nvPr/>
        </p:nvSpPr>
        <p:spPr>
          <a:xfrm xmlns:a="http://schemas.openxmlformats.org/drawingml/2006/main">
            <a:off x="762000" y="570547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39DBB0"/>
                </a:solidFill>
                <a:latin typeface="Liberation Sans"/>
                <a:ea typeface="Liberation Sans"/>
                <a:cs typeface="Liberation Sans"/>
              </a:defRPr>
            </a:defPPr>
          </a:lstStyle>
          <a:p xmlns:a="http://schemas.openxmlformats.org/drawingml/2006/main">
            <a:pPr algn="l">
              <a:defRPr sz="1800" b="1">
                <a:solidFill>
                  <a:srgbClr val="39DBB0"/>
                </a:solidFill>
                <a:latin typeface="Liberation Sans"/>
                <a:ea typeface="Liberation Sans"/>
                <a:cs typeface="Liberation Sans"/>
              </a:defRPr>
            </a:pPr>
            <a:r>
              <a:rPr sz="1800" b="1">
                <a:solidFill>
                  <a:srgbClr val="39DBB0"/>
                </a:solidFill>
                <a:latin typeface="Liberation Sans"/>
                <a:ea typeface="Liberation Sans"/>
                <a:cs typeface="Liberation Sans"/>
              </a:rPr>
              <a:t>Synthetic logistics dataset created for portfolio and learning purposes</a:t>
            </a:r>
          </a:p>
        </p:txBody>
      </p:sp>
    </p:spTree>
    <p:extLst>
      <p:ext uri="{BB962C8B-B14F-4D97-AF65-F5344CB8AC3E}">
        <p14:creationId xmlns:p14="http://schemas.microsoft.com/office/powerpoint/2010/main" val="1046499776"/>
      </p:ext>
    </p:extLst>
  </p:cSld>
</p:sld>
</file>

<file path=ppt/slides/slide4.xml><?xml version="1.0" encoding="utf-8"?>
<p:sld xmlns:p="http://schemas.openxmlformats.org/presentationml/2006/main">
  <p:cSld>
    <p:bg>
      <p:bgPr>
        <a:solidFill xmlns:a="http://schemas.openxmlformats.org/drawingml/2006/main">
          <a:srgbClr val="091522"/>
        </a:solidFill>
      </p:bgPr>
    </p:bg>
    <p:spTree>
      <p:nvGrpSpPr>
        <p:cNvPr id="1" name=""/>
        <p:cNvGrpSpPr/>
        <p:nvPr/>
      </p:nvGrpSpPr>
      <p:grpSpPr>
        <a:xfrm xmlns:a="http://schemas.openxmlformats.org/drawingml/2006/main"/>
      </p:grpSpPr>
      <p:cxnSp>
        <p:nvCxnSpPr>
          <p:cNvPr id="41" name="">
            <a:extLst xmlns:a="http://schemas.openxmlformats.org/drawingml/2006/main">
              <a:ext uri="{FF2B5EF4-FFF2-40B4-BE49-F238E27FC236}">
                <a16:creationId xmlns:a16="http://schemas.microsoft.com/office/drawing/2014/main" id="{106BE7D4-E00C-465F-9CDA-29923F493BE1}"/>
              </a:ext>
            </a:extLst>
          </p:cNvPr>
          <p:cNvCxnSpPr>
            <a:stCxn xmlns:a="http://schemas.openxmlformats.org/drawingml/2006/main" id="40" idx="2"/>
            <a:endCxn xmlns:a="http://schemas.openxmlformats.org/drawingml/2006/main" id="21" idx="0"/>
          </p:cNvCxnSpPr>
          <p:nvPr/>
        </p:nvCxnSpPr>
        <p:spPr>
          <a:xfrm xmlns:a="http://schemas.openxmlformats.org/drawingml/2006/main">
            <a:off x="7696200" y="2495550"/>
            <a:ext cx="0" cy="752475"/>
          </a:xfrm>
          <a:prstGeom xmlns:a="http://schemas.openxmlformats.org/drawingml/2006/main" prst="straightConnector1">
            <a:avLst/>
          </a:prstGeom>
          <a:ln xmlns:a="http://schemas.openxmlformats.org/drawingml/2006/main" w="19050">
            <a:solidFill>
              <a:srgbClr val="48DCE7"/>
            </a:solidFill>
            <a:prstDash val="dash"/>
            <a:tailEnd type="triangle" w="sm" len="sm"/>
          </a:ln>
        </p:spPr>
      </p:cxnSp>
      <p:cxnSp>
        <p:nvCxnSpPr>
          <p:cNvPr id="39" name="">
            <a:extLst xmlns:a="http://schemas.openxmlformats.org/drawingml/2006/main">
              <a:ext uri="{FF2B5EF4-FFF2-40B4-BE49-F238E27FC236}">
                <a16:creationId xmlns:a16="http://schemas.microsoft.com/office/drawing/2014/main" id="{BA2407D3-B318-4551-9D59-1546EC944834}"/>
              </a:ext>
            </a:extLst>
          </p:cNvPr>
          <p:cNvCxnSpPr>
            <a:stCxn xmlns:a="http://schemas.openxmlformats.org/drawingml/2006/main" id="38" idx="2"/>
            <a:endCxn xmlns:a="http://schemas.openxmlformats.org/drawingml/2006/main" id="18" idx="0"/>
          </p:cNvCxnSpPr>
          <p:nvPr/>
        </p:nvCxnSpPr>
        <p:spPr>
          <a:xfrm xmlns:a="http://schemas.openxmlformats.org/drawingml/2006/main">
            <a:off x="6096000" y="2495550"/>
            <a:ext cx="0" cy="752475"/>
          </a:xfrm>
          <a:prstGeom xmlns:a="http://schemas.openxmlformats.org/drawingml/2006/main" prst="straightConnector1">
            <a:avLst/>
          </a:prstGeom>
          <a:ln xmlns:a="http://schemas.openxmlformats.org/drawingml/2006/main" w="19050">
            <a:solidFill>
              <a:srgbClr val="48DCE7"/>
            </a:solidFill>
            <a:prstDash val="dash"/>
            <a:tailEnd type="triangle" w="sm" len="sm"/>
          </a:ln>
        </p:spPr>
      </p:cxnSp>
      <p:cxnSp>
        <p:nvCxnSpPr>
          <p:cNvPr id="37" name="">
            <a:extLst xmlns:a="http://schemas.openxmlformats.org/drawingml/2006/main">
              <a:ext uri="{FF2B5EF4-FFF2-40B4-BE49-F238E27FC236}">
                <a16:creationId xmlns:a16="http://schemas.microsoft.com/office/drawing/2014/main" id="{8FF666BE-3F1D-402E-BE58-6F52718D3554}"/>
              </a:ext>
            </a:extLst>
          </p:cNvPr>
          <p:cNvCxnSpPr>
            <a:stCxn xmlns:a="http://schemas.openxmlformats.org/drawingml/2006/main" id="36" idx="2"/>
            <a:endCxn xmlns:a="http://schemas.openxmlformats.org/drawingml/2006/main" id="12" idx="0"/>
          </p:cNvCxnSpPr>
          <p:nvPr/>
        </p:nvCxnSpPr>
        <p:spPr>
          <a:xfrm xmlns:a="http://schemas.openxmlformats.org/drawingml/2006/main">
            <a:off x="2895600" y="2495550"/>
            <a:ext cx="0" cy="752475"/>
          </a:xfrm>
          <a:prstGeom xmlns:a="http://schemas.openxmlformats.org/drawingml/2006/main" prst="straightConnector1">
            <a:avLst/>
          </a:prstGeom>
          <a:ln xmlns:a="http://schemas.openxmlformats.org/drawingml/2006/main" w="19050">
            <a:solidFill>
              <a:srgbClr val="48DCE7"/>
            </a:solidFill>
            <a:prstDash val="dash"/>
            <a:tailEnd type="triangle" w="sm" len="sm"/>
          </a:ln>
        </p:spPr>
      </p:cxnSp>
      <p:cxnSp>
        <p:nvCxnSpPr>
          <p:cNvPr id="35" name="">
            <a:extLst xmlns:a="http://schemas.openxmlformats.org/drawingml/2006/main">
              <a:ext uri="{FF2B5EF4-FFF2-40B4-BE49-F238E27FC236}">
                <a16:creationId xmlns:a16="http://schemas.microsoft.com/office/drawing/2014/main" id="{490CB447-841C-4678-966A-108A5E22B22A}"/>
              </a:ext>
            </a:extLst>
          </p:cNvPr>
          <p:cNvCxnSpPr>
            <a:stCxn xmlns:a="http://schemas.openxmlformats.org/drawingml/2006/main" id="24" idx="3"/>
            <a:endCxn xmlns:a="http://schemas.openxmlformats.org/drawingml/2006/main" id="27" idx="1"/>
          </p:cNvCxnSpPr>
          <p:nvPr/>
        </p:nvCxnSpPr>
        <p:spPr>
          <a:xfrm xmlns:a="http://schemas.openxmlformats.org/drawingml/2006/main">
            <a:off x="10020300" y="3952875"/>
            <a:ext cx="152400" cy="0"/>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cxnSp>
        <p:nvCxnSpPr>
          <p:cNvPr id="34" name="">
            <a:extLst xmlns:a="http://schemas.openxmlformats.org/drawingml/2006/main">
              <a:ext uri="{FF2B5EF4-FFF2-40B4-BE49-F238E27FC236}">
                <a16:creationId xmlns:a16="http://schemas.microsoft.com/office/drawing/2014/main" id="{2958B151-0444-4C77-90AD-4227C4EEFF0F}"/>
              </a:ext>
            </a:extLst>
          </p:cNvPr>
          <p:cNvCxnSpPr>
            <a:stCxn xmlns:a="http://schemas.openxmlformats.org/drawingml/2006/main" id="21" idx="3"/>
            <a:endCxn xmlns:a="http://schemas.openxmlformats.org/drawingml/2006/main" id="24" idx="1"/>
          </p:cNvCxnSpPr>
          <p:nvPr/>
        </p:nvCxnSpPr>
        <p:spPr>
          <a:xfrm xmlns:a="http://schemas.openxmlformats.org/drawingml/2006/main">
            <a:off x="8420100" y="3952875"/>
            <a:ext cx="152400" cy="0"/>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cxnSp>
        <p:nvCxnSpPr>
          <p:cNvPr id="33" name="">
            <a:extLst xmlns:a="http://schemas.openxmlformats.org/drawingml/2006/main">
              <a:ext uri="{FF2B5EF4-FFF2-40B4-BE49-F238E27FC236}">
                <a16:creationId xmlns:a16="http://schemas.microsoft.com/office/drawing/2014/main" id="{B52D2128-8460-4298-8BCA-13019EF97C8A}"/>
              </a:ext>
            </a:extLst>
          </p:cNvPr>
          <p:cNvCxnSpPr>
            <a:stCxn xmlns:a="http://schemas.openxmlformats.org/drawingml/2006/main" id="18" idx="3"/>
            <a:endCxn xmlns:a="http://schemas.openxmlformats.org/drawingml/2006/main" id="21" idx="1"/>
          </p:cNvCxnSpPr>
          <p:nvPr/>
        </p:nvCxnSpPr>
        <p:spPr>
          <a:xfrm xmlns:a="http://schemas.openxmlformats.org/drawingml/2006/main">
            <a:off x="6819900" y="3952875"/>
            <a:ext cx="152400" cy="0"/>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cxnSp>
        <p:nvCxnSpPr>
          <p:cNvPr id="32" name="">
            <a:extLst xmlns:a="http://schemas.openxmlformats.org/drawingml/2006/main">
              <a:ext uri="{FF2B5EF4-FFF2-40B4-BE49-F238E27FC236}">
                <a16:creationId xmlns:a16="http://schemas.microsoft.com/office/drawing/2014/main" id="{A8F96582-6DCA-4195-A459-D3F2D4A7ABBE}"/>
              </a:ext>
            </a:extLst>
          </p:cNvPr>
          <p:cNvCxnSpPr>
            <a:stCxn xmlns:a="http://schemas.openxmlformats.org/drawingml/2006/main" id="15" idx="3"/>
            <a:endCxn xmlns:a="http://schemas.openxmlformats.org/drawingml/2006/main" id="18" idx="1"/>
          </p:cNvCxnSpPr>
          <p:nvPr/>
        </p:nvCxnSpPr>
        <p:spPr>
          <a:xfrm xmlns:a="http://schemas.openxmlformats.org/drawingml/2006/main">
            <a:off x="5219700" y="3952875"/>
            <a:ext cx="152400" cy="0"/>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cxnSp>
        <p:nvCxnSpPr>
          <p:cNvPr id="31" name="">
            <a:extLst xmlns:a="http://schemas.openxmlformats.org/drawingml/2006/main">
              <a:ext uri="{FF2B5EF4-FFF2-40B4-BE49-F238E27FC236}">
                <a16:creationId xmlns:a16="http://schemas.microsoft.com/office/drawing/2014/main" id="{045D7D5A-FB78-4A3A-A526-63B65B12A55D}"/>
              </a:ext>
            </a:extLst>
          </p:cNvPr>
          <p:cNvCxnSpPr>
            <a:stCxn xmlns:a="http://schemas.openxmlformats.org/drawingml/2006/main" id="12" idx="3"/>
            <a:endCxn xmlns:a="http://schemas.openxmlformats.org/drawingml/2006/main" id="15" idx="1"/>
          </p:cNvCxnSpPr>
          <p:nvPr/>
        </p:nvCxnSpPr>
        <p:spPr>
          <a:xfrm xmlns:a="http://schemas.openxmlformats.org/drawingml/2006/main">
            <a:off x="3619500" y="3952875"/>
            <a:ext cx="152400" cy="0"/>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cxnSp>
        <p:nvCxnSpPr>
          <p:cNvPr id="30" name="">
            <a:extLst xmlns:a="http://schemas.openxmlformats.org/drawingml/2006/main">
              <a:ext uri="{FF2B5EF4-FFF2-40B4-BE49-F238E27FC236}">
                <a16:creationId xmlns:a16="http://schemas.microsoft.com/office/drawing/2014/main" id="{ACFD46DB-F7E3-4EDB-BD19-A040536E4DF8}"/>
              </a:ext>
            </a:extLst>
          </p:cNvPr>
          <p:cNvCxnSpPr>
            <a:stCxn xmlns:a="http://schemas.openxmlformats.org/drawingml/2006/main" id="9" idx="3"/>
            <a:endCxn xmlns:a="http://schemas.openxmlformats.org/drawingml/2006/main" id="12" idx="1"/>
          </p:cNvCxnSpPr>
          <p:nvPr/>
        </p:nvCxnSpPr>
        <p:spPr>
          <a:xfrm xmlns:a="http://schemas.openxmlformats.org/drawingml/2006/main">
            <a:off x="2019300" y="3952875"/>
            <a:ext cx="152400" cy="0"/>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sp>
        <p:nvSpPr>
          <p:cNvPr id="48" name="shape-85">
            <a:extLst xmlns:a="http://schemas.openxmlformats.org/drawingml/2006/main">
              <a:ext uri="{FF2B5EF4-FFF2-40B4-BE49-F238E27FC236}">
                <a16:creationId xmlns:a16="http://schemas.microsoft.com/office/drawing/2014/main" id="{8816B97B-4115-474C-B416-891E335C2689}"/>
              </a:ext>
            </a:extLst>
          </p:cNvPr>
          <p:cNvSpPr>
            <a:spLocks xmlns:a="http://schemas.openxmlformats.org/drawingml/2006/main" noGrp="1"/>
          </p:cNvSpPr>
          <p:nvPr/>
        </p:nvSpPr>
        <p:spPr>
          <a:xfrm xmlns:a="http://schemas.openxmlformats.org/drawingml/2006/main">
            <a:off x="571500" y="333375"/>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48DCE7"/>
                </a:solidFill>
                <a:latin typeface="Liberation Sans"/>
                <a:ea typeface="Liberation Sans"/>
                <a:cs typeface="Liberation Sans"/>
              </a:defRPr>
            </a:defPPr>
          </a:lstStyle>
          <a:p xmlns:a="http://schemas.openxmlformats.org/drawingml/2006/main">
            <a:pPr algn="l">
              <a:defRPr sz="1125" b="1">
                <a:solidFill>
                  <a:srgbClr val="48DCE7"/>
                </a:solidFill>
                <a:latin typeface="Liberation Sans"/>
                <a:ea typeface="Liberation Sans"/>
                <a:cs typeface="Liberation Sans"/>
              </a:defRPr>
            </a:pPr>
            <a:r>
              <a:rPr sz="1125" b="1">
                <a:solidFill>
                  <a:srgbClr val="48DCE7"/>
                </a:solidFill>
                <a:latin typeface="Liberation Sans"/>
                <a:ea typeface="Liberation Sans"/>
                <a:cs typeface="Liberation Sans"/>
              </a:rPr>
              <a:t>TECHNICAL DESIGN</a:t>
            </a:r>
          </a:p>
        </p:txBody>
      </p:sp>
      <p:sp>
        <p:nvSpPr>
          <p:cNvPr id="2" name="shape-86">
            <a:extLst xmlns:a="http://schemas.openxmlformats.org/drawingml/2006/main">
              <a:ext uri="{FF2B5EF4-FFF2-40B4-BE49-F238E27FC236}">
                <a16:creationId xmlns:a16="http://schemas.microsoft.com/office/drawing/2014/main" id="{8AE57516-2034-493E-890D-5952103AC096}"/>
              </a:ext>
            </a:extLst>
          </p:cNvPr>
          <p:cNvSpPr>
            <a:spLocks xmlns:a="http://schemas.openxmlformats.org/drawingml/2006/main" noGrp="1"/>
          </p:cNvSpPr>
          <p:nvPr/>
        </p:nvSpPr>
        <p:spPr>
          <a:xfrm xmlns:a="http://schemas.openxmlformats.org/drawingml/2006/main">
            <a:off x="571500" y="704850"/>
            <a:ext cx="110490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3F7FB"/>
                </a:solidFill>
                <a:latin typeface="Liberation Sans"/>
                <a:ea typeface="Liberation Sans"/>
                <a:cs typeface="Liberation Sans"/>
              </a:defRPr>
            </a:defPPr>
          </a:lstStyle>
          <a:p xmlns:a="http://schemas.openxmlformats.org/drawingml/2006/main">
            <a:pPr algn="l">
              <a:defRPr sz="3225" b="1">
                <a:solidFill>
                  <a:srgbClr val="F3F7FB"/>
                </a:solidFill>
                <a:latin typeface="Liberation Sans"/>
                <a:ea typeface="Liberation Sans"/>
                <a:cs typeface="Liberation Sans"/>
              </a:defRPr>
            </a:pPr>
            <a:r>
              <a:rPr sz="3225" b="1">
                <a:solidFill>
                  <a:srgbClr val="F3F7FB"/>
                </a:solidFill>
                <a:latin typeface="Liberation Sans"/>
                <a:ea typeface="Liberation Sans"/>
                <a:cs typeface="Liberation Sans"/>
              </a:rPr>
              <a:t>Solution Architecture</a:t>
            </a:r>
          </a:p>
        </p:txBody>
      </p:sp>
      <p:sp>
        <p:nvSpPr>
          <p:cNvPr id="3" name="line-87">
            <a:extLst xmlns:a="http://schemas.openxmlformats.org/drawingml/2006/main">
              <a:ext uri="{FF2B5EF4-FFF2-40B4-BE49-F238E27FC236}">
                <a16:creationId xmlns:a16="http://schemas.microsoft.com/office/drawing/2014/main" id="{B3D273E4-A316-422D-950A-9A881D8704C8}"/>
              </a:ext>
            </a:extLst>
          </p:cNvPr>
          <p:cNvSpPr>
            <a:spLocks xmlns:a="http://schemas.openxmlformats.org/drawingml/2006/main" noGrp="1"/>
          </p:cNvSpPr>
          <p:nvPr/>
        </p:nvSpPr>
        <p:spPr>
          <a:xfrm xmlns:a="http://schemas.openxmlformats.org/drawingml/2006/main">
            <a:off x="571500" y="6353175"/>
            <a:ext cx="11049000"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4" name="shape-88">
            <a:extLst xmlns:a="http://schemas.openxmlformats.org/drawingml/2006/main">
              <a:ext uri="{FF2B5EF4-FFF2-40B4-BE49-F238E27FC236}">
                <a16:creationId xmlns:a16="http://schemas.microsoft.com/office/drawing/2014/main" id="{E81D1914-2CEF-4F37-9A5E-4205B26CF6F5}"/>
              </a:ext>
            </a:extLst>
          </p:cNvPr>
          <p:cNvSpPr>
            <a:spLocks xmlns:a="http://schemas.openxmlformats.org/drawingml/2006/main" noGrp="1"/>
          </p:cNvSpPr>
          <p:nvPr/>
        </p:nvSpPr>
        <p:spPr>
          <a:xfrm xmlns:a="http://schemas.openxmlformats.org/drawingml/2006/main">
            <a:off x="5715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A9BBCB"/>
                </a:solidFill>
                <a:latin typeface="Liberation Sans"/>
                <a:ea typeface="Liberation Sans"/>
                <a:cs typeface="Liberation Sans"/>
              </a:defRPr>
            </a:defPPr>
          </a:lstStyle>
          <a:p xmlns:a="http://schemas.openxmlformats.org/drawingml/2006/main">
            <a:pPr algn="l">
              <a:defRPr sz="900" b="0">
                <a:solidFill>
                  <a:srgbClr val="A9BBCB"/>
                </a:solidFill>
                <a:latin typeface="Liberation Sans"/>
                <a:ea typeface="Liberation Sans"/>
                <a:cs typeface="Liberation Sans"/>
              </a:defRPr>
            </a:pPr>
            <a:r>
              <a:rPr sz="900" b="0">
                <a:solidFill>
                  <a:srgbClr val="A9BBCB"/>
                </a:solidFill>
                <a:latin typeface="Liberation Sans"/>
                <a:ea typeface="Liberation Sans"/>
                <a:cs typeface="Liberation Sans"/>
              </a:rPr>
              <a:t>SYNTHETIC DATA · PORTFOLIO PROJECT</a:t>
            </a:r>
          </a:p>
        </p:txBody>
      </p:sp>
      <p:sp>
        <p:nvSpPr>
          <p:cNvPr id="5" name="shape-89">
            <a:extLst xmlns:a="http://schemas.openxmlformats.org/drawingml/2006/main">
              <a:ext uri="{FF2B5EF4-FFF2-40B4-BE49-F238E27FC236}">
                <a16:creationId xmlns:a16="http://schemas.microsoft.com/office/drawing/2014/main" id="{75F88F57-05F2-40FA-9056-09CA6B57C586}"/>
              </a:ext>
            </a:extLst>
          </p:cNvPr>
          <p:cNvSpPr>
            <a:spLocks xmlns:a="http://schemas.openxmlformats.org/drawingml/2006/main" noGrp="1"/>
          </p:cNvSpPr>
          <p:nvPr/>
        </p:nvSpPr>
        <p:spPr>
          <a:xfrm xmlns:a="http://schemas.openxmlformats.org/drawingml/2006/main">
            <a:off x="11144250" y="646747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9BBCB"/>
                </a:solidFill>
                <a:latin typeface="Liberation Sans"/>
                <a:ea typeface="Liberation Sans"/>
                <a:cs typeface="Liberation Sans"/>
              </a:defRPr>
            </a:defPPr>
          </a:lstStyle>
          <a:p xmlns:a="http://schemas.openxmlformats.org/drawingml/2006/main">
            <a:pPr algn="r">
              <a:defRPr sz="1275" b="0">
                <a:solidFill>
                  <a:srgbClr val="A9BBCB"/>
                </a:solidFill>
                <a:latin typeface="Liberation Sans"/>
                <a:ea typeface="Liberation Sans"/>
                <a:cs typeface="Liberation Sans"/>
              </a:defRPr>
            </a:pPr>
            <a:r>
              <a:rPr sz="1275" b="0">
                <a:solidFill>
                  <a:srgbClr val="A9BBCB"/>
                </a:solidFill>
                <a:latin typeface="Liberation Sans"/>
                <a:ea typeface="Liberation Sans"/>
                <a:cs typeface="Liberation Sans"/>
              </a:rPr>
              <a:t>04</a:t>
            </a:r>
          </a:p>
        </p:txBody>
      </p:sp>
      <p:sp>
        <p:nvSpPr>
          <p:cNvPr id="6" name="shape-90">
            <a:extLst xmlns:a="http://schemas.openxmlformats.org/drawingml/2006/main">
              <a:ext uri="{FF2B5EF4-FFF2-40B4-BE49-F238E27FC236}">
                <a16:creationId xmlns:a16="http://schemas.microsoft.com/office/drawing/2014/main" id="{35CA77F9-D9BA-48E5-984B-3D21068A048A}"/>
              </a:ext>
            </a:extLst>
          </p:cNvPr>
          <p:cNvSpPr>
            <a:spLocks xmlns:a="http://schemas.openxmlformats.org/drawingml/2006/main" noGrp="1"/>
          </p:cNvSpPr>
          <p:nvPr/>
        </p:nvSpPr>
        <p:spPr>
          <a:xfrm xmlns:a="http://schemas.openxmlformats.org/drawingml/2006/main">
            <a:off x="2152650" y="1724025"/>
            <a:ext cx="7886700" cy="762000"/>
          </a:xfrm>
          <a:prstGeom xmlns:a="http://schemas.openxmlformats.org/drawingml/2006/main" prst="roundRect">
            <a:avLst>
              <a:gd name="adj" fmla="val 15000"/>
            </a:avLst>
          </a:prstGeom>
          <a:solidFill xmlns:a="http://schemas.openxmlformats.org/drawingml/2006/main">
            <a:srgbClr val="103037"/>
          </a:solidFill>
          <a:ln xmlns:a="http://schemas.openxmlformats.org/drawingml/2006/main" w="9525">
            <a:solidFill>
              <a:srgbClr val="48DCE7"/>
            </a:solidFill>
            <a:prstDash val="solid"/>
          </a:ln>
        </p:spPr>
      </p:sp>
      <p:sp>
        <p:nvSpPr>
          <p:cNvPr id="7" name="shape-91">
            <a:extLst xmlns:a="http://schemas.openxmlformats.org/drawingml/2006/main">
              <a:ext uri="{FF2B5EF4-FFF2-40B4-BE49-F238E27FC236}">
                <a16:creationId xmlns:a16="http://schemas.microsoft.com/office/drawing/2014/main" id="{2C3D9E69-2064-4CE2-8E0C-457F934BD9B7}"/>
              </a:ext>
            </a:extLst>
          </p:cNvPr>
          <p:cNvSpPr>
            <a:spLocks xmlns:a="http://schemas.openxmlformats.org/drawingml/2006/main" noGrp="1"/>
          </p:cNvSpPr>
          <p:nvPr/>
        </p:nvSpPr>
        <p:spPr>
          <a:xfrm xmlns:a="http://schemas.openxmlformats.org/drawingml/2006/main">
            <a:off x="2343150" y="1847850"/>
            <a:ext cx="2524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48DCE7"/>
                </a:solidFill>
                <a:latin typeface="Liberation Sans"/>
                <a:ea typeface="Liberation Sans"/>
                <a:cs typeface="Liberation Sans"/>
              </a:defRPr>
            </a:defPPr>
          </a:lstStyle>
          <a:p xmlns:a="http://schemas.openxmlformats.org/drawingml/2006/main">
            <a:pPr algn="l">
              <a:defRPr sz="2025" b="1">
                <a:solidFill>
                  <a:srgbClr val="48DCE7"/>
                </a:solidFill>
                <a:latin typeface="Liberation Sans"/>
                <a:ea typeface="Liberation Sans"/>
                <a:cs typeface="Liberation Sans"/>
              </a:defRPr>
            </a:pPr>
            <a:r>
              <a:rPr sz="2025" b="1">
                <a:solidFill>
                  <a:srgbClr val="48DCE7"/>
                </a:solidFill>
                <a:latin typeface="Liberation Sans"/>
                <a:ea typeface="Liberation Sans"/>
                <a:cs typeface="Liberation Sans"/>
              </a:rPr>
              <a:t>Apache Airflow</a:t>
            </a:r>
          </a:p>
        </p:txBody>
      </p:sp>
      <p:sp>
        <p:nvSpPr>
          <p:cNvPr id="8" name="shape-92">
            <a:extLst xmlns:a="http://schemas.openxmlformats.org/drawingml/2006/main">
              <a:ext uri="{FF2B5EF4-FFF2-40B4-BE49-F238E27FC236}">
                <a16:creationId xmlns:a16="http://schemas.microsoft.com/office/drawing/2014/main" id="{89A2814A-171F-4FBC-B0FE-698FCA4973A9}"/>
              </a:ext>
            </a:extLst>
          </p:cNvPr>
          <p:cNvSpPr>
            <a:spLocks xmlns:a="http://schemas.openxmlformats.org/drawingml/2006/main" noGrp="1"/>
          </p:cNvSpPr>
          <p:nvPr/>
        </p:nvSpPr>
        <p:spPr>
          <a:xfrm xmlns:a="http://schemas.openxmlformats.org/drawingml/2006/main">
            <a:off x="5076825" y="1885950"/>
            <a:ext cx="4762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F3F7FB"/>
                </a:solidFill>
                <a:latin typeface="Liberation Sans"/>
                <a:ea typeface="Liberation Sans"/>
                <a:cs typeface="Liberation Sans"/>
              </a:defRPr>
            </a:defPPr>
          </a:lstStyle>
          <a:p xmlns:a="http://schemas.openxmlformats.org/drawingml/2006/main">
            <a:pPr algn="l">
              <a:defRPr sz="1800" b="0">
                <a:solidFill>
                  <a:srgbClr val="F3F7FB"/>
                </a:solidFill>
                <a:latin typeface="Liberation Sans"/>
                <a:ea typeface="Liberation Sans"/>
                <a:cs typeface="Liberation Sans"/>
              </a:defRPr>
            </a:pPr>
            <a:r>
              <a:rPr sz="1800" b="0">
                <a:solidFill>
                  <a:srgbClr val="F3F7FB"/>
                </a:solidFill>
                <a:latin typeface="Liberation Sans"/>
                <a:ea typeface="Liberation Sans"/>
                <a:cs typeface="Liberation Sans"/>
              </a:rPr>
              <a:t>Python ETL   →   dbt run   →   dbt test</a:t>
            </a:r>
          </a:p>
        </p:txBody>
      </p:sp>
      <p:sp>
        <p:nvSpPr>
          <p:cNvPr id="9" name="shape-93">
            <a:extLst xmlns:a="http://schemas.openxmlformats.org/drawingml/2006/main">
              <a:ext uri="{FF2B5EF4-FFF2-40B4-BE49-F238E27FC236}">
                <a16:creationId xmlns:a16="http://schemas.microsoft.com/office/drawing/2014/main" id="{E9EEFEE7-05F1-429D-B0DC-8F002E1D888C}"/>
              </a:ext>
            </a:extLst>
          </p:cNvPr>
          <p:cNvSpPr>
            <a:spLocks xmlns:a="http://schemas.openxmlformats.org/drawingml/2006/main" noGrp="1"/>
          </p:cNvSpPr>
          <p:nvPr/>
        </p:nvSpPr>
        <p:spPr>
          <a:xfrm xmlns:a="http://schemas.openxmlformats.org/drawingml/2006/main">
            <a:off x="571500" y="3248025"/>
            <a:ext cx="1447800" cy="1409700"/>
          </a:xfrm>
          <a:prstGeom xmlns:a="http://schemas.openxmlformats.org/drawingml/2006/main" prst="roundRect">
            <a:avLst>
              <a:gd name="adj" fmla="val 8108"/>
            </a:avLst>
          </a:prstGeom>
          <a:solidFill xmlns:a="http://schemas.openxmlformats.org/drawingml/2006/main">
            <a:srgbClr val="122536"/>
          </a:solidFill>
          <a:ln xmlns:a="http://schemas.openxmlformats.org/drawingml/2006/main" w="9525">
            <a:solidFill>
              <a:srgbClr val="2A4052"/>
            </a:solidFill>
            <a:prstDash val="solid"/>
          </a:ln>
        </p:spPr>
      </p:sp>
      <p:sp>
        <p:nvSpPr>
          <p:cNvPr id="10" name="shape-94">
            <a:extLst xmlns:a="http://schemas.openxmlformats.org/drawingml/2006/main">
              <a:ext uri="{FF2B5EF4-FFF2-40B4-BE49-F238E27FC236}">
                <a16:creationId xmlns:a16="http://schemas.microsoft.com/office/drawing/2014/main" id="{410B6745-A39B-4ED0-8F6C-191E32ADC729}"/>
              </a:ext>
            </a:extLst>
          </p:cNvPr>
          <p:cNvSpPr>
            <a:spLocks xmlns:a="http://schemas.openxmlformats.org/drawingml/2006/main" noGrp="1"/>
          </p:cNvSpPr>
          <p:nvPr/>
        </p:nvSpPr>
        <p:spPr>
          <a:xfrm xmlns:a="http://schemas.openxmlformats.org/drawingml/2006/main">
            <a:off x="647700" y="3524250"/>
            <a:ext cx="12954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48DCE7"/>
                </a:solidFill>
                <a:latin typeface="Liberation Sans"/>
                <a:ea typeface="Liberation Sans"/>
                <a:cs typeface="Liberation Sans"/>
              </a:defRPr>
            </a:defPPr>
          </a:lstStyle>
          <a:p xmlns:a="http://schemas.openxmlformats.org/drawingml/2006/main">
            <a:pPr algn="ctr">
              <a:defRPr sz="1800" b="1">
                <a:solidFill>
                  <a:srgbClr val="48DCE7"/>
                </a:solidFill>
                <a:latin typeface="Liberation Sans"/>
                <a:ea typeface="Liberation Sans"/>
                <a:cs typeface="Liberation Sans"/>
              </a:defRPr>
            </a:pPr>
            <a:r>
              <a:rPr sz="1800" b="1">
                <a:solidFill>
                  <a:srgbClr val="48DCE7"/>
                </a:solidFill>
                <a:latin typeface="Liberation Sans"/>
                <a:ea typeface="Liberation Sans"/>
                <a:cs typeface="Liberation Sans"/>
              </a:rPr>
              <a:t>CSV</a:t>
            </a:r>
          </a:p>
        </p:txBody>
      </p:sp>
      <p:sp>
        <p:nvSpPr>
          <p:cNvPr id="11" name="shape-95">
            <a:extLst xmlns:a="http://schemas.openxmlformats.org/drawingml/2006/main">
              <a:ext uri="{FF2B5EF4-FFF2-40B4-BE49-F238E27FC236}">
                <a16:creationId xmlns:a16="http://schemas.microsoft.com/office/drawing/2014/main" id="{D1593706-0270-4D04-A0CC-8A3A0596AA7B}"/>
              </a:ext>
            </a:extLst>
          </p:cNvPr>
          <p:cNvSpPr>
            <a:spLocks xmlns:a="http://schemas.openxmlformats.org/drawingml/2006/main" noGrp="1"/>
          </p:cNvSpPr>
          <p:nvPr/>
        </p:nvSpPr>
        <p:spPr>
          <a:xfrm xmlns:a="http://schemas.openxmlformats.org/drawingml/2006/main">
            <a:off x="666750" y="3981450"/>
            <a:ext cx="1257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0">
                <a:solidFill>
                  <a:srgbClr val="F3F7FB"/>
                </a:solidFill>
                <a:latin typeface="Liberation Sans"/>
                <a:ea typeface="Liberation Sans"/>
                <a:cs typeface="Liberation Sans"/>
              </a:defRPr>
            </a:defPPr>
          </a:lstStyle>
          <a:p xmlns:a="http://schemas.openxmlformats.org/drawingml/2006/main">
            <a:pPr algn="ctr">
              <a:defRPr sz="1575" b="0">
                <a:solidFill>
                  <a:srgbClr val="F3F7FB"/>
                </a:solidFill>
                <a:latin typeface="Liberation Sans"/>
                <a:ea typeface="Liberation Sans"/>
                <a:cs typeface="Liberation Sans"/>
              </a:defRPr>
            </a:pPr>
            <a:r>
              <a:rPr sz="1575" b="0">
                <a:solidFill>
                  <a:srgbClr val="F3F7FB"/>
                </a:solidFill>
                <a:latin typeface="Liberation Sans"/>
                <a:ea typeface="Liberation Sans"/>
                <a:cs typeface="Liberation Sans"/>
              </a:rPr>
              <a:t>Source Data</a:t>
            </a:r>
          </a:p>
        </p:txBody>
      </p:sp>
      <p:sp>
        <p:nvSpPr>
          <p:cNvPr id="12" name="shape-96">
            <a:extLst xmlns:a="http://schemas.openxmlformats.org/drawingml/2006/main">
              <a:ext uri="{FF2B5EF4-FFF2-40B4-BE49-F238E27FC236}">
                <a16:creationId xmlns:a16="http://schemas.microsoft.com/office/drawing/2014/main" id="{A198F00B-168F-4806-A77D-3B96A230DAD9}"/>
              </a:ext>
            </a:extLst>
          </p:cNvPr>
          <p:cNvSpPr>
            <a:spLocks xmlns:a="http://schemas.openxmlformats.org/drawingml/2006/main" noGrp="1"/>
          </p:cNvSpPr>
          <p:nvPr/>
        </p:nvSpPr>
        <p:spPr>
          <a:xfrm xmlns:a="http://schemas.openxmlformats.org/drawingml/2006/main">
            <a:off x="2171700" y="3248025"/>
            <a:ext cx="1447800" cy="1409700"/>
          </a:xfrm>
          <a:prstGeom xmlns:a="http://schemas.openxmlformats.org/drawingml/2006/main" prst="roundRect">
            <a:avLst>
              <a:gd name="adj" fmla="val 8108"/>
            </a:avLst>
          </a:prstGeom>
          <a:solidFill xmlns:a="http://schemas.openxmlformats.org/drawingml/2006/main">
            <a:srgbClr val="122536"/>
          </a:solidFill>
          <a:ln xmlns:a="http://schemas.openxmlformats.org/drawingml/2006/main" w="9525">
            <a:solidFill>
              <a:srgbClr val="2A4052"/>
            </a:solidFill>
            <a:prstDash val="solid"/>
          </a:ln>
        </p:spPr>
      </p:sp>
      <p:sp>
        <p:nvSpPr>
          <p:cNvPr id="13" name="shape-97">
            <a:extLst xmlns:a="http://schemas.openxmlformats.org/drawingml/2006/main">
              <a:ext uri="{FF2B5EF4-FFF2-40B4-BE49-F238E27FC236}">
                <a16:creationId xmlns:a16="http://schemas.microsoft.com/office/drawing/2014/main" id="{71E0F185-1B02-46BD-BF3C-C6D2B6D78298}"/>
              </a:ext>
            </a:extLst>
          </p:cNvPr>
          <p:cNvSpPr>
            <a:spLocks xmlns:a="http://schemas.openxmlformats.org/drawingml/2006/main" noGrp="1"/>
          </p:cNvSpPr>
          <p:nvPr/>
        </p:nvSpPr>
        <p:spPr>
          <a:xfrm xmlns:a="http://schemas.openxmlformats.org/drawingml/2006/main">
            <a:off x="2247900" y="3524250"/>
            <a:ext cx="12954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48DCE7"/>
                </a:solidFill>
                <a:latin typeface="Liberation Sans"/>
                <a:ea typeface="Liberation Sans"/>
                <a:cs typeface="Liberation Sans"/>
              </a:defRPr>
            </a:defPPr>
          </a:lstStyle>
          <a:p xmlns:a="http://schemas.openxmlformats.org/drawingml/2006/main">
            <a:pPr algn="ctr">
              <a:defRPr sz="1800" b="1">
                <a:solidFill>
                  <a:srgbClr val="48DCE7"/>
                </a:solidFill>
                <a:latin typeface="Liberation Sans"/>
                <a:ea typeface="Liberation Sans"/>
                <a:cs typeface="Liberation Sans"/>
              </a:defRPr>
            </a:pPr>
            <a:r>
              <a:rPr sz="1800" b="1">
                <a:solidFill>
                  <a:srgbClr val="48DCE7"/>
                </a:solidFill>
                <a:latin typeface="Liberation Sans"/>
                <a:ea typeface="Liberation Sans"/>
                <a:cs typeface="Liberation Sans"/>
              </a:rPr>
              <a:t>Python</a:t>
            </a:r>
          </a:p>
        </p:txBody>
      </p:sp>
      <p:sp>
        <p:nvSpPr>
          <p:cNvPr id="14" name="shape-98">
            <a:extLst xmlns:a="http://schemas.openxmlformats.org/drawingml/2006/main">
              <a:ext uri="{FF2B5EF4-FFF2-40B4-BE49-F238E27FC236}">
                <a16:creationId xmlns:a16="http://schemas.microsoft.com/office/drawing/2014/main" id="{C73032EB-3F7B-4A1D-9A14-13230F42B283}"/>
              </a:ext>
            </a:extLst>
          </p:cNvPr>
          <p:cNvSpPr>
            <a:spLocks xmlns:a="http://schemas.openxmlformats.org/drawingml/2006/main" noGrp="1"/>
          </p:cNvSpPr>
          <p:nvPr/>
        </p:nvSpPr>
        <p:spPr>
          <a:xfrm xmlns:a="http://schemas.openxmlformats.org/drawingml/2006/main">
            <a:off x="2266950" y="3981450"/>
            <a:ext cx="1257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0">
                <a:solidFill>
                  <a:srgbClr val="F3F7FB"/>
                </a:solidFill>
                <a:latin typeface="Liberation Sans"/>
                <a:ea typeface="Liberation Sans"/>
                <a:cs typeface="Liberation Sans"/>
              </a:defRPr>
            </a:defPPr>
          </a:lstStyle>
          <a:p xmlns:a="http://schemas.openxmlformats.org/drawingml/2006/main">
            <a:pPr algn="ctr">
              <a:defRPr sz="1575" b="0">
                <a:solidFill>
                  <a:srgbClr val="F3F7FB"/>
                </a:solidFill>
                <a:latin typeface="Liberation Sans"/>
                <a:ea typeface="Liberation Sans"/>
                <a:cs typeface="Liberation Sans"/>
              </a:defRPr>
            </a:pPr>
            <a:r>
              <a:rPr sz="1575" b="0">
                <a:solidFill>
                  <a:srgbClr val="F3F7FB"/>
                </a:solidFill>
                <a:latin typeface="Liberation Sans"/>
                <a:ea typeface="Liberation Sans"/>
                <a:cs typeface="Liberation Sans"/>
              </a:rPr>
              <a:t>ETL</a:t>
            </a:r>
          </a:p>
        </p:txBody>
      </p:sp>
      <p:sp>
        <p:nvSpPr>
          <p:cNvPr id="15" name="shape-99">
            <a:extLst xmlns:a="http://schemas.openxmlformats.org/drawingml/2006/main">
              <a:ext uri="{FF2B5EF4-FFF2-40B4-BE49-F238E27FC236}">
                <a16:creationId xmlns:a16="http://schemas.microsoft.com/office/drawing/2014/main" id="{19A10665-7910-4104-9FA7-5488F98AD680}"/>
              </a:ext>
            </a:extLst>
          </p:cNvPr>
          <p:cNvSpPr>
            <a:spLocks xmlns:a="http://schemas.openxmlformats.org/drawingml/2006/main" noGrp="1"/>
          </p:cNvSpPr>
          <p:nvPr/>
        </p:nvSpPr>
        <p:spPr>
          <a:xfrm xmlns:a="http://schemas.openxmlformats.org/drawingml/2006/main">
            <a:off x="3771900" y="3248025"/>
            <a:ext cx="1447800" cy="1409700"/>
          </a:xfrm>
          <a:prstGeom xmlns:a="http://schemas.openxmlformats.org/drawingml/2006/main" prst="roundRect">
            <a:avLst>
              <a:gd name="adj" fmla="val 8108"/>
            </a:avLst>
          </a:prstGeom>
          <a:solidFill xmlns:a="http://schemas.openxmlformats.org/drawingml/2006/main">
            <a:srgbClr val="122536"/>
          </a:solidFill>
          <a:ln xmlns:a="http://schemas.openxmlformats.org/drawingml/2006/main" w="9525">
            <a:solidFill>
              <a:srgbClr val="2A4052"/>
            </a:solidFill>
            <a:prstDash val="solid"/>
          </a:ln>
        </p:spPr>
      </p:sp>
      <p:sp>
        <p:nvSpPr>
          <p:cNvPr id="16" name="shape-100">
            <a:extLst xmlns:a="http://schemas.openxmlformats.org/drawingml/2006/main">
              <a:ext uri="{FF2B5EF4-FFF2-40B4-BE49-F238E27FC236}">
                <a16:creationId xmlns:a16="http://schemas.microsoft.com/office/drawing/2014/main" id="{10E9A8AE-1387-468F-A6A5-4446EEC76571}"/>
              </a:ext>
            </a:extLst>
          </p:cNvPr>
          <p:cNvSpPr>
            <a:spLocks xmlns:a="http://schemas.openxmlformats.org/drawingml/2006/main" noGrp="1"/>
          </p:cNvSpPr>
          <p:nvPr/>
        </p:nvSpPr>
        <p:spPr>
          <a:xfrm xmlns:a="http://schemas.openxmlformats.org/drawingml/2006/main">
            <a:off x="3848100" y="3524250"/>
            <a:ext cx="12954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1">
                <a:solidFill>
                  <a:srgbClr val="48DCE7"/>
                </a:solidFill>
                <a:latin typeface="Liberation Sans"/>
                <a:ea typeface="Liberation Sans"/>
                <a:cs typeface="Liberation Sans"/>
              </a:defRPr>
            </a:defPPr>
          </a:lstStyle>
          <a:p xmlns:a="http://schemas.openxmlformats.org/drawingml/2006/main">
            <a:pPr algn="ctr">
              <a:defRPr sz="1500" b="1">
                <a:solidFill>
                  <a:srgbClr val="48DCE7"/>
                </a:solidFill>
                <a:latin typeface="Liberation Sans"/>
                <a:ea typeface="Liberation Sans"/>
                <a:cs typeface="Liberation Sans"/>
              </a:defRPr>
            </a:pPr>
            <a:r>
              <a:rPr sz="1500" b="1">
                <a:solidFill>
                  <a:srgbClr val="48DCE7"/>
                </a:solidFill>
                <a:latin typeface="Liberation Sans"/>
                <a:ea typeface="Liberation Sans"/>
                <a:cs typeface="Liberation Sans"/>
              </a:rPr>
              <a:t>PostgreSQL</a:t>
            </a:r>
          </a:p>
        </p:txBody>
      </p:sp>
      <p:sp>
        <p:nvSpPr>
          <p:cNvPr id="17" name="shape-101">
            <a:extLst xmlns:a="http://schemas.openxmlformats.org/drawingml/2006/main">
              <a:ext uri="{FF2B5EF4-FFF2-40B4-BE49-F238E27FC236}">
                <a16:creationId xmlns:a16="http://schemas.microsoft.com/office/drawing/2014/main" id="{FAAF2004-5755-486F-ABE0-110297ADD5E7}"/>
              </a:ext>
            </a:extLst>
          </p:cNvPr>
          <p:cNvSpPr>
            <a:spLocks xmlns:a="http://schemas.openxmlformats.org/drawingml/2006/main" noGrp="1"/>
          </p:cNvSpPr>
          <p:nvPr/>
        </p:nvSpPr>
        <p:spPr>
          <a:xfrm xmlns:a="http://schemas.openxmlformats.org/drawingml/2006/main">
            <a:off x="3867150" y="3981450"/>
            <a:ext cx="1257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0">
                <a:solidFill>
                  <a:srgbClr val="F3F7FB"/>
                </a:solidFill>
                <a:latin typeface="Liberation Sans"/>
                <a:ea typeface="Liberation Sans"/>
                <a:cs typeface="Liberation Sans"/>
              </a:defRPr>
            </a:defPPr>
          </a:lstStyle>
          <a:p xmlns:a="http://schemas.openxmlformats.org/drawingml/2006/main">
            <a:pPr algn="ctr">
              <a:defRPr sz="1575" b="0">
                <a:solidFill>
                  <a:srgbClr val="F3F7FB"/>
                </a:solidFill>
                <a:latin typeface="Liberation Sans"/>
                <a:ea typeface="Liberation Sans"/>
                <a:cs typeface="Liberation Sans"/>
              </a:defRPr>
            </a:pPr>
            <a:r>
              <a:rPr sz="1575" b="0">
                <a:solidFill>
                  <a:srgbClr val="F3F7FB"/>
                </a:solidFill>
                <a:latin typeface="Liberation Sans"/>
                <a:ea typeface="Liberation Sans"/>
                <a:cs typeface="Liberation Sans"/>
              </a:rPr>
              <a:t>Raw Layer</a:t>
            </a:r>
          </a:p>
        </p:txBody>
      </p:sp>
      <p:sp>
        <p:nvSpPr>
          <p:cNvPr id="18" name="shape-102">
            <a:extLst xmlns:a="http://schemas.openxmlformats.org/drawingml/2006/main">
              <a:ext uri="{FF2B5EF4-FFF2-40B4-BE49-F238E27FC236}">
                <a16:creationId xmlns:a16="http://schemas.microsoft.com/office/drawing/2014/main" id="{692D05EE-26C1-4078-ABA2-E84CEC83DFB8}"/>
              </a:ext>
            </a:extLst>
          </p:cNvPr>
          <p:cNvSpPr>
            <a:spLocks xmlns:a="http://schemas.openxmlformats.org/drawingml/2006/main" noGrp="1"/>
          </p:cNvSpPr>
          <p:nvPr/>
        </p:nvSpPr>
        <p:spPr>
          <a:xfrm xmlns:a="http://schemas.openxmlformats.org/drawingml/2006/main">
            <a:off x="5372100" y="3248025"/>
            <a:ext cx="1447800" cy="1409700"/>
          </a:xfrm>
          <a:prstGeom xmlns:a="http://schemas.openxmlformats.org/drawingml/2006/main" prst="roundRect">
            <a:avLst>
              <a:gd name="adj" fmla="val 8108"/>
            </a:avLst>
          </a:prstGeom>
          <a:solidFill xmlns:a="http://schemas.openxmlformats.org/drawingml/2006/main">
            <a:srgbClr val="122536"/>
          </a:solidFill>
          <a:ln xmlns:a="http://schemas.openxmlformats.org/drawingml/2006/main" w="9525">
            <a:solidFill>
              <a:srgbClr val="2A4052"/>
            </a:solidFill>
            <a:prstDash val="solid"/>
          </a:ln>
        </p:spPr>
      </p:sp>
      <p:sp>
        <p:nvSpPr>
          <p:cNvPr id="19" name="shape-103">
            <a:extLst xmlns:a="http://schemas.openxmlformats.org/drawingml/2006/main">
              <a:ext uri="{FF2B5EF4-FFF2-40B4-BE49-F238E27FC236}">
                <a16:creationId xmlns:a16="http://schemas.microsoft.com/office/drawing/2014/main" id="{8158F2D2-EF2C-4C8C-8BEE-CCC175F8AA8B}"/>
              </a:ext>
            </a:extLst>
          </p:cNvPr>
          <p:cNvSpPr>
            <a:spLocks xmlns:a="http://schemas.openxmlformats.org/drawingml/2006/main" noGrp="1"/>
          </p:cNvSpPr>
          <p:nvPr/>
        </p:nvSpPr>
        <p:spPr>
          <a:xfrm xmlns:a="http://schemas.openxmlformats.org/drawingml/2006/main">
            <a:off x="5448300" y="3524250"/>
            <a:ext cx="12954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48DCE7"/>
                </a:solidFill>
                <a:latin typeface="Liberation Sans"/>
                <a:ea typeface="Liberation Sans"/>
                <a:cs typeface="Liberation Sans"/>
              </a:defRPr>
            </a:defPPr>
          </a:lstStyle>
          <a:p xmlns:a="http://schemas.openxmlformats.org/drawingml/2006/main">
            <a:pPr algn="ctr">
              <a:defRPr sz="1800" b="1">
                <a:solidFill>
                  <a:srgbClr val="48DCE7"/>
                </a:solidFill>
                <a:latin typeface="Liberation Sans"/>
                <a:ea typeface="Liberation Sans"/>
                <a:cs typeface="Liberation Sans"/>
              </a:defRPr>
            </a:pPr>
            <a:r>
              <a:rPr sz="1800" b="1">
                <a:solidFill>
                  <a:srgbClr val="48DCE7"/>
                </a:solidFill>
                <a:latin typeface="Liberation Sans"/>
                <a:ea typeface="Liberation Sans"/>
                <a:cs typeface="Liberation Sans"/>
              </a:rPr>
              <a:t>dbt</a:t>
            </a:r>
          </a:p>
        </p:txBody>
      </p:sp>
      <p:sp>
        <p:nvSpPr>
          <p:cNvPr id="20" name="shape-104">
            <a:extLst xmlns:a="http://schemas.openxmlformats.org/drawingml/2006/main">
              <a:ext uri="{FF2B5EF4-FFF2-40B4-BE49-F238E27FC236}">
                <a16:creationId xmlns:a16="http://schemas.microsoft.com/office/drawing/2014/main" id="{9C878318-5989-43F1-94C3-8C3E87A1BEE9}"/>
              </a:ext>
            </a:extLst>
          </p:cNvPr>
          <p:cNvSpPr>
            <a:spLocks xmlns:a="http://schemas.openxmlformats.org/drawingml/2006/main" noGrp="1"/>
          </p:cNvSpPr>
          <p:nvPr/>
        </p:nvSpPr>
        <p:spPr>
          <a:xfrm xmlns:a="http://schemas.openxmlformats.org/drawingml/2006/main">
            <a:off x="5467350" y="3981450"/>
            <a:ext cx="1257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0">
                <a:solidFill>
                  <a:srgbClr val="F3F7FB"/>
                </a:solidFill>
                <a:latin typeface="Liberation Sans"/>
                <a:ea typeface="Liberation Sans"/>
                <a:cs typeface="Liberation Sans"/>
              </a:defRPr>
            </a:defPPr>
          </a:lstStyle>
          <a:p xmlns:a="http://schemas.openxmlformats.org/drawingml/2006/main">
            <a:pPr algn="ctr">
              <a:defRPr sz="1575" b="0">
                <a:solidFill>
                  <a:srgbClr val="F3F7FB"/>
                </a:solidFill>
                <a:latin typeface="Liberation Sans"/>
                <a:ea typeface="Liberation Sans"/>
                <a:cs typeface="Liberation Sans"/>
              </a:defRPr>
            </a:pPr>
            <a:r>
              <a:rPr sz="1575" b="0">
                <a:solidFill>
                  <a:srgbClr val="F3F7FB"/>
                </a:solidFill>
                <a:latin typeface="Liberation Sans"/>
                <a:ea typeface="Liberation Sans"/>
                <a:cs typeface="Liberation Sans"/>
              </a:rPr>
              <a:t>Transform</a:t>
            </a:r>
          </a:p>
          <a:p xmlns:a="http://schemas.openxmlformats.org/drawingml/2006/main">
            <a:pPr algn="ctr">
              <a:defRPr sz="1575" b="0">
                <a:solidFill>
                  <a:srgbClr val="F3F7FB"/>
                </a:solidFill>
                <a:latin typeface="Liberation Sans"/>
                <a:ea typeface="Liberation Sans"/>
                <a:cs typeface="Liberation Sans"/>
              </a:defRPr>
            </a:pPr>
            <a:r>
              <a:rPr sz="1575" b="0">
                <a:solidFill>
                  <a:srgbClr val="F3F7FB"/>
                </a:solidFill>
                <a:latin typeface="Liberation Sans"/>
                <a:ea typeface="Liberation Sans"/>
                <a:cs typeface="Liberation Sans"/>
              </a:rPr>
              <a:t>Layer</a:t>
            </a:r>
          </a:p>
        </p:txBody>
      </p:sp>
      <p:sp>
        <p:nvSpPr>
          <p:cNvPr id="21" name="shape-105">
            <a:extLst xmlns:a="http://schemas.openxmlformats.org/drawingml/2006/main">
              <a:ext uri="{FF2B5EF4-FFF2-40B4-BE49-F238E27FC236}">
                <a16:creationId xmlns:a16="http://schemas.microsoft.com/office/drawing/2014/main" id="{0F2BB7B8-EDC9-4C9E-B3E7-5750462894DF}"/>
              </a:ext>
            </a:extLst>
          </p:cNvPr>
          <p:cNvSpPr>
            <a:spLocks xmlns:a="http://schemas.openxmlformats.org/drawingml/2006/main" noGrp="1"/>
          </p:cNvSpPr>
          <p:nvPr/>
        </p:nvSpPr>
        <p:spPr>
          <a:xfrm xmlns:a="http://schemas.openxmlformats.org/drawingml/2006/main">
            <a:off x="6972300" y="3248025"/>
            <a:ext cx="1447800" cy="1409700"/>
          </a:xfrm>
          <a:prstGeom xmlns:a="http://schemas.openxmlformats.org/drawingml/2006/main" prst="roundRect">
            <a:avLst>
              <a:gd name="adj" fmla="val 8108"/>
            </a:avLst>
          </a:prstGeom>
          <a:solidFill xmlns:a="http://schemas.openxmlformats.org/drawingml/2006/main">
            <a:srgbClr val="122536"/>
          </a:solidFill>
          <a:ln xmlns:a="http://schemas.openxmlformats.org/drawingml/2006/main" w="9525">
            <a:solidFill>
              <a:srgbClr val="2A4052"/>
            </a:solidFill>
            <a:prstDash val="solid"/>
          </a:ln>
        </p:spPr>
      </p:sp>
      <p:sp>
        <p:nvSpPr>
          <p:cNvPr id="22" name="shape-106">
            <a:extLst xmlns:a="http://schemas.openxmlformats.org/drawingml/2006/main">
              <a:ext uri="{FF2B5EF4-FFF2-40B4-BE49-F238E27FC236}">
                <a16:creationId xmlns:a16="http://schemas.microsoft.com/office/drawing/2014/main" id="{3D5EC561-5BEF-4D2C-ABF5-D104DF8668AD}"/>
              </a:ext>
            </a:extLst>
          </p:cNvPr>
          <p:cNvSpPr>
            <a:spLocks xmlns:a="http://schemas.openxmlformats.org/drawingml/2006/main" noGrp="1"/>
          </p:cNvSpPr>
          <p:nvPr/>
        </p:nvSpPr>
        <p:spPr>
          <a:xfrm xmlns:a="http://schemas.openxmlformats.org/drawingml/2006/main">
            <a:off x="7048500" y="3524250"/>
            <a:ext cx="12954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1">
                <a:solidFill>
                  <a:srgbClr val="48DCE7"/>
                </a:solidFill>
                <a:latin typeface="Liberation Sans"/>
                <a:ea typeface="Liberation Sans"/>
                <a:cs typeface="Liberation Sans"/>
              </a:defRPr>
            </a:defPPr>
          </a:lstStyle>
          <a:p xmlns:a="http://schemas.openxmlformats.org/drawingml/2006/main">
            <a:pPr algn="ctr">
              <a:defRPr sz="1500" b="1">
                <a:solidFill>
                  <a:srgbClr val="48DCE7"/>
                </a:solidFill>
                <a:latin typeface="Liberation Sans"/>
                <a:ea typeface="Liberation Sans"/>
                <a:cs typeface="Liberation Sans"/>
              </a:defRPr>
            </a:pPr>
            <a:r>
              <a:rPr sz="1500" b="1">
                <a:solidFill>
                  <a:srgbClr val="48DCE7"/>
                </a:solidFill>
                <a:latin typeface="Liberation Sans"/>
                <a:ea typeface="Liberation Sans"/>
                <a:cs typeface="Liberation Sans"/>
              </a:rPr>
              <a:t>Data Quality</a:t>
            </a:r>
          </a:p>
        </p:txBody>
      </p:sp>
      <p:sp>
        <p:nvSpPr>
          <p:cNvPr id="23" name="shape-107">
            <a:extLst xmlns:a="http://schemas.openxmlformats.org/drawingml/2006/main">
              <a:ext uri="{FF2B5EF4-FFF2-40B4-BE49-F238E27FC236}">
                <a16:creationId xmlns:a16="http://schemas.microsoft.com/office/drawing/2014/main" id="{ED3F9A62-C5DD-4877-B239-529D54665BBF}"/>
              </a:ext>
            </a:extLst>
          </p:cNvPr>
          <p:cNvSpPr>
            <a:spLocks xmlns:a="http://schemas.openxmlformats.org/drawingml/2006/main" noGrp="1"/>
          </p:cNvSpPr>
          <p:nvPr/>
        </p:nvSpPr>
        <p:spPr>
          <a:xfrm xmlns:a="http://schemas.openxmlformats.org/drawingml/2006/main">
            <a:off x="7067550" y="3981450"/>
            <a:ext cx="1257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0">
                <a:solidFill>
                  <a:srgbClr val="F3F7FB"/>
                </a:solidFill>
                <a:latin typeface="Liberation Sans"/>
                <a:ea typeface="Liberation Sans"/>
                <a:cs typeface="Liberation Sans"/>
              </a:defRPr>
            </a:defPPr>
          </a:lstStyle>
          <a:p xmlns:a="http://schemas.openxmlformats.org/drawingml/2006/main">
            <a:pPr algn="ctr">
              <a:defRPr sz="1575" b="0">
                <a:solidFill>
                  <a:srgbClr val="F3F7FB"/>
                </a:solidFill>
                <a:latin typeface="Liberation Sans"/>
                <a:ea typeface="Liberation Sans"/>
                <a:cs typeface="Liberation Sans"/>
              </a:defRPr>
            </a:pPr>
            <a:r>
              <a:rPr sz="1575" b="0">
                <a:solidFill>
                  <a:srgbClr val="F3F7FB"/>
                </a:solidFill>
                <a:latin typeface="Liberation Sans"/>
                <a:ea typeface="Liberation Sans"/>
                <a:cs typeface="Liberation Sans"/>
              </a:rPr>
              <a:t>Tests</a:t>
            </a:r>
          </a:p>
        </p:txBody>
      </p:sp>
      <p:sp>
        <p:nvSpPr>
          <p:cNvPr id="24" name="shape-108">
            <a:extLst xmlns:a="http://schemas.openxmlformats.org/drawingml/2006/main">
              <a:ext uri="{FF2B5EF4-FFF2-40B4-BE49-F238E27FC236}">
                <a16:creationId xmlns:a16="http://schemas.microsoft.com/office/drawing/2014/main" id="{FBEE0078-02A9-4036-9D5A-8428AAA80872}"/>
              </a:ext>
            </a:extLst>
          </p:cNvPr>
          <p:cNvSpPr>
            <a:spLocks xmlns:a="http://schemas.openxmlformats.org/drawingml/2006/main" noGrp="1"/>
          </p:cNvSpPr>
          <p:nvPr/>
        </p:nvSpPr>
        <p:spPr>
          <a:xfrm xmlns:a="http://schemas.openxmlformats.org/drawingml/2006/main">
            <a:off x="8572500" y="3248025"/>
            <a:ext cx="1447800" cy="1409700"/>
          </a:xfrm>
          <a:prstGeom xmlns:a="http://schemas.openxmlformats.org/drawingml/2006/main" prst="roundRect">
            <a:avLst>
              <a:gd name="adj" fmla="val 8108"/>
            </a:avLst>
          </a:prstGeom>
          <a:solidFill xmlns:a="http://schemas.openxmlformats.org/drawingml/2006/main">
            <a:srgbClr val="122536"/>
          </a:solidFill>
          <a:ln xmlns:a="http://schemas.openxmlformats.org/drawingml/2006/main" w="9525">
            <a:solidFill>
              <a:srgbClr val="2A4052"/>
            </a:solidFill>
            <a:prstDash val="solid"/>
          </a:ln>
        </p:spPr>
      </p:sp>
      <p:sp>
        <p:nvSpPr>
          <p:cNvPr id="25" name="shape-109">
            <a:extLst xmlns:a="http://schemas.openxmlformats.org/drawingml/2006/main">
              <a:ext uri="{FF2B5EF4-FFF2-40B4-BE49-F238E27FC236}">
                <a16:creationId xmlns:a16="http://schemas.microsoft.com/office/drawing/2014/main" id="{3C89F1AD-F5BD-4006-B754-8CB3190FAA4E}"/>
              </a:ext>
            </a:extLst>
          </p:cNvPr>
          <p:cNvSpPr>
            <a:spLocks xmlns:a="http://schemas.openxmlformats.org/drawingml/2006/main" noGrp="1"/>
          </p:cNvSpPr>
          <p:nvPr/>
        </p:nvSpPr>
        <p:spPr>
          <a:xfrm xmlns:a="http://schemas.openxmlformats.org/drawingml/2006/main">
            <a:off x="8648700" y="3524250"/>
            <a:ext cx="12954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48DCE7"/>
                </a:solidFill>
                <a:latin typeface="Liberation Sans"/>
                <a:ea typeface="Liberation Sans"/>
                <a:cs typeface="Liberation Sans"/>
              </a:defRPr>
            </a:defPPr>
          </a:lstStyle>
          <a:p xmlns:a="http://schemas.openxmlformats.org/drawingml/2006/main">
            <a:pPr algn="ctr">
              <a:defRPr sz="1800" b="1">
                <a:solidFill>
                  <a:srgbClr val="48DCE7"/>
                </a:solidFill>
                <a:latin typeface="Liberation Sans"/>
                <a:ea typeface="Liberation Sans"/>
                <a:cs typeface="Liberation Sans"/>
              </a:defRPr>
            </a:pPr>
            <a:r>
              <a:rPr sz="1800" b="1">
                <a:solidFill>
                  <a:srgbClr val="48DCE7"/>
                </a:solidFill>
                <a:latin typeface="Liberation Sans"/>
                <a:ea typeface="Liberation Sans"/>
                <a:cs typeface="Liberation Sans"/>
              </a:rPr>
              <a:t>Analytics</a:t>
            </a:r>
          </a:p>
        </p:txBody>
      </p:sp>
      <p:sp>
        <p:nvSpPr>
          <p:cNvPr id="26" name="shape-110">
            <a:extLst xmlns:a="http://schemas.openxmlformats.org/drawingml/2006/main">
              <a:ext uri="{FF2B5EF4-FFF2-40B4-BE49-F238E27FC236}">
                <a16:creationId xmlns:a16="http://schemas.microsoft.com/office/drawing/2014/main" id="{CC29FA7D-1BBD-417D-A67B-D649D545EF50}"/>
              </a:ext>
            </a:extLst>
          </p:cNvPr>
          <p:cNvSpPr>
            <a:spLocks xmlns:a="http://schemas.openxmlformats.org/drawingml/2006/main" noGrp="1"/>
          </p:cNvSpPr>
          <p:nvPr/>
        </p:nvSpPr>
        <p:spPr>
          <a:xfrm xmlns:a="http://schemas.openxmlformats.org/drawingml/2006/main">
            <a:off x="8667750" y="3981450"/>
            <a:ext cx="1257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0">
                <a:solidFill>
                  <a:srgbClr val="F3F7FB"/>
                </a:solidFill>
                <a:latin typeface="Liberation Sans"/>
                <a:ea typeface="Liberation Sans"/>
                <a:cs typeface="Liberation Sans"/>
              </a:defRPr>
            </a:defPPr>
          </a:lstStyle>
          <a:p xmlns:a="http://schemas.openxmlformats.org/drawingml/2006/main">
            <a:pPr algn="ctr">
              <a:defRPr sz="1575" b="0">
                <a:solidFill>
                  <a:srgbClr val="F3F7FB"/>
                </a:solidFill>
                <a:latin typeface="Liberation Sans"/>
                <a:ea typeface="Liberation Sans"/>
                <a:cs typeface="Liberation Sans"/>
              </a:defRPr>
            </a:pPr>
            <a:r>
              <a:rPr sz="1575" b="0">
                <a:solidFill>
                  <a:srgbClr val="F3F7FB"/>
                </a:solidFill>
                <a:latin typeface="Liberation Sans"/>
                <a:ea typeface="Liberation Sans"/>
                <a:cs typeface="Liberation Sans"/>
              </a:rPr>
              <a:t>Models</a:t>
            </a:r>
          </a:p>
        </p:txBody>
      </p:sp>
      <p:sp>
        <p:nvSpPr>
          <p:cNvPr id="27" name="shape-111">
            <a:extLst xmlns:a="http://schemas.openxmlformats.org/drawingml/2006/main">
              <a:ext uri="{FF2B5EF4-FFF2-40B4-BE49-F238E27FC236}">
                <a16:creationId xmlns:a16="http://schemas.microsoft.com/office/drawing/2014/main" id="{8FA9F6C1-8C43-455B-8802-8D219971FC50}"/>
              </a:ext>
            </a:extLst>
          </p:cNvPr>
          <p:cNvSpPr>
            <a:spLocks xmlns:a="http://schemas.openxmlformats.org/drawingml/2006/main" noGrp="1"/>
          </p:cNvSpPr>
          <p:nvPr/>
        </p:nvSpPr>
        <p:spPr>
          <a:xfrm xmlns:a="http://schemas.openxmlformats.org/drawingml/2006/main">
            <a:off x="10172700" y="3248025"/>
            <a:ext cx="1447800" cy="1409700"/>
          </a:xfrm>
          <a:prstGeom xmlns:a="http://schemas.openxmlformats.org/drawingml/2006/main" prst="roundRect">
            <a:avLst>
              <a:gd name="adj" fmla="val 8108"/>
            </a:avLst>
          </a:prstGeom>
          <a:solidFill xmlns:a="http://schemas.openxmlformats.org/drawingml/2006/main">
            <a:srgbClr val="122536"/>
          </a:solidFill>
          <a:ln xmlns:a="http://schemas.openxmlformats.org/drawingml/2006/main" w="9525">
            <a:solidFill>
              <a:srgbClr val="39DBB0"/>
            </a:solidFill>
            <a:prstDash val="solid"/>
          </a:ln>
        </p:spPr>
      </p:sp>
      <p:sp>
        <p:nvSpPr>
          <p:cNvPr id="28" name="shape-112">
            <a:extLst xmlns:a="http://schemas.openxmlformats.org/drawingml/2006/main">
              <a:ext uri="{FF2B5EF4-FFF2-40B4-BE49-F238E27FC236}">
                <a16:creationId xmlns:a16="http://schemas.microsoft.com/office/drawing/2014/main" id="{0ECEF7C7-7438-4144-9310-579B5E4D2A5D}"/>
              </a:ext>
            </a:extLst>
          </p:cNvPr>
          <p:cNvSpPr>
            <a:spLocks xmlns:a="http://schemas.openxmlformats.org/drawingml/2006/main" noGrp="1"/>
          </p:cNvSpPr>
          <p:nvPr/>
        </p:nvSpPr>
        <p:spPr>
          <a:xfrm xmlns:a="http://schemas.openxmlformats.org/drawingml/2006/main">
            <a:off x="10248900" y="3524250"/>
            <a:ext cx="12954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39DBB0"/>
                </a:solidFill>
                <a:latin typeface="Liberation Sans"/>
                <a:ea typeface="Liberation Sans"/>
                <a:cs typeface="Liberation Sans"/>
              </a:defRPr>
            </a:defPPr>
          </a:lstStyle>
          <a:p xmlns:a="http://schemas.openxmlformats.org/drawingml/2006/main">
            <a:pPr algn="ctr">
              <a:defRPr sz="1800" b="1">
                <a:solidFill>
                  <a:srgbClr val="39DBB0"/>
                </a:solidFill>
                <a:latin typeface="Liberation Sans"/>
                <a:ea typeface="Liberation Sans"/>
                <a:cs typeface="Liberation Sans"/>
              </a:defRPr>
            </a:pPr>
            <a:r>
              <a:rPr sz="1800" b="1">
                <a:solidFill>
                  <a:srgbClr val="39DBB0"/>
                </a:solidFill>
                <a:latin typeface="Liberation Sans"/>
                <a:ea typeface="Liberation Sans"/>
                <a:cs typeface="Liberation Sans"/>
              </a:rPr>
              <a:t>Power BI</a:t>
            </a:r>
          </a:p>
        </p:txBody>
      </p:sp>
      <p:sp>
        <p:nvSpPr>
          <p:cNvPr id="29" name="shape-113">
            <a:extLst xmlns:a="http://schemas.openxmlformats.org/drawingml/2006/main">
              <a:ext uri="{FF2B5EF4-FFF2-40B4-BE49-F238E27FC236}">
                <a16:creationId xmlns:a16="http://schemas.microsoft.com/office/drawing/2014/main" id="{E761C0B6-0018-429C-9E2B-29244AE6F528}"/>
              </a:ext>
            </a:extLst>
          </p:cNvPr>
          <p:cNvSpPr>
            <a:spLocks xmlns:a="http://schemas.openxmlformats.org/drawingml/2006/main" noGrp="1"/>
          </p:cNvSpPr>
          <p:nvPr/>
        </p:nvSpPr>
        <p:spPr>
          <a:xfrm xmlns:a="http://schemas.openxmlformats.org/drawingml/2006/main">
            <a:off x="10267950" y="3981450"/>
            <a:ext cx="1257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0">
                <a:solidFill>
                  <a:srgbClr val="F3F7FB"/>
                </a:solidFill>
                <a:latin typeface="Liberation Sans"/>
                <a:ea typeface="Liberation Sans"/>
                <a:cs typeface="Liberation Sans"/>
              </a:defRPr>
            </a:defPPr>
          </a:lstStyle>
          <a:p xmlns:a="http://schemas.openxmlformats.org/drawingml/2006/main">
            <a:pPr algn="ctr">
              <a:defRPr sz="1575" b="0">
                <a:solidFill>
                  <a:srgbClr val="F3F7FB"/>
                </a:solidFill>
                <a:latin typeface="Liberation Sans"/>
                <a:ea typeface="Liberation Sans"/>
                <a:cs typeface="Liberation Sans"/>
              </a:defRPr>
            </a:pPr>
            <a:r>
              <a:rPr sz="1575" b="0">
                <a:solidFill>
                  <a:srgbClr val="F3F7FB"/>
                </a:solidFill>
                <a:latin typeface="Liberation Sans"/>
                <a:ea typeface="Liberation Sans"/>
                <a:cs typeface="Liberation Sans"/>
              </a:rPr>
              <a:t>Dashboard</a:t>
            </a:r>
          </a:p>
        </p:txBody>
      </p:sp>
      <p:sp>
        <p:nvSpPr>
          <p:cNvPr id="36" name="shape-114">
            <a:extLst xmlns:a="http://schemas.openxmlformats.org/drawingml/2006/main">
              <a:ext uri="{FF2B5EF4-FFF2-40B4-BE49-F238E27FC236}">
                <a16:creationId xmlns:a16="http://schemas.microsoft.com/office/drawing/2014/main" id="{C5F11864-A284-48F7-8C26-1DA61DC7C7AA}"/>
              </a:ext>
            </a:extLst>
          </p:cNvPr>
          <p:cNvSpPr>
            <a:spLocks xmlns:a="http://schemas.openxmlformats.org/drawingml/2006/main" noGrp="1"/>
          </p:cNvSpPr>
          <p:nvPr/>
        </p:nvSpPr>
        <p:spPr>
          <a:xfrm xmlns:a="http://schemas.openxmlformats.org/drawingml/2006/main">
            <a:off x="2886075" y="24765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8" name="shape-115">
            <a:extLst xmlns:a="http://schemas.openxmlformats.org/drawingml/2006/main">
              <a:ext uri="{FF2B5EF4-FFF2-40B4-BE49-F238E27FC236}">
                <a16:creationId xmlns:a16="http://schemas.microsoft.com/office/drawing/2014/main" id="{4DEA964A-76E9-45FC-A51B-540ADA5D0467}"/>
              </a:ext>
            </a:extLst>
          </p:cNvPr>
          <p:cNvSpPr>
            <a:spLocks xmlns:a="http://schemas.openxmlformats.org/drawingml/2006/main" noGrp="1"/>
          </p:cNvSpPr>
          <p:nvPr/>
        </p:nvSpPr>
        <p:spPr>
          <a:xfrm xmlns:a="http://schemas.openxmlformats.org/drawingml/2006/main">
            <a:off x="6086475" y="24765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0" name="shape-116">
            <a:extLst xmlns:a="http://schemas.openxmlformats.org/drawingml/2006/main">
              <a:ext uri="{FF2B5EF4-FFF2-40B4-BE49-F238E27FC236}">
                <a16:creationId xmlns:a16="http://schemas.microsoft.com/office/drawing/2014/main" id="{161B28BC-D502-48AA-96F3-1341B6A4252E}"/>
              </a:ext>
            </a:extLst>
          </p:cNvPr>
          <p:cNvSpPr>
            <a:spLocks xmlns:a="http://schemas.openxmlformats.org/drawingml/2006/main" noGrp="1"/>
          </p:cNvSpPr>
          <p:nvPr/>
        </p:nvSpPr>
        <p:spPr>
          <a:xfrm xmlns:a="http://schemas.openxmlformats.org/drawingml/2006/main">
            <a:off x="7686675" y="24765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2" name="shape-117">
            <a:extLst xmlns:a="http://schemas.openxmlformats.org/drawingml/2006/main">
              <a:ext uri="{FF2B5EF4-FFF2-40B4-BE49-F238E27FC236}">
                <a16:creationId xmlns:a16="http://schemas.microsoft.com/office/drawing/2014/main" id="{E6619907-8E6F-44C9-92D9-CED0C3342AF1}"/>
              </a:ext>
            </a:extLst>
          </p:cNvPr>
          <p:cNvSpPr>
            <a:spLocks xmlns:a="http://schemas.openxmlformats.org/drawingml/2006/main" noGrp="1"/>
          </p:cNvSpPr>
          <p:nvPr/>
        </p:nvSpPr>
        <p:spPr>
          <a:xfrm xmlns:a="http://schemas.openxmlformats.org/drawingml/2006/main">
            <a:off x="2171700" y="4924425"/>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125" b="1">
                <a:solidFill>
                  <a:srgbClr val="A9BBCB"/>
                </a:solidFill>
                <a:latin typeface="Liberation Sans"/>
                <a:ea typeface="Liberation Sans"/>
                <a:cs typeface="Liberation Sans"/>
              </a:defRPr>
            </a:defPPr>
          </a:lstStyle>
          <a:p xmlns:a="http://schemas.openxmlformats.org/drawingml/2006/main">
            <a:pPr algn="ctr">
              <a:defRPr sz="1125" b="1">
                <a:solidFill>
                  <a:srgbClr val="A9BBCB"/>
                </a:solidFill>
                <a:latin typeface="Liberation Sans"/>
                <a:ea typeface="Liberation Sans"/>
                <a:cs typeface="Liberation Sans"/>
              </a:defRPr>
            </a:pPr>
            <a:r>
              <a:rPr sz="1125" b="1">
                <a:solidFill>
                  <a:srgbClr val="A9BBCB"/>
                </a:solidFill>
                <a:latin typeface="Liberation Sans"/>
                <a:ea typeface="Liberation Sans"/>
                <a:cs typeface="Liberation Sans"/>
              </a:rPr>
              <a:t>INGEST</a:t>
            </a:r>
          </a:p>
        </p:txBody>
      </p:sp>
      <p:sp>
        <p:nvSpPr>
          <p:cNvPr id="43" name="shape-118">
            <a:extLst xmlns:a="http://schemas.openxmlformats.org/drawingml/2006/main">
              <a:ext uri="{FF2B5EF4-FFF2-40B4-BE49-F238E27FC236}">
                <a16:creationId xmlns:a16="http://schemas.microsoft.com/office/drawing/2014/main" id="{19143A47-EDBE-4DE7-A50D-2030E2A9CC6E}"/>
              </a:ext>
            </a:extLst>
          </p:cNvPr>
          <p:cNvSpPr>
            <a:spLocks xmlns:a="http://schemas.openxmlformats.org/drawingml/2006/main" noGrp="1"/>
          </p:cNvSpPr>
          <p:nvPr/>
        </p:nvSpPr>
        <p:spPr>
          <a:xfrm xmlns:a="http://schemas.openxmlformats.org/drawingml/2006/main">
            <a:off x="3771900" y="4924425"/>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125" b="1">
                <a:solidFill>
                  <a:srgbClr val="A9BBCB"/>
                </a:solidFill>
                <a:latin typeface="Liberation Sans"/>
                <a:ea typeface="Liberation Sans"/>
                <a:cs typeface="Liberation Sans"/>
              </a:defRPr>
            </a:defPPr>
          </a:lstStyle>
          <a:p xmlns:a="http://schemas.openxmlformats.org/drawingml/2006/main">
            <a:pPr algn="ctr">
              <a:defRPr sz="1125" b="1">
                <a:solidFill>
                  <a:srgbClr val="A9BBCB"/>
                </a:solidFill>
                <a:latin typeface="Liberation Sans"/>
                <a:ea typeface="Liberation Sans"/>
                <a:cs typeface="Liberation Sans"/>
              </a:defRPr>
            </a:pPr>
            <a:r>
              <a:rPr sz="1125" b="1">
                <a:solidFill>
                  <a:srgbClr val="A9BBCB"/>
                </a:solidFill>
                <a:latin typeface="Liberation Sans"/>
                <a:ea typeface="Liberation Sans"/>
                <a:cs typeface="Liberation Sans"/>
              </a:rPr>
              <a:t>STORE</a:t>
            </a:r>
          </a:p>
        </p:txBody>
      </p:sp>
      <p:sp>
        <p:nvSpPr>
          <p:cNvPr id="44" name="shape-119">
            <a:extLst xmlns:a="http://schemas.openxmlformats.org/drawingml/2006/main">
              <a:ext uri="{FF2B5EF4-FFF2-40B4-BE49-F238E27FC236}">
                <a16:creationId xmlns:a16="http://schemas.microsoft.com/office/drawing/2014/main" id="{3BE13516-F8AB-4501-86CF-75A6D4831FA5}"/>
              </a:ext>
            </a:extLst>
          </p:cNvPr>
          <p:cNvSpPr>
            <a:spLocks xmlns:a="http://schemas.openxmlformats.org/drawingml/2006/main" noGrp="1"/>
          </p:cNvSpPr>
          <p:nvPr/>
        </p:nvSpPr>
        <p:spPr>
          <a:xfrm xmlns:a="http://schemas.openxmlformats.org/drawingml/2006/main">
            <a:off x="5372100" y="4924425"/>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125" b="1">
                <a:solidFill>
                  <a:srgbClr val="A9BBCB"/>
                </a:solidFill>
                <a:latin typeface="Liberation Sans"/>
                <a:ea typeface="Liberation Sans"/>
                <a:cs typeface="Liberation Sans"/>
              </a:defRPr>
            </a:defPPr>
          </a:lstStyle>
          <a:p xmlns:a="http://schemas.openxmlformats.org/drawingml/2006/main">
            <a:pPr algn="ctr">
              <a:defRPr sz="1125" b="1">
                <a:solidFill>
                  <a:srgbClr val="A9BBCB"/>
                </a:solidFill>
                <a:latin typeface="Liberation Sans"/>
                <a:ea typeface="Liberation Sans"/>
                <a:cs typeface="Liberation Sans"/>
              </a:defRPr>
            </a:pPr>
            <a:r>
              <a:rPr sz="1125" b="1">
                <a:solidFill>
                  <a:srgbClr val="A9BBCB"/>
                </a:solidFill>
                <a:latin typeface="Liberation Sans"/>
                <a:ea typeface="Liberation Sans"/>
                <a:cs typeface="Liberation Sans"/>
              </a:rPr>
              <a:t>TRANSFORM</a:t>
            </a:r>
          </a:p>
        </p:txBody>
      </p:sp>
      <p:sp>
        <p:nvSpPr>
          <p:cNvPr id="45" name="shape-120">
            <a:extLst xmlns:a="http://schemas.openxmlformats.org/drawingml/2006/main">
              <a:ext uri="{FF2B5EF4-FFF2-40B4-BE49-F238E27FC236}">
                <a16:creationId xmlns:a16="http://schemas.microsoft.com/office/drawing/2014/main" id="{7CFB7AED-CADB-460F-8635-37846B193EE8}"/>
              </a:ext>
            </a:extLst>
          </p:cNvPr>
          <p:cNvSpPr>
            <a:spLocks xmlns:a="http://schemas.openxmlformats.org/drawingml/2006/main" noGrp="1"/>
          </p:cNvSpPr>
          <p:nvPr/>
        </p:nvSpPr>
        <p:spPr>
          <a:xfrm xmlns:a="http://schemas.openxmlformats.org/drawingml/2006/main">
            <a:off x="6972300" y="4924425"/>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125" b="1">
                <a:solidFill>
                  <a:srgbClr val="A9BBCB"/>
                </a:solidFill>
                <a:latin typeface="Liberation Sans"/>
                <a:ea typeface="Liberation Sans"/>
                <a:cs typeface="Liberation Sans"/>
              </a:defRPr>
            </a:defPPr>
          </a:lstStyle>
          <a:p xmlns:a="http://schemas.openxmlformats.org/drawingml/2006/main">
            <a:pPr algn="ctr">
              <a:defRPr sz="1125" b="1">
                <a:solidFill>
                  <a:srgbClr val="A9BBCB"/>
                </a:solidFill>
                <a:latin typeface="Liberation Sans"/>
                <a:ea typeface="Liberation Sans"/>
                <a:cs typeface="Liberation Sans"/>
              </a:defRPr>
            </a:pPr>
            <a:r>
              <a:rPr sz="1125" b="1">
                <a:solidFill>
                  <a:srgbClr val="A9BBCB"/>
                </a:solidFill>
                <a:latin typeface="Liberation Sans"/>
                <a:ea typeface="Liberation Sans"/>
                <a:cs typeface="Liberation Sans"/>
              </a:rPr>
              <a:t>VALIDATE</a:t>
            </a:r>
          </a:p>
        </p:txBody>
      </p:sp>
      <p:sp>
        <p:nvSpPr>
          <p:cNvPr id="46" name="shape-121">
            <a:extLst xmlns:a="http://schemas.openxmlformats.org/drawingml/2006/main">
              <a:ext uri="{FF2B5EF4-FFF2-40B4-BE49-F238E27FC236}">
                <a16:creationId xmlns:a16="http://schemas.microsoft.com/office/drawing/2014/main" id="{EAA36FB3-EA78-433D-8EAD-4B7A8F481770}"/>
              </a:ext>
            </a:extLst>
          </p:cNvPr>
          <p:cNvSpPr>
            <a:spLocks xmlns:a="http://schemas.openxmlformats.org/drawingml/2006/main" noGrp="1"/>
          </p:cNvSpPr>
          <p:nvPr/>
        </p:nvSpPr>
        <p:spPr>
          <a:xfrm xmlns:a="http://schemas.openxmlformats.org/drawingml/2006/main">
            <a:off x="10172700" y="4924425"/>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125" b="1">
                <a:solidFill>
                  <a:srgbClr val="A9BBCB"/>
                </a:solidFill>
                <a:latin typeface="Liberation Sans"/>
                <a:ea typeface="Liberation Sans"/>
                <a:cs typeface="Liberation Sans"/>
              </a:defRPr>
            </a:defPPr>
          </a:lstStyle>
          <a:p xmlns:a="http://schemas.openxmlformats.org/drawingml/2006/main">
            <a:pPr algn="ctr">
              <a:defRPr sz="1125" b="1">
                <a:solidFill>
                  <a:srgbClr val="A9BBCB"/>
                </a:solidFill>
                <a:latin typeface="Liberation Sans"/>
                <a:ea typeface="Liberation Sans"/>
                <a:cs typeface="Liberation Sans"/>
              </a:defRPr>
            </a:pPr>
            <a:r>
              <a:rPr sz="1125" b="1">
                <a:solidFill>
                  <a:srgbClr val="A9BBCB"/>
                </a:solidFill>
                <a:latin typeface="Liberation Sans"/>
                <a:ea typeface="Liberation Sans"/>
                <a:cs typeface="Liberation Sans"/>
              </a:rPr>
              <a:t>SERVE</a:t>
            </a:r>
          </a:p>
        </p:txBody>
      </p:sp>
      <p:sp>
        <p:nvSpPr>
          <p:cNvPr id="47" name="shape-122">
            <a:extLst xmlns:a="http://schemas.openxmlformats.org/drawingml/2006/main">
              <a:ext uri="{FF2B5EF4-FFF2-40B4-BE49-F238E27FC236}">
                <a16:creationId xmlns:a16="http://schemas.microsoft.com/office/drawing/2014/main" id="{E9EE5BB5-013C-4E52-8C95-A830756A81C7}"/>
              </a:ext>
            </a:extLst>
          </p:cNvPr>
          <p:cNvSpPr>
            <a:spLocks xmlns:a="http://schemas.openxmlformats.org/drawingml/2006/main" noGrp="1"/>
          </p:cNvSpPr>
          <p:nvPr/>
        </p:nvSpPr>
        <p:spPr>
          <a:xfrm xmlns:a="http://schemas.openxmlformats.org/drawingml/2006/main">
            <a:off x="571500" y="5638800"/>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F3F7FB"/>
                </a:solidFill>
                <a:latin typeface="Liberation Sans"/>
                <a:ea typeface="Liberation Sans"/>
                <a:cs typeface="Liberation Sans"/>
              </a:defRPr>
            </a:defPPr>
          </a:lstStyle>
          <a:p xmlns:a="http://schemas.openxmlformats.org/drawingml/2006/main">
            <a:pPr algn="l">
              <a:defRPr sz="1425" b="0">
                <a:solidFill>
                  <a:srgbClr val="F3F7FB"/>
                </a:solidFill>
                <a:latin typeface="Liberation Sans"/>
                <a:ea typeface="Liberation Sans"/>
                <a:cs typeface="Liberation Sans"/>
              </a:defRPr>
            </a:pPr>
            <a:r>
              <a:rPr sz="1425" b="0">
                <a:solidFill>
                  <a:srgbClr val="F3F7FB"/>
                </a:solidFill>
                <a:latin typeface="Liberation Sans"/>
                <a:ea typeface="Liberation Sans"/>
                <a:cs typeface="Liberation Sans"/>
              </a:rPr>
              <a:t>A modular pipeline separates ingestion, transformation, validation, orchestration and visualization.</a:t>
            </a:r>
          </a:p>
        </p:txBody>
      </p:sp>
    </p:spTree>
    <p:extLst>
      <p:ext uri="{BB962C8B-B14F-4D97-AF65-F5344CB8AC3E}">
        <p14:creationId xmlns:p14="http://schemas.microsoft.com/office/powerpoint/2010/main" val="1735123487"/>
      </p:ext>
    </p:extLst>
  </p:cSld>
</p:sld>
</file>

<file path=ppt/slides/slide5.xml><?xml version="1.0" encoding="utf-8"?>
<p:sld xmlns:p="http://schemas.openxmlformats.org/presentationml/2006/main">
  <p:cSld>
    <p:bg>
      <p:bgPr>
        <a:solidFill xmlns:a="http://schemas.openxmlformats.org/drawingml/2006/main">
          <a:srgbClr val="091522"/>
        </a:solidFill>
      </p:bgPr>
    </p:bg>
    <p:spTree>
      <p:nvGrpSpPr>
        <p:cNvPr id="1" name=""/>
        <p:cNvGrpSpPr/>
        <p:nvPr/>
      </p:nvGrpSpPr>
      <p:grpSpPr>
        <a:xfrm xmlns:a="http://schemas.openxmlformats.org/drawingml/2006/main"/>
      </p:grpSpPr>
      <p:cxnSp>
        <p:nvCxnSpPr>
          <p:cNvPr id="35" name="">
            <a:extLst xmlns:a="http://schemas.openxmlformats.org/drawingml/2006/main">
              <a:ext uri="{FF2B5EF4-FFF2-40B4-BE49-F238E27FC236}">
                <a16:creationId xmlns:a16="http://schemas.microsoft.com/office/drawing/2014/main" id="{F6469053-DC44-4070-8F42-869FF05EB18B}"/>
              </a:ext>
            </a:extLst>
          </p:cNvPr>
          <p:cNvCxnSpPr>
            <a:stCxn xmlns:a="http://schemas.openxmlformats.org/drawingml/2006/main" id="23" idx="1"/>
            <a:endCxn xmlns:a="http://schemas.openxmlformats.org/drawingml/2006/main" id="27" idx="3"/>
          </p:cNvCxnSpPr>
          <p:nvPr/>
        </p:nvCxnSpPr>
        <p:spPr>
          <a:xfrm xmlns:a="http://schemas.openxmlformats.org/drawingml/2006/main" flipH="1">
            <a:off x="3943350" y="4805363"/>
            <a:ext cx="466725" cy="0"/>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cxnSp>
        <p:nvCxnSpPr>
          <p:cNvPr id="34" name="">
            <a:extLst xmlns:a="http://schemas.openxmlformats.org/drawingml/2006/main">
              <a:ext uri="{FF2B5EF4-FFF2-40B4-BE49-F238E27FC236}">
                <a16:creationId xmlns:a16="http://schemas.microsoft.com/office/drawing/2014/main" id="{BBD97F92-4785-4D80-A9A9-585390DA3087}"/>
              </a:ext>
            </a:extLst>
          </p:cNvPr>
          <p:cNvCxnSpPr>
            <a:stCxn xmlns:a="http://schemas.openxmlformats.org/drawingml/2006/main" id="19" idx="1"/>
            <a:endCxn xmlns:a="http://schemas.openxmlformats.org/drawingml/2006/main" id="23" idx="3"/>
          </p:cNvCxnSpPr>
          <p:nvPr/>
        </p:nvCxnSpPr>
        <p:spPr>
          <a:xfrm xmlns:a="http://schemas.openxmlformats.org/drawingml/2006/main" flipH="1">
            <a:off x="7781925" y="4805363"/>
            <a:ext cx="466725" cy="0"/>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cxnSp>
        <p:nvCxnSpPr>
          <p:cNvPr id="33" name="">
            <a:extLst xmlns:a="http://schemas.openxmlformats.org/drawingml/2006/main">
              <a:ext uri="{FF2B5EF4-FFF2-40B4-BE49-F238E27FC236}">
                <a16:creationId xmlns:a16="http://schemas.microsoft.com/office/drawing/2014/main" id="{9BE95841-4547-441E-871C-4171DD95C0EC}"/>
              </a:ext>
            </a:extLst>
          </p:cNvPr>
          <p:cNvCxnSpPr>
            <a:stCxn xmlns:a="http://schemas.openxmlformats.org/drawingml/2006/main" id="15" idx="2"/>
            <a:endCxn xmlns:a="http://schemas.openxmlformats.org/drawingml/2006/main" id="19" idx="0"/>
          </p:cNvCxnSpPr>
          <p:nvPr/>
        </p:nvCxnSpPr>
        <p:spPr>
          <a:xfrm xmlns:a="http://schemas.openxmlformats.org/drawingml/2006/main">
            <a:off x="9934575" y="3705225"/>
            <a:ext cx="0" cy="381000"/>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cxnSp>
        <p:nvCxnSpPr>
          <p:cNvPr id="32" name="">
            <a:extLst xmlns:a="http://schemas.openxmlformats.org/drawingml/2006/main">
              <a:ext uri="{FF2B5EF4-FFF2-40B4-BE49-F238E27FC236}">
                <a16:creationId xmlns:a16="http://schemas.microsoft.com/office/drawing/2014/main" id="{5BEBE92B-2955-453B-99BE-7855336B2010}"/>
              </a:ext>
            </a:extLst>
          </p:cNvPr>
          <p:cNvCxnSpPr>
            <a:stCxn xmlns:a="http://schemas.openxmlformats.org/drawingml/2006/main" id="11" idx="3"/>
            <a:endCxn xmlns:a="http://schemas.openxmlformats.org/drawingml/2006/main" id="15" idx="1"/>
          </p:cNvCxnSpPr>
          <p:nvPr/>
        </p:nvCxnSpPr>
        <p:spPr>
          <a:xfrm xmlns:a="http://schemas.openxmlformats.org/drawingml/2006/main">
            <a:off x="7781925" y="2986088"/>
            <a:ext cx="466725" cy="0"/>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cxnSp>
        <p:nvCxnSpPr>
          <p:cNvPr id="31" name="">
            <a:extLst xmlns:a="http://schemas.openxmlformats.org/drawingml/2006/main">
              <a:ext uri="{FF2B5EF4-FFF2-40B4-BE49-F238E27FC236}">
                <a16:creationId xmlns:a16="http://schemas.microsoft.com/office/drawing/2014/main" id="{F1F5BE9B-9D03-4C1B-8663-F844929F5875}"/>
              </a:ext>
            </a:extLst>
          </p:cNvPr>
          <p:cNvCxnSpPr>
            <a:stCxn xmlns:a="http://schemas.openxmlformats.org/drawingml/2006/main" id="7" idx="3"/>
            <a:endCxn xmlns:a="http://schemas.openxmlformats.org/drawingml/2006/main" id="11" idx="1"/>
          </p:cNvCxnSpPr>
          <p:nvPr/>
        </p:nvCxnSpPr>
        <p:spPr>
          <a:xfrm xmlns:a="http://schemas.openxmlformats.org/drawingml/2006/main">
            <a:off x="3943350" y="2986088"/>
            <a:ext cx="466725" cy="0"/>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sp>
        <p:nvSpPr>
          <p:cNvPr id="37" name="shape-123">
            <a:extLst xmlns:a="http://schemas.openxmlformats.org/drawingml/2006/main">
              <a:ext uri="{FF2B5EF4-FFF2-40B4-BE49-F238E27FC236}">
                <a16:creationId xmlns:a16="http://schemas.microsoft.com/office/drawing/2014/main" id="{C7BD7821-9400-4BE4-964D-7CB39C1B6B93}"/>
              </a:ext>
            </a:extLst>
          </p:cNvPr>
          <p:cNvSpPr>
            <a:spLocks xmlns:a="http://schemas.openxmlformats.org/drawingml/2006/main" noGrp="1"/>
          </p:cNvSpPr>
          <p:nvPr/>
        </p:nvSpPr>
        <p:spPr>
          <a:xfrm xmlns:a="http://schemas.openxmlformats.org/drawingml/2006/main">
            <a:off x="571500" y="333375"/>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48DCE7"/>
                </a:solidFill>
                <a:latin typeface="Liberation Sans"/>
                <a:ea typeface="Liberation Sans"/>
                <a:cs typeface="Liberation Sans"/>
              </a:defRPr>
            </a:defPPr>
          </a:lstStyle>
          <a:p xmlns:a="http://schemas.openxmlformats.org/drawingml/2006/main">
            <a:pPr algn="l">
              <a:defRPr sz="1125" b="1">
                <a:solidFill>
                  <a:srgbClr val="48DCE7"/>
                </a:solidFill>
                <a:latin typeface="Liberation Sans"/>
                <a:ea typeface="Liberation Sans"/>
                <a:cs typeface="Liberation Sans"/>
              </a:defRPr>
            </a:pPr>
            <a:r>
              <a:rPr sz="1125" b="1">
                <a:solidFill>
                  <a:srgbClr val="48DCE7"/>
                </a:solidFill>
                <a:latin typeface="Liberation Sans"/>
                <a:ea typeface="Liberation Sans"/>
                <a:cs typeface="Liberation Sans"/>
              </a:rPr>
              <a:t>INGESTION</a:t>
            </a:r>
          </a:p>
        </p:txBody>
      </p:sp>
      <p:sp>
        <p:nvSpPr>
          <p:cNvPr id="2" name="shape-124">
            <a:extLst xmlns:a="http://schemas.openxmlformats.org/drawingml/2006/main">
              <a:ext uri="{FF2B5EF4-FFF2-40B4-BE49-F238E27FC236}">
                <a16:creationId xmlns:a16="http://schemas.microsoft.com/office/drawing/2014/main" id="{4921CE28-C3C6-4AB0-95E5-AFC7D5428126}"/>
              </a:ext>
            </a:extLst>
          </p:cNvPr>
          <p:cNvSpPr>
            <a:spLocks xmlns:a="http://schemas.openxmlformats.org/drawingml/2006/main" noGrp="1"/>
          </p:cNvSpPr>
          <p:nvPr/>
        </p:nvSpPr>
        <p:spPr>
          <a:xfrm xmlns:a="http://schemas.openxmlformats.org/drawingml/2006/main">
            <a:off x="571500" y="704850"/>
            <a:ext cx="110490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3F7FB"/>
                </a:solidFill>
                <a:latin typeface="Liberation Sans"/>
                <a:ea typeface="Liberation Sans"/>
                <a:cs typeface="Liberation Sans"/>
              </a:defRPr>
            </a:defPPr>
          </a:lstStyle>
          <a:p xmlns:a="http://schemas.openxmlformats.org/drawingml/2006/main">
            <a:pPr algn="l">
              <a:defRPr sz="3225" b="1">
                <a:solidFill>
                  <a:srgbClr val="F3F7FB"/>
                </a:solidFill>
                <a:latin typeface="Liberation Sans"/>
                <a:ea typeface="Liberation Sans"/>
                <a:cs typeface="Liberation Sans"/>
              </a:defRPr>
            </a:pPr>
            <a:r>
              <a:rPr sz="3225" b="1">
                <a:solidFill>
                  <a:srgbClr val="F3F7FB"/>
                </a:solidFill>
                <a:latin typeface="Liberation Sans"/>
                <a:ea typeface="Liberation Sans"/>
                <a:cs typeface="Liberation Sans"/>
              </a:rPr>
              <a:t>Python ETL — Ingestion &amp; Validation</a:t>
            </a:r>
          </a:p>
        </p:txBody>
      </p:sp>
      <p:sp>
        <p:nvSpPr>
          <p:cNvPr id="3" name="line-125">
            <a:extLst xmlns:a="http://schemas.openxmlformats.org/drawingml/2006/main">
              <a:ext uri="{FF2B5EF4-FFF2-40B4-BE49-F238E27FC236}">
                <a16:creationId xmlns:a16="http://schemas.microsoft.com/office/drawing/2014/main" id="{84477329-96E7-46C6-82D3-8B25DF1516C1}"/>
              </a:ext>
            </a:extLst>
          </p:cNvPr>
          <p:cNvSpPr>
            <a:spLocks xmlns:a="http://schemas.openxmlformats.org/drawingml/2006/main" noGrp="1"/>
          </p:cNvSpPr>
          <p:nvPr/>
        </p:nvSpPr>
        <p:spPr>
          <a:xfrm xmlns:a="http://schemas.openxmlformats.org/drawingml/2006/main">
            <a:off x="571500" y="6353175"/>
            <a:ext cx="11049000"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4" name="shape-126">
            <a:extLst xmlns:a="http://schemas.openxmlformats.org/drawingml/2006/main">
              <a:ext uri="{FF2B5EF4-FFF2-40B4-BE49-F238E27FC236}">
                <a16:creationId xmlns:a16="http://schemas.microsoft.com/office/drawing/2014/main" id="{F5E66E01-CF8C-4F4E-B6CE-735A25991356}"/>
              </a:ext>
            </a:extLst>
          </p:cNvPr>
          <p:cNvSpPr>
            <a:spLocks xmlns:a="http://schemas.openxmlformats.org/drawingml/2006/main" noGrp="1"/>
          </p:cNvSpPr>
          <p:nvPr/>
        </p:nvSpPr>
        <p:spPr>
          <a:xfrm xmlns:a="http://schemas.openxmlformats.org/drawingml/2006/main">
            <a:off x="5715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A9BBCB"/>
                </a:solidFill>
                <a:latin typeface="Liberation Sans"/>
                <a:ea typeface="Liberation Sans"/>
                <a:cs typeface="Liberation Sans"/>
              </a:defRPr>
            </a:defPPr>
          </a:lstStyle>
          <a:p xmlns:a="http://schemas.openxmlformats.org/drawingml/2006/main">
            <a:pPr algn="l">
              <a:defRPr sz="900" b="0">
                <a:solidFill>
                  <a:srgbClr val="A9BBCB"/>
                </a:solidFill>
                <a:latin typeface="Liberation Sans"/>
                <a:ea typeface="Liberation Sans"/>
                <a:cs typeface="Liberation Sans"/>
              </a:defRPr>
            </a:pPr>
            <a:r>
              <a:rPr sz="900" b="0">
                <a:solidFill>
                  <a:srgbClr val="A9BBCB"/>
                </a:solidFill>
                <a:latin typeface="Liberation Sans"/>
                <a:ea typeface="Liberation Sans"/>
                <a:cs typeface="Liberation Sans"/>
              </a:rPr>
              <a:t>SYNTHETIC DATA · PORTFOLIO PROJECT</a:t>
            </a:r>
          </a:p>
        </p:txBody>
      </p:sp>
      <p:sp>
        <p:nvSpPr>
          <p:cNvPr id="5" name="shape-127">
            <a:extLst xmlns:a="http://schemas.openxmlformats.org/drawingml/2006/main">
              <a:ext uri="{FF2B5EF4-FFF2-40B4-BE49-F238E27FC236}">
                <a16:creationId xmlns:a16="http://schemas.microsoft.com/office/drawing/2014/main" id="{6E92973D-3500-4A49-975B-609CD6A35DFE}"/>
              </a:ext>
            </a:extLst>
          </p:cNvPr>
          <p:cNvSpPr>
            <a:spLocks xmlns:a="http://schemas.openxmlformats.org/drawingml/2006/main" noGrp="1"/>
          </p:cNvSpPr>
          <p:nvPr/>
        </p:nvSpPr>
        <p:spPr>
          <a:xfrm xmlns:a="http://schemas.openxmlformats.org/drawingml/2006/main">
            <a:off x="11144250" y="646747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9BBCB"/>
                </a:solidFill>
                <a:latin typeface="Liberation Sans"/>
                <a:ea typeface="Liberation Sans"/>
                <a:cs typeface="Liberation Sans"/>
              </a:defRPr>
            </a:defPPr>
          </a:lstStyle>
          <a:p xmlns:a="http://schemas.openxmlformats.org/drawingml/2006/main">
            <a:pPr algn="r">
              <a:defRPr sz="1275" b="0">
                <a:solidFill>
                  <a:srgbClr val="A9BBCB"/>
                </a:solidFill>
                <a:latin typeface="Liberation Sans"/>
                <a:ea typeface="Liberation Sans"/>
                <a:cs typeface="Liberation Sans"/>
              </a:defRPr>
            </a:pPr>
            <a:r>
              <a:rPr sz="1275" b="0">
                <a:solidFill>
                  <a:srgbClr val="A9BBCB"/>
                </a:solidFill>
                <a:latin typeface="Liberation Sans"/>
                <a:ea typeface="Liberation Sans"/>
                <a:cs typeface="Liberation Sans"/>
              </a:rPr>
              <a:t>05</a:t>
            </a:r>
          </a:p>
        </p:txBody>
      </p:sp>
      <p:sp>
        <p:nvSpPr>
          <p:cNvPr id="6" name="shape-128">
            <a:extLst xmlns:a="http://schemas.openxmlformats.org/drawingml/2006/main">
              <a:ext uri="{FF2B5EF4-FFF2-40B4-BE49-F238E27FC236}">
                <a16:creationId xmlns:a16="http://schemas.microsoft.com/office/drawing/2014/main" id="{ABE58E8B-E280-4F67-8B62-F8217101353B}"/>
              </a:ext>
            </a:extLst>
          </p:cNvPr>
          <p:cNvSpPr>
            <a:spLocks xmlns:a="http://schemas.openxmlformats.org/drawingml/2006/main" noGrp="1"/>
          </p:cNvSpPr>
          <p:nvPr/>
        </p:nvSpPr>
        <p:spPr>
          <a:xfrm xmlns:a="http://schemas.openxmlformats.org/drawingml/2006/main">
            <a:off x="571500" y="1638300"/>
            <a:ext cx="809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48DCE7"/>
                </a:solidFill>
                <a:latin typeface="Liberation Sans"/>
                <a:ea typeface="Liberation Sans"/>
                <a:cs typeface="Liberation Sans"/>
              </a:defRPr>
            </a:defPPr>
          </a:lstStyle>
          <a:p xmlns:a="http://schemas.openxmlformats.org/drawingml/2006/main">
            <a:pPr algn="l">
              <a:defRPr sz="1800" b="1">
                <a:solidFill>
                  <a:srgbClr val="48DCE7"/>
                </a:solidFill>
                <a:latin typeface="Liberation Sans"/>
                <a:ea typeface="Liberation Sans"/>
                <a:cs typeface="Liberation Sans"/>
              </a:defRPr>
            </a:pPr>
            <a:r>
              <a:rPr sz="1800" b="1">
                <a:solidFill>
                  <a:srgbClr val="48DCE7"/>
                </a:solidFill>
                <a:latin typeface="Liberation Sans"/>
                <a:ea typeface="Liberation Sans"/>
                <a:cs typeface="Liberation Sans"/>
              </a:rPr>
              <a:t>Python  /  Pandas  /  psycopg2</a:t>
            </a:r>
          </a:p>
        </p:txBody>
      </p:sp>
      <p:sp>
        <p:nvSpPr>
          <p:cNvPr id="7" name="shape-129">
            <a:extLst xmlns:a="http://schemas.openxmlformats.org/drawingml/2006/main">
              <a:ext uri="{FF2B5EF4-FFF2-40B4-BE49-F238E27FC236}">
                <a16:creationId xmlns:a16="http://schemas.microsoft.com/office/drawing/2014/main" id="{BB514A74-5B51-4589-BF34-109CA8E4C8EA}"/>
              </a:ext>
            </a:extLst>
          </p:cNvPr>
          <p:cNvSpPr>
            <a:spLocks xmlns:a="http://schemas.openxmlformats.org/drawingml/2006/main" noGrp="1"/>
          </p:cNvSpPr>
          <p:nvPr/>
        </p:nvSpPr>
        <p:spPr>
          <a:xfrm xmlns:a="http://schemas.openxmlformats.org/drawingml/2006/main">
            <a:off x="571500" y="2266950"/>
            <a:ext cx="3371850" cy="1438275"/>
          </a:xfrm>
          <a:prstGeom xmlns:a="http://schemas.openxmlformats.org/drawingml/2006/main" prst="roundRect">
            <a:avLst>
              <a:gd name="adj" fmla="val 7947"/>
            </a:avLst>
          </a:prstGeom>
          <a:solidFill xmlns:a="http://schemas.openxmlformats.org/drawingml/2006/main">
            <a:srgbClr val="122536"/>
          </a:solidFill>
          <a:ln xmlns:a="http://schemas.openxmlformats.org/drawingml/2006/main" w="9525">
            <a:solidFill>
              <a:srgbClr val="2A4052"/>
            </a:solidFill>
            <a:prstDash val="solid"/>
          </a:ln>
        </p:spPr>
      </p:sp>
      <p:sp>
        <p:nvSpPr>
          <p:cNvPr id="8" name="shape-130">
            <a:extLst xmlns:a="http://schemas.openxmlformats.org/drawingml/2006/main">
              <a:ext uri="{FF2B5EF4-FFF2-40B4-BE49-F238E27FC236}">
                <a16:creationId xmlns:a16="http://schemas.microsoft.com/office/drawing/2014/main" id="{24DE45F4-D97E-4F96-A3AD-2DB97967E09C}"/>
              </a:ext>
            </a:extLst>
          </p:cNvPr>
          <p:cNvSpPr>
            <a:spLocks xmlns:a="http://schemas.openxmlformats.org/drawingml/2006/main" noGrp="1"/>
          </p:cNvSpPr>
          <p:nvPr/>
        </p:nvSpPr>
        <p:spPr>
          <a:xfrm xmlns:a="http://schemas.openxmlformats.org/drawingml/2006/main">
            <a:off x="762000" y="241935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48DCE7"/>
                </a:solidFill>
                <a:latin typeface="Liberation Sans"/>
                <a:ea typeface="Liberation Sans"/>
                <a:cs typeface="Liberation Sans"/>
              </a:defRPr>
            </a:defPPr>
          </a:lstStyle>
          <a:p xmlns:a="http://schemas.openxmlformats.org/drawingml/2006/main">
            <a:pPr algn="l">
              <a:defRPr sz="2025" b="1">
                <a:solidFill>
                  <a:srgbClr val="48DCE7"/>
                </a:solidFill>
                <a:latin typeface="Liberation Sans"/>
                <a:ea typeface="Liberation Sans"/>
                <a:cs typeface="Liberation Sans"/>
              </a:defRPr>
            </a:pPr>
            <a:r>
              <a:rPr sz="2025" b="1">
                <a:solidFill>
                  <a:srgbClr val="48DCE7"/>
                </a:solidFill>
                <a:latin typeface="Liberation Sans"/>
                <a:ea typeface="Liberation Sans"/>
                <a:cs typeface="Liberation Sans"/>
              </a:rPr>
              <a:t>01</a:t>
            </a:r>
          </a:p>
        </p:txBody>
      </p:sp>
      <p:sp>
        <p:nvSpPr>
          <p:cNvPr id="9" name="shape-131">
            <a:extLst xmlns:a="http://schemas.openxmlformats.org/drawingml/2006/main">
              <a:ext uri="{FF2B5EF4-FFF2-40B4-BE49-F238E27FC236}">
                <a16:creationId xmlns:a16="http://schemas.microsoft.com/office/drawing/2014/main" id="{5E0AC9D5-6280-437A-8A20-F3AD856487F3}"/>
              </a:ext>
            </a:extLst>
          </p:cNvPr>
          <p:cNvSpPr>
            <a:spLocks xmlns:a="http://schemas.openxmlformats.org/drawingml/2006/main" noGrp="1"/>
          </p:cNvSpPr>
          <p:nvPr/>
        </p:nvSpPr>
        <p:spPr>
          <a:xfrm xmlns:a="http://schemas.openxmlformats.org/drawingml/2006/main">
            <a:off x="762000" y="280035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3F7FB"/>
                </a:solidFill>
                <a:latin typeface="Liberation Sans"/>
                <a:ea typeface="Liberation Sans"/>
                <a:cs typeface="Liberation Sans"/>
              </a:defRPr>
            </a:defPPr>
          </a:lstStyle>
          <a:p xmlns:a="http://schemas.openxmlformats.org/drawingml/2006/main">
            <a:pPr algn="l">
              <a:defRPr sz="1950" b="1">
                <a:solidFill>
                  <a:srgbClr val="F3F7FB"/>
                </a:solidFill>
                <a:latin typeface="Liberation Sans"/>
                <a:ea typeface="Liberation Sans"/>
                <a:cs typeface="Liberation Sans"/>
              </a:defRPr>
            </a:pPr>
            <a:r>
              <a:rPr sz="1950" b="1">
                <a:solidFill>
                  <a:srgbClr val="F3F7FB"/>
                </a:solidFill>
                <a:latin typeface="Liberation Sans"/>
                <a:ea typeface="Liberation Sans"/>
                <a:cs typeface="Liberation Sans"/>
              </a:rPr>
              <a:t>Extract CSV files</a:t>
            </a:r>
          </a:p>
        </p:txBody>
      </p:sp>
      <p:sp>
        <p:nvSpPr>
          <p:cNvPr id="10" name="shape-132">
            <a:extLst xmlns:a="http://schemas.openxmlformats.org/drawingml/2006/main">
              <a:ext uri="{FF2B5EF4-FFF2-40B4-BE49-F238E27FC236}">
                <a16:creationId xmlns:a16="http://schemas.microsoft.com/office/drawing/2014/main" id="{B745A8AF-9A14-4C57-AA9A-B0822030DD61}"/>
              </a:ext>
            </a:extLst>
          </p:cNvPr>
          <p:cNvSpPr>
            <a:spLocks xmlns:a="http://schemas.openxmlformats.org/drawingml/2006/main" noGrp="1"/>
          </p:cNvSpPr>
          <p:nvPr/>
        </p:nvSpPr>
        <p:spPr>
          <a:xfrm xmlns:a="http://schemas.openxmlformats.org/drawingml/2006/main">
            <a:off x="762000" y="3181350"/>
            <a:ext cx="2990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9BBCB"/>
                </a:solidFill>
                <a:latin typeface="Liberation Sans"/>
                <a:ea typeface="Liberation Sans"/>
                <a:cs typeface="Liberation Sans"/>
              </a:defRPr>
            </a:defPPr>
          </a:lstStyle>
          <a:p xmlns:a="http://schemas.openxmlformats.org/drawingml/2006/main">
            <a:pPr algn="l">
              <a:defRPr sz="1575" b="0">
                <a:solidFill>
                  <a:srgbClr val="A9BBCB"/>
                </a:solidFill>
                <a:latin typeface="Liberation Sans"/>
                <a:ea typeface="Liberation Sans"/>
                <a:cs typeface="Liberation Sans"/>
              </a:defRPr>
            </a:pPr>
            <a:r>
              <a:rPr sz="1575" b="0">
                <a:solidFill>
                  <a:srgbClr val="A9BBCB"/>
                </a:solidFill>
                <a:latin typeface="Liberation Sans"/>
                <a:ea typeface="Liberation Sans"/>
                <a:cs typeface="Liberation Sans"/>
              </a:rPr>
              <a:t>Fail if expected files are missing</a:t>
            </a:r>
          </a:p>
        </p:txBody>
      </p:sp>
      <p:sp>
        <p:nvSpPr>
          <p:cNvPr id="11" name="shape-133">
            <a:extLst xmlns:a="http://schemas.openxmlformats.org/drawingml/2006/main">
              <a:ext uri="{FF2B5EF4-FFF2-40B4-BE49-F238E27FC236}">
                <a16:creationId xmlns:a16="http://schemas.microsoft.com/office/drawing/2014/main" id="{A332D4F8-CAEC-4998-BC3D-57AE53A4E350}"/>
              </a:ext>
            </a:extLst>
          </p:cNvPr>
          <p:cNvSpPr>
            <a:spLocks xmlns:a="http://schemas.openxmlformats.org/drawingml/2006/main" noGrp="1"/>
          </p:cNvSpPr>
          <p:nvPr/>
        </p:nvSpPr>
        <p:spPr>
          <a:xfrm xmlns:a="http://schemas.openxmlformats.org/drawingml/2006/main">
            <a:off x="4410075" y="2266950"/>
            <a:ext cx="3371850" cy="1438275"/>
          </a:xfrm>
          <a:prstGeom xmlns:a="http://schemas.openxmlformats.org/drawingml/2006/main" prst="roundRect">
            <a:avLst>
              <a:gd name="adj" fmla="val 7947"/>
            </a:avLst>
          </a:prstGeom>
          <a:solidFill xmlns:a="http://schemas.openxmlformats.org/drawingml/2006/main">
            <a:srgbClr val="122536"/>
          </a:solidFill>
          <a:ln xmlns:a="http://schemas.openxmlformats.org/drawingml/2006/main" w="9525">
            <a:solidFill>
              <a:srgbClr val="2A4052"/>
            </a:solidFill>
            <a:prstDash val="solid"/>
          </a:ln>
        </p:spPr>
      </p:sp>
      <p:sp>
        <p:nvSpPr>
          <p:cNvPr id="12" name="shape-134">
            <a:extLst xmlns:a="http://schemas.openxmlformats.org/drawingml/2006/main">
              <a:ext uri="{FF2B5EF4-FFF2-40B4-BE49-F238E27FC236}">
                <a16:creationId xmlns:a16="http://schemas.microsoft.com/office/drawing/2014/main" id="{EAC85434-8FA8-4D63-A78A-2CE3268317A3}"/>
              </a:ext>
            </a:extLst>
          </p:cNvPr>
          <p:cNvSpPr>
            <a:spLocks xmlns:a="http://schemas.openxmlformats.org/drawingml/2006/main" noGrp="1"/>
          </p:cNvSpPr>
          <p:nvPr/>
        </p:nvSpPr>
        <p:spPr>
          <a:xfrm xmlns:a="http://schemas.openxmlformats.org/drawingml/2006/main">
            <a:off x="4600575" y="241935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48DCE7"/>
                </a:solidFill>
                <a:latin typeface="Liberation Sans"/>
                <a:ea typeface="Liberation Sans"/>
                <a:cs typeface="Liberation Sans"/>
              </a:defRPr>
            </a:defPPr>
          </a:lstStyle>
          <a:p xmlns:a="http://schemas.openxmlformats.org/drawingml/2006/main">
            <a:pPr algn="l">
              <a:defRPr sz="2025" b="1">
                <a:solidFill>
                  <a:srgbClr val="48DCE7"/>
                </a:solidFill>
                <a:latin typeface="Liberation Sans"/>
                <a:ea typeface="Liberation Sans"/>
                <a:cs typeface="Liberation Sans"/>
              </a:defRPr>
            </a:pPr>
            <a:r>
              <a:rPr sz="2025" b="1">
                <a:solidFill>
                  <a:srgbClr val="48DCE7"/>
                </a:solidFill>
                <a:latin typeface="Liberation Sans"/>
                <a:ea typeface="Liberation Sans"/>
                <a:cs typeface="Liberation Sans"/>
              </a:rPr>
              <a:t>02</a:t>
            </a:r>
          </a:p>
        </p:txBody>
      </p:sp>
      <p:sp>
        <p:nvSpPr>
          <p:cNvPr id="13" name="shape-135">
            <a:extLst xmlns:a="http://schemas.openxmlformats.org/drawingml/2006/main">
              <a:ext uri="{FF2B5EF4-FFF2-40B4-BE49-F238E27FC236}">
                <a16:creationId xmlns:a16="http://schemas.microsoft.com/office/drawing/2014/main" id="{99D1FD9F-E396-4821-BE8D-D92DBEAB547A}"/>
              </a:ext>
            </a:extLst>
          </p:cNvPr>
          <p:cNvSpPr>
            <a:spLocks xmlns:a="http://schemas.openxmlformats.org/drawingml/2006/main" noGrp="1"/>
          </p:cNvSpPr>
          <p:nvPr/>
        </p:nvSpPr>
        <p:spPr>
          <a:xfrm xmlns:a="http://schemas.openxmlformats.org/drawingml/2006/main">
            <a:off x="4600575" y="280035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3F7FB"/>
                </a:solidFill>
                <a:latin typeface="Liberation Sans"/>
                <a:ea typeface="Liberation Sans"/>
                <a:cs typeface="Liberation Sans"/>
              </a:defRPr>
            </a:defPPr>
          </a:lstStyle>
          <a:p xmlns:a="http://schemas.openxmlformats.org/drawingml/2006/main">
            <a:pPr algn="l">
              <a:defRPr sz="1950" b="1">
                <a:solidFill>
                  <a:srgbClr val="F3F7FB"/>
                </a:solidFill>
                <a:latin typeface="Liberation Sans"/>
                <a:ea typeface="Liberation Sans"/>
                <a:cs typeface="Liberation Sans"/>
              </a:defRPr>
            </a:pPr>
            <a:r>
              <a:rPr sz="1950" b="1">
                <a:solidFill>
                  <a:srgbClr val="F3F7FB"/>
                </a:solidFill>
                <a:latin typeface="Liberation Sans"/>
                <a:ea typeface="Liberation Sans"/>
                <a:cs typeface="Liberation Sans"/>
              </a:rPr>
              <a:t>Validate schema</a:t>
            </a:r>
          </a:p>
        </p:txBody>
      </p:sp>
      <p:sp>
        <p:nvSpPr>
          <p:cNvPr id="14" name="shape-136">
            <a:extLst xmlns:a="http://schemas.openxmlformats.org/drawingml/2006/main">
              <a:ext uri="{FF2B5EF4-FFF2-40B4-BE49-F238E27FC236}">
                <a16:creationId xmlns:a16="http://schemas.microsoft.com/office/drawing/2014/main" id="{1F7592DD-0E6D-4C35-9557-0BDC5C82460F}"/>
              </a:ext>
            </a:extLst>
          </p:cNvPr>
          <p:cNvSpPr>
            <a:spLocks xmlns:a="http://schemas.openxmlformats.org/drawingml/2006/main" noGrp="1"/>
          </p:cNvSpPr>
          <p:nvPr/>
        </p:nvSpPr>
        <p:spPr>
          <a:xfrm xmlns:a="http://schemas.openxmlformats.org/drawingml/2006/main">
            <a:off x="4600575" y="3181350"/>
            <a:ext cx="2990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9BBCB"/>
                </a:solidFill>
                <a:latin typeface="Liberation Sans"/>
                <a:ea typeface="Liberation Sans"/>
                <a:cs typeface="Liberation Sans"/>
              </a:defRPr>
            </a:defPPr>
          </a:lstStyle>
          <a:p xmlns:a="http://schemas.openxmlformats.org/drawingml/2006/main">
            <a:pPr algn="l">
              <a:defRPr sz="1575" b="0">
                <a:solidFill>
                  <a:srgbClr val="A9BBCB"/>
                </a:solidFill>
                <a:latin typeface="Liberation Sans"/>
                <a:ea typeface="Liberation Sans"/>
                <a:cs typeface="Liberation Sans"/>
              </a:defRPr>
            </a:pPr>
            <a:r>
              <a:rPr sz="1575" b="0">
                <a:solidFill>
                  <a:srgbClr val="A9BBCB"/>
                </a:solidFill>
                <a:latin typeface="Liberation Sans"/>
                <a:ea typeface="Liberation Sans"/>
                <a:cs typeface="Liberation Sans"/>
              </a:rPr>
              <a:t>Check missing and extra columns</a:t>
            </a:r>
          </a:p>
        </p:txBody>
      </p:sp>
      <p:sp>
        <p:nvSpPr>
          <p:cNvPr id="15" name="shape-137">
            <a:extLst xmlns:a="http://schemas.openxmlformats.org/drawingml/2006/main">
              <a:ext uri="{FF2B5EF4-FFF2-40B4-BE49-F238E27FC236}">
                <a16:creationId xmlns:a16="http://schemas.microsoft.com/office/drawing/2014/main" id="{4D0CD5A4-86F9-4FF0-9723-2C9C03AC2DDD}"/>
              </a:ext>
            </a:extLst>
          </p:cNvPr>
          <p:cNvSpPr>
            <a:spLocks xmlns:a="http://schemas.openxmlformats.org/drawingml/2006/main" noGrp="1"/>
          </p:cNvSpPr>
          <p:nvPr/>
        </p:nvSpPr>
        <p:spPr>
          <a:xfrm xmlns:a="http://schemas.openxmlformats.org/drawingml/2006/main">
            <a:off x="8248650" y="2266950"/>
            <a:ext cx="3371850" cy="1438275"/>
          </a:xfrm>
          <a:prstGeom xmlns:a="http://schemas.openxmlformats.org/drawingml/2006/main" prst="roundRect">
            <a:avLst>
              <a:gd name="adj" fmla="val 7947"/>
            </a:avLst>
          </a:prstGeom>
          <a:solidFill xmlns:a="http://schemas.openxmlformats.org/drawingml/2006/main">
            <a:srgbClr val="122536"/>
          </a:solidFill>
          <a:ln xmlns:a="http://schemas.openxmlformats.org/drawingml/2006/main" w="9525">
            <a:solidFill>
              <a:srgbClr val="2A4052"/>
            </a:solidFill>
            <a:prstDash val="solid"/>
          </a:ln>
        </p:spPr>
      </p:sp>
      <p:sp>
        <p:nvSpPr>
          <p:cNvPr id="16" name="shape-138">
            <a:extLst xmlns:a="http://schemas.openxmlformats.org/drawingml/2006/main">
              <a:ext uri="{FF2B5EF4-FFF2-40B4-BE49-F238E27FC236}">
                <a16:creationId xmlns:a16="http://schemas.microsoft.com/office/drawing/2014/main" id="{07BB95A8-90C2-4188-BDB2-83EFBEBF5EA3}"/>
              </a:ext>
            </a:extLst>
          </p:cNvPr>
          <p:cNvSpPr>
            <a:spLocks xmlns:a="http://schemas.openxmlformats.org/drawingml/2006/main" noGrp="1"/>
          </p:cNvSpPr>
          <p:nvPr/>
        </p:nvSpPr>
        <p:spPr>
          <a:xfrm xmlns:a="http://schemas.openxmlformats.org/drawingml/2006/main">
            <a:off x="8439150" y="2419350"/>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48DCE7"/>
                </a:solidFill>
                <a:latin typeface="Liberation Sans"/>
                <a:ea typeface="Liberation Sans"/>
                <a:cs typeface="Liberation Sans"/>
              </a:defRPr>
            </a:defPPr>
          </a:lstStyle>
          <a:p xmlns:a="http://schemas.openxmlformats.org/drawingml/2006/main">
            <a:pPr algn="l">
              <a:defRPr sz="2025" b="1">
                <a:solidFill>
                  <a:srgbClr val="48DCE7"/>
                </a:solidFill>
                <a:latin typeface="Liberation Sans"/>
                <a:ea typeface="Liberation Sans"/>
                <a:cs typeface="Liberation Sans"/>
              </a:defRPr>
            </a:pPr>
            <a:r>
              <a:rPr sz="2025" b="1">
                <a:solidFill>
                  <a:srgbClr val="48DCE7"/>
                </a:solidFill>
                <a:latin typeface="Liberation Sans"/>
                <a:ea typeface="Liberation Sans"/>
                <a:cs typeface="Liberation Sans"/>
              </a:rPr>
              <a:t>03</a:t>
            </a:r>
          </a:p>
        </p:txBody>
      </p:sp>
      <p:sp>
        <p:nvSpPr>
          <p:cNvPr id="17" name="shape-139">
            <a:extLst xmlns:a="http://schemas.openxmlformats.org/drawingml/2006/main">
              <a:ext uri="{FF2B5EF4-FFF2-40B4-BE49-F238E27FC236}">
                <a16:creationId xmlns:a16="http://schemas.microsoft.com/office/drawing/2014/main" id="{90B651ED-9945-4512-AE9E-F1CA470D44FD}"/>
              </a:ext>
            </a:extLst>
          </p:cNvPr>
          <p:cNvSpPr>
            <a:spLocks xmlns:a="http://schemas.openxmlformats.org/drawingml/2006/main" noGrp="1"/>
          </p:cNvSpPr>
          <p:nvPr/>
        </p:nvSpPr>
        <p:spPr>
          <a:xfrm xmlns:a="http://schemas.openxmlformats.org/drawingml/2006/main">
            <a:off x="8439150" y="280035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3F7FB"/>
                </a:solidFill>
                <a:latin typeface="Liberation Sans"/>
                <a:ea typeface="Liberation Sans"/>
                <a:cs typeface="Liberation Sans"/>
              </a:defRPr>
            </a:defPPr>
          </a:lstStyle>
          <a:p xmlns:a="http://schemas.openxmlformats.org/drawingml/2006/main">
            <a:pPr algn="l">
              <a:defRPr sz="1950" b="1">
                <a:solidFill>
                  <a:srgbClr val="F3F7FB"/>
                </a:solidFill>
                <a:latin typeface="Liberation Sans"/>
                <a:ea typeface="Liberation Sans"/>
                <a:cs typeface="Liberation Sans"/>
              </a:defRPr>
            </a:pPr>
            <a:r>
              <a:rPr sz="1950" b="1">
                <a:solidFill>
                  <a:srgbClr val="F3F7FB"/>
                </a:solidFill>
                <a:latin typeface="Liberation Sans"/>
                <a:ea typeface="Liberation Sans"/>
                <a:cs typeface="Liberation Sans"/>
              </a:rPr>
              <a:t>Validate primary keys</a:t>
            </a:r>
          </a:p>
        </p:txBody>
      </p:sp>
      <p:sp>
        <p:nvSpPr>
          <p:cNvPr id="18" name="shape-140">
            <a:extLst xmlns:a="http://schemas.openxmlformats.org/drawingml/2006/main">
              <a:ext uri="{FF2B5EF4-FFF2-40B4-BE49-F238E27FC236}">
                <a16:creationId xmlns:a16="http://schemas.microsoft.com/office/drawing/2014/main" id="{BB3841FD-4781-43A2-A40E-FF4EB6AF810E}"/>
              </a:ext>
            </a:extLst>
          </p:cNvPr>
          <p:cNvSpPr>
            <a:spLocks xmlns:a="http://schemas.openxmlformats.org/drawingml/2006/main" noGrp="1"/>
          </p:cNvSpPr>
          <p:nvPr/>
        </p:nvSpPr>
        <p:spPr>
          <a:xfrm xmlns:a="http://schemas.openxmlformats.org/drawingml/2006/main">
            <a:off x="8439150" y="3181350"/>
            <a:ext cx="2990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9BBCB"/>
                </a:solidFill>
                <a:latin typeface="Liberation Sans"/>
                <a:ea typeface="Liberation Sans"/>
                <a:cs typeface="Liberation Sans"/>
              </a:defRPr>
            </a:defPPr>
          </a:lstStyle>
          <a:p xmlns:a="http://schemas.openxmlformats.org/drawingml/2006/main">
            <a:pPr algn="l">
              <a:defRPr sz="1575" b="0">
                <a:solidFill>
                  <a:srgbClr val="A9BBCB"/>
                </a:solidFill>
                <a:latin typeface="Liberation Sans"/>
                <a:ea typeface="Liberation Sans"/>
                <a:cs typeface="Liberation Sans"/>
              </a:defRPr>
            </a:pPr>
            <a:r>
              <a:rPr sz="1575" b="0">
                <a:solidFill>
                  <a:srgbClr val="A9BBCB"/>
                </a:solidFill>
                <a:latin typeface="Liberation Sans"/>
                <a:ea typeface="Liberation Sans"/>
                <a:cs typeface="Liberation Sans"/>
              </a:rPr>
              <a:t>Reject NULL and duplicate keys</a:t>
            </a:r>
          </a:p>
        </p:txBody>
      </p:sp>
      <p:sp>
        <p:nvSpPr>
          <p:cNvPr id="19" name="shape-141">
            <a:extLst xmlns:a="http://schemas.openxmlformats.org/drawingml/2006/main">
              <a:ext uri="{FF2B5EF4-FFF2-40B4-BE49-F238E27FC236}">
                <a16:creationId xmlns:a16="http://schemas.microsoft.com/office/drawing/2014/main" id="{ADC9BB68-7B79-4D4F-8FD5-6CF692933651}"/>
              </a:ext>
            </a:extLst>
          </p:cNvPr>
          <p:cNvSpPr>
            <a:spLocks xmlns:a="http://schemas.openxmlformats.org/drawingml/2006/main" noGrp="1"/>
          </p:cNvSpPr>
          <p:nvPr/>
        </p:nvSpPr>
        <p:spPr>
          <a:xfrm xmlns:a="http://schemas.openxmlformats.org/drawingml/2006/main">
            <a:off x="8248650" y="4086225"/>
            <a:ext cx="3371850" cy="1438275"/>
          </a:xfrm>
          <a:prstGeom xmlns:a="http://schemas.openxmlformats.org/drawingml/2006/main" prst="roundRect">
            <a:avLst>
              <a:gd name="adj" fmla="val 7947"/>
            </a:avLst>
          </a:prstGeom>
          <a:solidFill xmlns:a="http://schemas.openxmlformats.org/drawingml/2006/main">
            <a:srgbClr val="122536"/>
          </a:solidFill>
          <a:ln xmlns:a="http://schemas.openxmlformats.org/drawingml/2006/main" w="9525">
            <a:solidFill>
              <a:srgbClr val="2A4052"/>
            </a:solidFill>
            <a:prstDash val="solid"/>
          </a:ln>
        </p:spPr>
      </p:sp>
      <p:sp>
        <p:nvSpPr>
          <p:cNvPr id="20" name="shape-142">
            <a:extLst xmlns:a="http://schemas.openxmlformats.org/drawingml/2006/main">
              <a:ext uri="{FF2B5EF4-FFF2-40B4-BE49-F238E27FC236}">
                <a16:creationId xmlns:a16="http://schemas.microsoft.com/office/drawing/2014/main" id="{D7D9463B-962B-49C9-8F14-8C8E7555D3EA}"/>
              </a:ext>
            </a:extLst>
          </p:cNvPr>
          <p:cNvSpPr>
            <a:spLocks xmlns:a="http://schemas.openxmlformats.org/drawingml/2006/main" noGrp="1"/>
          </p:cNvSpPr>
          <p:nvPr/>
        </p:nvSpPr>
        <p:spPr>
          <a:xfrm xmlns:a="http://schemas.openxmlformats.org/drawingml/2006/main">
            <a:off x="8439150" y="423862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48DCE7"/>
                </a:solidFill>
                <a:latin typeface="Liberation Sans"/>
                <a:ea typeface="Liberation Sans"/>
                <a:cs typeface="Liberation Sans"/>
              </a:defRPr>
            </a:defPPr>
          </a:lstStyle>
          <a:p xmlns:a="http://schemas.openxmlformats.org/drawingml/2006/main">
            <a:pPr algn="l">
              <a:defRPr sz="2025" b="1">
                <a:solidFill>
                  <a:srgbClr val="48DCE7"/>
                </a:solidFill>
                <a:latin typeface="Liberation Sans"/>
                <a:ea typeface="Liberation Sans"/>
                <a:cs typeface="Liberation Sans"/>
              </a:defRPr>
            </a:pPr>
            <a:r>
              <a:rPr sz="2025" b="1">
                <a:solidFill>
                  <a:srgbClr val="48DCE7"/>
                </a:solidFill>
                <a:latin typeface="Liberation Sans"/>
                <a:ea typeface="Liberation Sans"/>
                <a:cs typeface="Liberation Sans"/>
              </a:rPr>
              <a:t>04</a:t>
            </a:r>
          </a:p>
        </p:txBody>
      </p:sp>
      <p:sp>
        <p:nvSpPr>
          <p:cNvPr id="21" name="shape-143">
            <a:extLst xmlns:a="http://schemas.openxmlformats.org/drawingml/2006/main">
              <a:ext uri="{FF2B5EF4-FFF2-40B4-BE49-F238E27FC236}">
                <a16:creationId xmlns:a16="http://schemas.microsoft.com/office/drawing/2014/main" id="{E452F556-5219-4DC2-8AE5-6629035433C6}"/>
              </a:ext>
            </a:extLst>
          </p:cNvPr>
          <p:cNvSpPr>
            <a:spLocks xmlns:a="http://schemas.openxmlformats.org/drawingml/2006/main" noGrp="1"/>
          </p:cNvSpPr>
          <p:nvPr/>
        </p:nvSpPr>
        <p:spPr>
          <a:xfrm xmlns:a="http://schemas.openxmlformats.org/drawingml/2006/main">
            <a:off x="8439150" y="461962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3F7FB"/>
                </a:solidFill>
                <a:latin typeface="Liberation Sans"/>
                <a:ea typeface="Liberation Sans"/>
                <a:cs typeface="Liberation Sans"/>
              </a:defRPr>
            </a:defPPr>
          </a:lstStyle>
          <a:p xmlns:a="http://schemas.openxmlformats.org/drawingml/2006/main">
            <a:pPr algn="l">
              <a:defRPr sz="1950" b="1">
                <a:solidFill>
                  <a:srgbClr val="F3F7FB"/>
                </a:solidFill>
                <a:latin typeface="Liberation Sans"/>
                <a:ea typeface="Liberation Sans"/>
                <a:cs typeface="Liberation Sans"/>
              </a:defRPr>
            </a:pPr>
            <a:r>
              <a:rPr sz="1950" b="1">
                <a:solidFill>
                  <a:srgbClr val="F3F7FB"/>
                </a:solidFill>
                <a:latin typeface="Liberation Sans"/>
                <a:ea typeface="Liberation Sans"/>
                <a:cs typeface="Liberation Sans"/>
              </a:rPr>
              <a:t>Profile missing values</a:t>
            </a:r>
          </a:p>
        </p:txBody>
      </p:sp>
      <p:sp>
        <p:nvSpPr>
          <p:cNvPr id="22" name="shape-144">
            <a:extLst xmlns:a="http://schemas.openxmlformats.org/drawingml/2006/main">
              <a:ext uri="{FF2B5EF4-FFF2-40B4-BE49-F238E27FC236}">
                <a16:creationId xmlns:a16="http://schemas.microsoft.com/office/drawing/2014/main" id="{866403D5-8920-444E-ADAD-211559D27A69}"/>
              </a:ext>
            </a:extLst>
          </p:cNvPr>
          <p:cNvSpPr>
            <a:spLocks xmlns:a="http://schemas.openxmlformats.org/drawingml/2006/main" noGrp="1"/>
          </p:cNvSpPr>
          <p:nvPr/>
        </p:nvSpPr>
        <p:spPr>
          <a:xfrm xmlns:a="http://schemas.openxmlformats.org/drawingml/2006/main">
            <a:off x="8439150" y="5000625"/>
            <a:ext cx="2990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9BBCB"/>
                </a:solidFill>
                <a:latin typeface="Liberation Sans"/>
                <a:ea typeface="Liberation Sans"/>
                <a:cs typeface="Liberation Sans"/>
              </a:defRPr>
            </a:defPPr>
          </a:lstStyle>
          <a:p xmlns:a="http://schemas.openxmlformats.org/drawingml/2006/main">
            <a:pPr algn="l">
              <a:defRPr sz="1575" b="0">
                <a:solidFill>
                  <a:srgbClr val="A9BBCB"/>
                </a:solidFill>
                <a:latin typeface="Liberation Sans"/>
                <a:ea typeface="Liberation Sans"/>
                <a:cs typeface="Liberation Sans"/>
              </a:defRPr>
            </a:pPr>
            <a:r>
              <a:rPr sz="1575" b="0">
                <a:solidFill>
                  <a:srgbClr val="A9BBCB"/>
                </a:solidFill>
                <a:latin typeface="Liberation Sans"/>
                <a:ea typeface="Liberation Sans"/>
                <a:cs typeface="Liberation Sans"/>
              </a:rPr>
              <a:t>Log non-key quality warnings</a:t>
            </a:r>
          </a:p>
        </p:txBody>
      </p:sp>
      <p:sp>
        <p:nvSpPr>
          <p:cNvPr id="23" name="shape-145">
            <a:extLst xmlns:a="http://schemas.openxmlformats.org/drawingml/2006/main">
              <a:ext uri="{FF2B5EF4-FFF2-40B4-BE49-F238E27FC236}">
                <a16:creationId xmlns:a16="http://schemas.microsoft.com/office/drawing/2014/main" id="{57C0A3C7-8B4B-4290-ABA5-6DA0E821CF12}"/>
              </a:ext>
            </a:extLst>
          </p:cNvPr>
          <p:cNvSpPr>
            <a:spLocks xmlns:a="http://schemas.openxmlformats.org/drawingml/2006/main" noGrp="1"/>
          </p:cNvSpPr>
          <p:nvPr/>
        </p:nvSpPr>
        <p:spPr>
          <a:xfrm xmlns:a="http://schemas.openxmlformats.org/drawingml/2006/main">
            <a:off x="4410075" y="4086225"/>
            <a:ext cx="3371850" cy="1438275"/>
          </a:xfrm>
          <a:prstGeom xmlns:a="http://schemas.openxmlformats.org/drawingml/2006/main" prst="roundRect">
            <a:avLst>
              <a:gd name="adj" fmla="val 7947"/>
            </a:avLst>
          </a:prstGeom>
          <a:solidFill xmlns:a="http://schemas.openxmlformats.org/drawingml/2006/main">
            <a:srgbClr val="122536"/>
          </a:solidFill>
          <a:ln xmlns:a="http://schemas.openxmlformats.org/drawingml/2006/main" w="9525">
            <a:solidFill>
              <a:srgbClr val="2A4052"/>
            </a:solidFill>
            <a:prstDash val="solid"/>
          </a:ln>
        </p:spPr>
      </p:sp>
      <p:sp>
        <p:nvSpPr>
          <p:cNvPr id="24" name="shape-146">
            <a:extLst xmlns:a="http://schemas.openxmlformats.org/drawingml/2006/main">
              <a:ext uri="{FF2B5EF4-FFF2-40B4-BE49-F238E27FC236}">
                <a16:creationId xmlns:a16="http://schemas.microsoft.com/office/drawing/2014/main" id="{CB032F24-F8B9-4AE4-BE58-A1512CC3B223}"/>
              </a:ext>
            </a:extLst>
          </p:cNvPr>
          <p:cNvSpPr>
            <a:spLocks xmlns:a="http://schemas.openxmlformats.org/drawingml/2006/main" noGrp="1"/>
          </p:cNvSpPr>
          <p:nvPr/>
        </p:nvSpPr>
        <p:spPr>
          <a:xfrm xmlns:a="http://schemas.openxmlformats.org/drawingml/2006/main">
            <a:off x="4600575" y="423862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48DCE7"/>
                </a:solidFill>
                <a:latin typeface="Liberation Sans"/>
                <a:ea typeface="Liberation Sans"/>
                <a:cs typeface="Liberation Sans"/>
              </a:defRPr>
            </a:defPPr>
          </a:lstStyle>
          <a:p xmlns:a="http://schemas.openxmlformats.org/drawingml/2006/main">
            <a:pPr algn="l">
              <a:defRPr sz="2025" b="1">
                <a:solidFill>
                  <a:srgbClr val="48DCE7"/>
                </a:solidFill>
                <a:latin typeface="Liberation Sans"/>
                <a:ea typeface="Liberation Sans"/>
                <a:cs typeface="Liberation Sans"/>
              </a:defRPr>
            </a:pPr>
            <a:r>
              <a:rPr sz="2025" b="1">
                <a:solidFill>
                  <a:srgbClr val="48DCE7"/>
                </a:solidFill>
                <a:latin typeface="Liberation Sans"/>
                <a:ea typeface="Liberation Sans"/>
                <a:cs typeface="Liberation Sans"/>
              </a:rPr>
              <a:t>05</a:t>
            </a:r>
          </a:p>
        </p:txBody>
      </p:sp>
      <p:sp>
        <p:nvSpPr>
          <p:cNvPr id="25" name="shape-147">
            <a:extLst xmlns:a="http://schemas.openxmlformats.org/drawingml/2006/main">
              <a:ext uri="{FF2B5EF4-FFF2-40B4-BE49-F238E27FC236}">
                <a16:creationId xmlns:a16="http://schemas.microsoft.com/office/drawing/2014/main" id="{45C29D2E-FC20-4E46-8DAA-7EE65903B401}"/>
              </a:ext>
            </a:extLst>
          </p:cNvPr>
          <p:cNvSpPr>
            <a:spLocks xmlns:a="http://schemas.openxmlformats.org/drawingml/2006/main" noGrp="1"/>
          </p:cNvSpPr>
          <p:nvPr/>
        </p:nvSpPr>
        <p:spPr>
          <a:xfrm xmlns:a="http://schemas.openxmlformats.org/drawingml/2006/main">
            <a:off x="4600575" y="461962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3F7FB"/>
                </a:solidFill>
                <a:latin typeface="Liberation Sans"/>
                <a:ea typeface="Liberation Sans"/>
                <a:cs typeface="Liberation Sans"/>
              </a:defRPr>
            </a:defPPr>
          </a:lstStyle>
          <a:p xmlns:a="http://schemas.openxmlformats.org/drawingml/2006/main">
            <a:pPr algn="l">
              <a:defRPr sz="1950" b="1">
                <a:solidFill>
                  <a:srgbClr val="F3F7FB"/>
                </a:solidFill>
                <a:latin typeface="Liberation Sans"/>
                <a:ea typeface="Liberation Sans"/>
                <a:cs typeface="Liberation Sans"/>
              </a:defRPr>
            </a:pPr>
            <a:r>
              <a:rPr sz="1950" b="1">
                <a:solidFill>
                  <a:srgbClr val="F3F7FB"/>
                </a:solidFill>
                <a:latin typeface="Liberation Sans"/>
                <a:ea typeface="Liberation Sans"/>
                <a:cs typeface="Liberation Sans"/>
              </a:rPr>
              <a:t>Load raw tables</a:t>
            </a:r>
          </a:p>
        </p:txBody>
      </p:sp>
      <p:sp>
        <p:nvSpPr>
          <p:cNvPr id="26" name="shape-148">
            <a:extLst xmlns:a="http://schemas.openxmlformats.org/drawingml/2006/main">
              <a:ext uri="{FF2B5EF4-FFF2-40B4-BE49-F238E27FC236}">
                <a16:creationId xmlns:a16="http://schemas.microsoft.com/office/drawing/2014/main" id="{06D49C4C-27AA-4C78-9C29-3C0491564D71}"/>
              </a:ext>
            </a:extLst>
          </p:cNvPr>
          <p:cNvSpPr>
            <a:spLocks xmlns:a="http://schemas.openxmlformats.org/drawingml/2006/main" noGrp="1"/>
          </p:cNvSpPr>
          <p:nvPr/>
        </p:nvSpPr>
        <p:spPr>
          <a:xfrm xmlns:a="http://schemas.openxmlformats.org/drawingml/2006/main">
            <a:off x="4600575" y="5000625"/>
            <a:ext cx="2990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9BBCB"/>
                </a:solidFill>
                <a:latin typeface="Liberation Sans"/>
                <a:ea typeface="Liberation Sans"/>
                <a:cs typeface="Liberation Sans"/>
              </a:defRPr>
            </a:defPPr>
          </a:lstStyle>
          <a:p xmlns:a="http://schemas.openxmlformats.org/drawingml/2006/main">
            <a:pPr algn="l">
              <a:defRPr sz="1575" b="0">
                <a:solidFill>
                  <a:srgbClr val="A9BBCB"/>
                </a:solidFill>
                <a:latin typeface="Liberation Sans"/>
                <a:ea typeface="Liberation Sans"/>
                <a:cs typeface="Liberation Sans"/>
              </a:defRPr>
            </a:pPr>
            <a:r>
              <a:rPr sz="1575" b="0">
                <a:solidFill>
                  <a:srgbClr val="A9BBCB"/>
                </a:solidFill>
                <a:latin typeface="Liberation Sans"/>
                <a:ea typeface="Liberation Sans"/>
                <a:cs typeface="Liberation Sans"/>
              </a:rPr>
              <a:t>Bulk load with PostgreSQL COPY</a:t>
            </a:r>
          </a:p>
        </p:txBody>
      </p:sp>
      <p:sp>
        <p:nvSpPr>
          <p:cNvPr id="27" name="shape-149">
            <a:extLst xmlns:a="http://schemas.openxmlformats.org/drawingml/2006/main">
              <a:ext uri="{FF2B5EF4-FFF2-40B4-BE49-F238E27FC236}">
                <a16:creationId xmlns:a16="http://schemas.microsoft.com/office/drawing/2014/main" id="{60C42EB4-2425-4001-AC8B-B72F3F397A7A}"/>
              </a:ext>
            </a:extLst>
          </p:cNvPr>
          <p:cNvSpPr>
            <a:spLocks xmlns:a="http://schemas.openxmlformats.org/drawingml/2006/main" noGrp="1"/>
          </p:cNvSpPr>
          <p:nvPr/>
        </p:nvSpPr>
        <p:spPr>
          <a:xfrm xmlns:a="http://schemas.openxmlformats.org/drawingml/2006/main">
            <a:off x="571500" y="4086225"/>
            <a:ext cx="3371850" cy="1438275"/>
          </a:xfrm>
          <a:prstGeom xmlns:a="http://schemas.openxmlformats.org/drawingml/2006/main" prst="roundRect">
            <a:avLst>
              <a:gd name="adj" fmla="val 7947"/>
            </a:avLst>
          </a:prstGeom>
          <a:solidFill xmlns:a="http://schemas.openxmlformats.org/drawingml/2006/main">
            <a:srgbClr val="122536"/>
          </a:solidFill>
          <a:ln xmlns:a="http://schemas.openxmlformats.org/drawingml/2006/main" w="9525">
            <a:solidFill>
              <a:srgbClr val="2A4052"/>
            </a:solidFill>
            <a:prstDash val="solid"/>
          </a:ln>
        </p:spPr>
      </p:sp>
      <p:sp>
        <p:nvSpPr>
          <p:cNvPr id="28" name="shape-150">
            <a:extLst xmlns:a="http://schemas.openxmlformats.org/drawingml/2006/main">
              <a:ext uri="{FF2B5EF4-FFF2-40B4-BE49-F238E27FC236}">
                <a16:creationId xmlns:a16="http://schemas.microsoft.com/office/drawing/2014/main" id="{467DBF77-507E-4BCD-B5F2-B6D3F60D4839}"/>
              </a:ext>
            </a:extLst>
          </p:cNvPr>
          <p:cNvSpPr>
            <a:spLocks xmlns:a="http://schemas.openxmlformats.org/drawingml/2006/main" noGrp="1"/>
          </p:cNvSpPr>
          <p:nvPr/>
        </p:nvSpPr>
        <p:spPr>
          <a:xfrm xmlns:a="http://schemas.openxmlformats.org/drawingml/2006/main">
            <a:off x="762000" y="4238625"/>
            <a:ext cx="57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48DCE7"/>
                </a:solidFill>
                <a:latin typeface="Liberation Sans"/>
                <a:ea typeface="Liberation Sans"/>
                <a:cs typeface="Liberation Sans"/>
              </a:defRPr>
            </a:defPPr>
          </a:lstStyle>
          <a:p xmlns:a="http://schemas.openxmlformats.org/drawingml/2006/main">
            <a:pPr algn="l">
              <a:defRPr sz="2025" b="1">
                <a:solidFill>
                  <a:srgbClr val="48DCE7"/>
                </a:solidFill>
                <a:latin typeface="Liberation Sans"/>
                <a:ea typeface="Liberation Sans"/>
                <a:cs typeface="Liberation Sans"/>
              </a:defRPr>
            </a:pPr>
            <a:r>
              <a:rPr sz="2025" b="1">
                <a:solidFill>
                  <a:srgbClr val="48DCE7"/>
                </a:solidFill>
                <a:latin typeface="Liberation Sans"/>
                <a:ea typeface="Liberation Sans"/>
                <a:cs typeface="Liberation Sans"/>
              </a:rPr>
              <a:t>06</a:t>
            </a:r>
          </a:p>
        </p:txBody>
      </p:sp>
      <p:sp>
        <p:nvSpPr>
          <p:cNvPr id="29" name="shape-151">
            <a:extLst xmlns:a="http://schemas.openxmlformats.org/drawingml/2006/main">
              <a:ext uri="{FF2B5EF4-FFF2-40B4-BE49-F238E27FC236}">
                <a16:creationId xmlns:a16="http://schemas.microsoft.com/office/drawing/2014/main" id="{C0665BAA-946D-4BA8-BF64-6A35A9CBD79E}"/>
              </a:ext>
            </a:extLst>
          </p:cNvPr>
          <p:cNvSpPr>
            <a:spLocks xmlns:a="http://schemas.openxmlformats.org/drawingml/2006/main" noGrp="1"/>
          </p:cNvSpPr>
          <p:nvPr/>
        </p:nvSpPr>
        <p:spPr>
          <a:xfrm xmlns:a="http://schemas.openxmlformats.org/drawingml/2006/main">
            <a:off x="762000" y="461962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3F7FB"/>
                </a:solidFill>
                <a:latin typeface="Liberation Sans"/>
                <a:ea typeface="Liberation Sans"/>
                <a:cs typeface="Liberation Sans"/>
              </a:defRPr>
            </a:defPPr>
          </a:lstStyle>
          <a:p xmlns:a="http://schemas.openxmlformats.org/drawingml/2006/main">
            <a:pPr algn="l">
              <a:defRPr sz="1950" b="1">
                <a:solidFill>
                  <a:srgbClr val="F3F7FB"/>
                </a:solidFill>
                <a:latin typeface="Liberation Sans"/>
                <a:ea typeface="Liberation Sans"/>
                <a:cs typeface="Liberation Sans"/>
              </a:defRPr>
            </a:pPr>
            <a:r>
              <a:rPr sz="1950" b="1">
                <a:solidFill>
                  <a:srgbClr val="F3F7FB"/>
                </a:solidFill>
                <a:latin typeface="Liberation Sans"/>
                <a:ea typeface="Liberation Sans"/>
                <a:cs typeface="Liberation Sans"/>
              </a:rPr>
              <a:t>Verify row counts</a:t>
            </a:r>
          </a:p>
        </p:txBody>
      </p:sp>
      <p:sp>
        <p:nvSpPr>
          <p:cNvPr id="30" name="shape-152">
            <a:extLst xmlns:a="http://schemas.openxmlformats.org/drawingml/2006/main">
              <a:ext uri="{FF2B5EF4-FFF2-40B4-BE49-F238E27FC236}">
                <a16:creationId xmlns:a16="http://schemas.microsoft.com/office/drawing/2014/main" id="{ACAACD1B-29F5-4953-8833-9B9EA16203A3}"/>
              </a:ext>
            </a:extLst>
          </p:cNvPr>
          <p:cNvSpPr>
            <a:spLocks xmlns:a="http://schemas.openxmlformats.org/drawingml/2006/main" noGrp="1"/>
          </p:cNvSpPr>
          <p:nvPr/>
        </p:nvSpPr>
        <p:spPr>
          <a:xfrm xmlns:a="http://schemas.openxmlformats.org/drawingml/2006/main">
            <a:off x="762000" y="5000625"/>
            <a:ext cx="2990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9BBCB"/>
                </a:solidFill>
                <a:latin typeface="Liberation Sans"/>
                <a:ea typeface="Liberation Sans"/>
                <a:cs typeface="Liberation Sans"/>
              </a:defRPr>
            </a:defPPr>
          </a:lstStyle>
          <a:p xmlns:a="http://schemas.openxmlformats.org/drawingml/2006/main">
            <a:pPr algn="l">
              <a:defRPr sz="1575" b="0">
                <a:solidFill>
                  <a:srgbClr val="A9BBCB"/>
                </a:solidFill>
                <a:latin typeface="Liberation Sans"/>
                <a:ea typeface="Liberation Sans"/>
                <a:cs typeface="Liberation Sans"/>
              </a:defRPr>
            </a:pPr>
            <a:r>
              <a:rPr sz="1575" b="0">
                <a:solidFill>
                  <a:srgbClr val="A9BBCB"/>
                </a:solidFill>
                <a:latin typeface="Liberation Sans"/>
                <a:ea typeface="Liberation Sans"/>
                <a:cs typeface="Liberation Sans"/>
              </a:rPr>
              <a:t>Compare source and database</a:t>
            </a:r>
          </a:p>
        </p:txBody>
      </p:sp>
      <p:sp>
        <p:nvSpPr>
          <p:cNvPr id="36" name="shape-153">
            <a:extLst xmlns:a="http://schemas.openxmlformats.org/drawingml/2006/main">
              <a:ext uri="{FF2B5EF4-FFF2-40B4-BE49-F238E27FC236}">
                <a16:creationId xmlns:a16="http://schemas.microsoft.com/office/drawing/2014/main" id="{E88C8EDB-565D-47A7-817C-21302C4D100A}"/>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39DBB0"/>
                </a:solidFill>
                <a:latin typeface="Liberation Sans"/>
                <a:ea typeface="Liberation Sans"/>
                <a:cs typeface="Liberation Sans"/>
              </a:defRPr>
            </a:defPPr>
          </a:lstStyle>
          <a:p xmlns:a="http://schemas.openxmlformats.org/drawingml/2006/main">
            <a:pPr algn="l">
              <a:defRPr sz="1425" b="0">
                <a:solidFill>
                  <a:srgbClr val="39DBB0"/>
                </a:solidFill>
                <a:latin typeface="Liberation Sans"/>
                <a:ea typeface="Liberation Sans"/>
                <a:cs typeface="Liberation Sans"/>
              </a:defRPr>
            </a:pPr>
            <a:r>
              <a:rPr sz="1425" b="0">
                <a:solidFill>
                  <a:srgbClr val="39DBB0"/>
                </a:solidFill>
                <a:latin typeface="Liberation Sans"/>
                <a:ea typeface="Liberation Sans"/>
                <a:cs typeface="Liberation Sans"/>
              </a:rPr>
              <a:t>Verified: source and PostgreSQL row counts matched for all seven raw tables</a:t>
            </a:r>
          </a:p>
        </p:txBody>
      </p:sp>
    </p:spTree>
    <p:extLst>
      <p:ext uri="{BB962C8B-B14F-4D97-AF65-F5344CB8AC3E}">
        <p14:creationId xmlns:p14="http://schemas.microsoft.com/office/powerpoint/2010/main" val="912605150"/>
      </p:ext>
    </p:extLst>
  </p:cSld>
</p:sld>
</file>

<file path=ppt/slides/slide6.xml><?xml version="1.0" encoding="utf-8"?>
<p:sld xmlns:p="http://schemas.openxmlformats.org/presentationml/2006/main">
  <p:cSld>
    <p:bg>
      <p:bgPr>
        <a:solidFill xmlns:a="http://schemas.openxmlformats.org/drawingml/2006/main">
          <a:srgbClr val="091522"/>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2D3307BF-586B-47D0-B442-98A48B5368E7}"/>
              </a:ext>
            </a:extLst>
          </p:cNvPr>
          <p:cNvCxnSpPr>
            <a:stCxn xmlns:a="http://schemas.openxmlformats.org/drawingml/2006/main" id="12" idx="2"/>
            <a:endCxn xmlns:a="http://schemas.openxmlformats.org/drawingml/2006/main" id="15" idx="0"/>
          </p:cNvCxnSpPr>
          <p:nvPr/>
        </p:nvCxnSpPr>
        <p:spPr>
          <a:xfrm xmlns:a="http://schemas.openxmlformats.org/drawingml/2006/main">
            <a:off x="3667125" y="4505325"/>
            <a:ext cx="0" cy="219075"/>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B64B763E-FBEF-4C8E-98CB-A26D185F5D24}"/>
              </a:ext>
            </a:extLst>
          </p:cNvPr>
          <p:cNvCxnSpPr>
            <a:stCxn xmlns:a="http://schemas.openxmlformats.org/drawingml/2006/main" id="9" idx="2"/>
            <a:endCxn xmlns:a="http://schemas.openxmlformats.org/drawingml/2006/main" id="12" idx="0"/>
          </p:cNvCxnSpPr>
          <p:nvPr/>
        </p:nvCxnSpPr>
        <p:spPr>
          <a:xfrm xmlns:a="http://schemas.openxmlformats.org/drawingml/2006/main">
            <a:off x="3667125" y="3505200"/>
            <a:ext cx="0" cy="219075"/>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AF134CED-62EF-4EAB-AAC9-FE46453101E0}"/>
              </a:ext>
            </a:extLst>
          </p:cNvPr>
          <p:cNvCxnSpPr>
            <a:stCxn xmlns:a="http://schemas.openxmlformats.org/drawingml/2006/main" id="6" idx="2"/>
            <a:endCxn xmlns:a="http://schemas.openxmlformats.org/drawingml/2006/main" id="9" idx="0"/>
          </p:cNvCxnSpPr>
          <p:nvPr/>
        </p:nvCxnSpPr>
        <p:spPr>
          <a:xfrm xmlns:a="http://schemas.openxmlformats.org/drawingml/2006/main">
            <a:off x="3667125" y="2505075"/>
            <a:ext cx="0" cy="219075"/>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sp>
        <p:nvSpPr>
          <p:cNvPr id="34" name="shape-154">
            <a:extLst xmlns:a="http://schemas.openxmlformats.org/drawingml/2006/main">
              <a:ext uri="{FF2B5EF4-FFF2-40B4-BE49-F238E27FC236}">
                <a16:creationId xmlns:a16="http://schemas.microsoft.com/office/drawing/2014/main" id="{933BD527-782F-4824-B6AB-E6898DE5FC77}"/>
              </a:ext>
            </a:extLst>
          </p:cNvPr>
          <p:cNvSpPr>
            <a:spLocks xmlns:a="http://schemas.openxmlformats.org/drawingml/2006/main" noGrp="1"/>
          </p:cNvSpPr>
          <p:nvPr/>
        </p:nvSpPr>
        <p:spPr>
          <a:xfrm xmlns:a="http://schemas.openxmlformats.org/drawingml/2006/main">
            <a:off x="571500" y="333375"/>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48DCE7"/>
                </a:solidFill>
                <a:latin typeface="Liberation Sans"/>
                <a:ea typeface="Liberation Sans"/>
                <a:cs typeface="Liberation Sans"/>
              </a:defRPr>
            </a:defPPr>
          </a:lstStyle>
          <a:p xmlns:a="http://schemas.openxmlformats.org/drawingml/2006/main">
            <a:pPr algn="l">
              <a:defRPr sz="1125" b="1">
                <a:solidFill>
                  <a:srgbClr val="48DCE7"/>
                </a:solidFill>
                <a:latin typeface="Liberation Sans"/>
                <a:ea typeface="Liberation Sans"/>
                <a:cs typeface="Liberation Sans"/>
              </a:defRPr>
            </a:pPr>
            <a:r>
              <a:rPr sz="1125" b="1">
                <a:solidFill>
                  <a:srgbClr val="48DCE7"/>
                </a:solidFill>
                <a:latin typeface="Liberation Sans"/>
                <a:ea typeface="Liberation Sans"/>
                <a:cs typeface="Liberation Sans"/>
              </a:rPr>
              <a:t>STORAGE &amp; MODELING</a:t>
            </a:r>
          </a:p>
        </p:txBody>
      </p:sp>
      <p:sp>
        <p:nvSpPr>
          <p:cNvPr id="2" name="shape-155">
            <a:extLst xmlns:a="http://schemas.openxmlformats.org/drawingml/2006/main">
              <a:ext uri="{FF2B5EF4-FFF2-40B4-BE49-F238E27FC236}">
                <a16:creationId xmlns:a16="http://schemas.microsoft.com/office/drawing/2014/main" id="{BCA4C8D0-7ADF-4AEF-BFA7-6CAD92811412}"/>
              </a:ext>
            </a:extLst>
          </p:cNvPr>
          <p:cNvSpPr>
            <a:spLocks xmlns:a="http://schemas.openxmlformats.org/drawingml/2006/main" noGrp="1"/>
          </p:cNvSpPr>
          <p:nvPr/>
        </p:nvSpPr>
        <p:spPr>
          <a:xfrm xmlns:a="http://schemas.openxmlformats.org/drawingml/2006/main">
            <a:off x="571500" y="704850"/>
            <a:ext cx="110490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3F7FB"/>
                </a:solidFill>
                <a:latin typeface="Liberation Sans"/>
                <a:ea typeface="Liberation Sans"/>
                <a:cs typeface="Liberation Sans"/>
              </a:defRPr>
            </a:defPPr>
          </a:lstStyle>
          <a:p xmlns:a="http://schemas.openxmlformats.org/drawingml/2006/main">
            <a:pPr algn="l">
              <a:defRPr sz="3225" b="1">
                <a:solidFill>
                  <a:srgbClr val="F3F7FB"/>
                </a:solidFill>
                <a:latin typeface="Liberation Sans"/>
                <a:ea typeface="Liberation Sans"/>
                <a:cs typeface="Liberation Sans"/>
              </a:defRPr>
            </a:pPr>
            <a:r>
              <a:rPr sz="3225" b="1">
                <a:solidFill>
                  <a:srgbClr val="F3F7FB"/>
                </a:solidFill>
                <a:latin typeface="Liberation Sans"/>
                <a:ea typeface="Liberation Sans"/>
                <a:cs typeface="Liberation Sans"/>
              </a:rPr>
              <a:t>PostgreSQL — Structured Analytics Foundation</a:t>
            </a:r>
          </a:p>
        </p:txBody>
      </p:sp>
      <p:sp>
        <p:nvSpPr>
          <p:cNvPr id="3" name="line-156">
            <a:extLst xmlns:a="http://schemas.openxmlformats.org/drawingml/2006/main">
              <a:ext uri="{FF2B5EF4-FFF2-40B4-BE49-F238E27FC236}">
                <a16:creationId xmlns:a16="http://schemas.microsoft.com/office/drawing/2014/main" id="{323F8B4B-5EA3-42B0-BE82-A9DD6A7F61C8}"/>
              </a:ext>
            </a:extLst>
          </p:cNvPr>
          <p:cNvSpPr>
            <a:spLocks xmlns:a="http://schemas.openxmlformats.org/drawingml/2006/main" noGrp="1"/>
          </p:cNvSpPr>
          <p:nvPr/>
        </p:nvSpPr>
        <p:spPr>
          <a:xfrm xmlns:a="http://schemas.openxmlformats.org/drawingml/2006/main">
            <a:off x="571500" y="6353175"/>
            <a:ext cx="11049000"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4" name="shape-157">
            <a:extLst xmlns:a="http://schemas.openxmlformats.org/drawingml/2006/main">
              <a:ext uri="{FF2B5EF4-FFF2-40B4-BE49-F238E27FC236}">
                <a16:creationId xmlns:a16="http://schemas.microsoft.com/office/drawing/2014/main" id="{40274DA0-826D-49E6-B5B9-8F39ABBFF8C2}"/>
              </a:ext>
            </a:extLst>
          </p:cNvPr>
          <p:cNvSpPr>
            <a:spLocks xmlns:a="http://schemas.openxmlformats.org/drawingml/2006/main" noGrp="1"/>
          </p:cNvSpPr>
          <p:nvPr/>
        </p:nvSpPr>
        <p:spPr>
          <a:xfrm xmlns:a="http://schemas.openxmlformats.org/drawingml/2006/main">
            <a:off x="5715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A9BBCB"/>
                </a:solidFill>
                <a:latin typeface="Liberation Sans"/>
                <a:ea typeface="Liberation Sans"/>
                <a:cs typeface="Liberation Sans"/>
              </a:defRPr>
            </a:defPPr>
          </a:lstStyle>
          <a:p xmlns:a="http://schemas.openxmlformats.org/drawingml/2006/main">
            <a:pPr algn="l">
              <a:defRPr sz="900" b="0">
                <a:solidFill>
                  <a:srgbClr val="A9BBCB"/>
                </a:solidFill>
                <a:latin typeface="Liberation Sans"/>
                <a:ea typeface="Liberation Sans"/>
                <a:cs typeface="Liberation Sans"/>
              </a:defRPr>
            </a:pPr>
            <a:r>
              <a:rPr sz="900" b="0">
                <a:solidFill>
                  <a:srgbClr val="A9BBCB"/>
                </a:solidFill>
                <a:latin typeface="Liberation Sans"/>
                <a:ea typeface="Liberation Sans"/>
                <a:cs typeface="Liberation Sans"/>
              </a:rPr>
              <a:t>SYNTHETIC DATA · PORTFOLIO PROJECT</a:t>
            </a:r>
          </a:p>
        </p:txBody>
      </p:sp>
      <p:sp>
        <p:nvSpPr>
          <p:cNvPr id="5" name="shape-158">
            <a:extLst xmlns:a="http://schemas.openxmlformats.org/drawingml/2006/main">
              <a:ext uri="{FF2B5EF4-FFF2-40B4-BE49-F238E27FC236}">
                <a16:creationId xmlns:a16="http://schemas.microsoft.com/office/drawing/2014/main" id="{44712803-E86B-4AFA-82E9-7D854FBC38DB}"/>
              </a:ext>
            </a:extLst>
          </p:cNvPr>
          <p:cNvSpPr>
            <a:spLocks xmlns:a="http://schemas.openxmlformats.org/drawingml/2006/main" noGrp="1"/>
          </p:cNvSpPr>
          <p:nvPr/>
        </p:nvSpPr>
        <p:spPr>
          <a:xfrm xmlns:a="http://schemas.openxmlformats.org/drawingml/2006/main">
            <a:off x="11144250" y="646747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9BBCB"/>
                </a:solidFill>
                <a:latin typeface="Liberation Sans"/>
                <a:ea typeface="Liberation Sans"/>
                <a:cs typeface="Liberation Sans"/>
              </a:defRPr>
            </a:defPPr>
          </a:lstStyle>
          <a:p xmlns:a="http://schemas.openxmlformats.org/drawingml/2006/main">
            <a:pPr algn="r">
              <a:defRPr sz="1275" b="0">
                <a:solidFill>
                  <a:srgbClr val="A9BBCB"/>
                </a:solidFill>
                <a:latin typeface="Liberation Sans"/>
                <a:ea typeface="Liberation Sans"/>
                <a:cs typeface="Liberation Sans"/>
              </a:defRPr>
            </a:pPr>
            <a:r>
              <a:rPr sz="1275" b="0">
                <a:solidFill>
                  <a:srgbClr val="A9BBCB"/>
                </a:solidFill>
                <a:latin typeface="Liberation Sans"/>
                <a:ea typeface="Liberation Sans"/>
                <a:cs typeface="Liberation Sans"/>
              </a:rPr>
              <a:t>06</a:t>
            </a:r>
          </a:p>
        </p:txBody>
      </p:sp>
      <p:sp>
        <p:nvSpPr>
          <p:cNvPr id="6" name="shape-159">
            <a:extLst xmlns:a="http://schemas.openxmlformats.org/drawingml/2006/main">
              <a:ext uri="{FF2B5EF4-FFF2-40B4-BE49-F238E27FC236}">
                <a16:creationId xmlns:a16="http://schemas.microsoft.com/office/drawing/2014/main" id="{FFA7CAF2-BC7B-4423-B8B9-CD1CB59E9344}"/>
              </a:ext>
            </a:extLst>
          </p:cNvPr>
          <p:cNvSpPr>
            <a:spLocks xmlns:a="http://schemas.openxmlformats.org/drawingml/2006/main" noGrp="1"/>
          </p:cNvSpPr>
          <p:nvPr/>
        </p:nvSpPr>
        <p:spPr>
          <a:xfrm xmlns:a="http://schemas.openxmlformats.org/drawingml/2006/main">
            <a:off x="571500" y="1724025"/>
            <a:ext cx="6191250" cy="781050"/>
          </a:xfrm>
          <a:prstGeom xmlns:a="http://schemas.openxmlformats.org/drawingml/2006/main" prst="roundRect">
            <a:avLst>
              <a:gd name="adj" fmla="val 14634"/>
            </a:avLst>
          </a:prstGeom>
          <a:solidFill xmlns:a="http://schemas.openxmlformats.org/drawingml/2006/main">
            <a:srgbClr val="122536"/>
          </a:solidFill>
          <a:ln xmlns:a="http://schemas.openxmlformats.org/drawingml/2006/main" w="9525">
            <a:solidFill>
              <a:srgbClr val="2A4052"/>
            </a:solidFill>
            <a:prstDash val="solid"/>
          </a:ln>
        </p:spPr>
      </p:sp>
      <p:sp>
        <p:nvSpPr>
          <p:cNvPr id="7" name="shape-160">
            <a:extLst xmlns:a="http://schemas.openxmlformats.org/drawingml/2006/main">
              <a:ext uri="{FF2B5EF4-FFF2-40B4-BE49-F238E27FC236}">
                <a16:creationId xmlns:a16="http://schemas.microsoft.com/office/drawing/2014/main" id="{63A822B7-7871-4D1D-8754-0EA319F56BFA}"/>
              </a:ext>
            </a:extLst>
          </p:cNvPr>
          <p:cNvSpPr>
            <a:spLocks xmlns:a="http://schemas.openxmlformats.org/drawingml/2006/main" noGrp="1"/>
          </p:cNvSpPr>
          <p:nvPr/>
        </p:nvSpPr>
        <p:spPr>
          <a:xfrm xmlns:a="http://schemas.openxmlformats.org/drawingml/2006/main">
            <a:off x="781050" y="1819275"/>
            <a:ext cx="5772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48DCE7"/>
                </a:solidFill>
                <a:latin typeface="Liberation Sans"/>
                <a:ea typeface="Liberation Sans"/>
                <a:cs typeface="Liberation Sans"/>
              </a:defRPr>
            </a:defPPr>
          </a:lstStyle>
          <a:p xmlns:a="http://schemas.openxmlformats.org/drawingml/2006/main">
            <a:pPr algn="l">
              <a:defRPr sz="2025" b="1">
                <a:solidFill>
                  <a:srgbClr val="48DCE7"/>
                </a:solidFill>
                <a:latin typeface="Liberation Sans"/>
                <a:ea typeface="Liberation Sans"/>
                <a:cs typeface="Liberation Sans"/>
              </a:defRPr>
            </a:pPr>
            <a:r>
              <a:rPr sz="2025" b="1">
                <a:solidFill>
                  <a:srgbClr val="48DCE7"/>
                </a:solidFill>
                <a:latin typeface="Liberation Sans"/>
                <a:ea typeface="Liberation Sans"/>
                <a:cs typeface="Liberation Sans"/>
              </a:rPr>
              <a:t>Raw Layer</a:t>
            </a:r>
          </a:p>
        </p:txBody>
      </p:sp>
      <p:sp>
        <p:nvSpPr>
          <p:cNvPr id="8" name="shape-161">
            <a:extLst xmlns:a="http://schemas.openxmlformats.org/drawingml/2006/main">
              <a:ext uri="{FF2B5EF4-FFF2-40B4-BE49-F238E27FC236}">
                <a16:creationId xmlns:a16="http://schemas.microsoft.com/office/drawing/2014/main" id="{90F430A7-AE8E-46E9-806F-3B9FF06CDBCA}"/>
              </a:ext>
            </a:extLst>
          </p:cNvPr>
          <p:cNvSpPr>
            <a:spLocks xmlns:a="http://schemas.openxmlformats.org/drawingml/2006/main" noGrp="1"/>
          </p:cNvSpPr>
          <p:nvPr/>
        </p:nvSpPr>
        <p:spPr>
          <a:xfrm xmlns:a="http://schemas.openxmlformats.org/drawingml/2006/main">
            <a:off x="781050" y="2181225"/>
            <a:ext cx="5772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9BBCB"/>
                </a:solidFill>
                <a:latin typeface="Liberation Sans"/>
                <a:ea typeface="Liberation Sans"/>
                <a:cs typeface="Liberation Sans"/>
              </a:defRPr>
            </a:defPPr>
          </a:lstStyle>
          <a:p xmlns:a="http://schemas.openxmlformats.org/drawingml/2006/main">
            <a:pPr algn="l">
              <a:defRPr sz="1575" b="0">
                <a:solidFill>
                  <a:srgbClr val="A9BBCB"/>
                </a:solidFill>
                <a:latin typeface="Liberation Sans"/>
                <a:ea typeface="Liberation Sans"/>
                <a:cs typeface="Liberation Sans"/>
              </a:defRPr>
            </a:pPr>
            <a:r>
              <a:rPr sz="1575" b="0">
                <a:solidFill>
                  <a:srgbClr val="A9BBCB"/>
                </a:solidFill>
                <a:latin typeface="Liberation Sans"/>
                <a:ea typeface="Liberation Sans"/>
                <a:cs typeface="Liberation Sans"/>
              </a:rPr>
              <a:t>raw.orders · raw.tracking_events · raw.payments</a:t>
            </a:r>
          </a:p>
        </p:txBody>
      </p:sp>
      <p:sp>
        <p:nvSpPr>
          <p:cNvPr id="9" name="shape-162">
            <a:extLst xmlns:a="http://schemas.openxmlformats.org/drawingml/2006/main">
              <a:ext uri="{FF2B5EF4-FFF2-40B4-BE49-F238E27FC236}">
                <a16:creationId xmlns:a16="http://schemas.microsoft.com/office/drawing/2014/main" id="{DD161ABA-D102-44EC-A162-24E60A38B6E1}"/>
              </a:ext>
            </a:extLst>
          </p:cNvPr>
          <p:cNvSpPr>
            <a:spLocks xmlns:a="http://schemas.openxmlformats.org/drawingml/2006/main" noGrp="1"/>
          </p:cNvSpPr>
          <p:nvPr/>
        </p:nvSpPr>
        <p:spPr>
          <a:xfrm xmlns:a="http://schemas.openxmlformats.org/drawingml/2006/main">
            <a:off x="571500" y="2724150"/>
            <a:ext cx="6191250" cy="781050"/>
          </a:xfrm>
          <a:prstGeom xmlns:a="http://schemas.openxmlformats.org/drawingml/2006/main" prst="roundRect">
            <a:avLst>
              <a:gd name="adj" fmla="val 14634"/>
            </a:avLst>
          </a:prstGeom>
          <a:solidFill xmlns:a="http://schemas.openxmlformats.org/drawingml/2006/main">
            <a:srgbClr val="122536"/>
          </a:solidFill>
          <a:ln xmlns:a="http://schemas.openxmlformats.org/drawingml/2006/main" w="9525">
            <a:solidFill>
              <a:srgbClr val="2A4052"/>
            </a:solidFill>
            <a:prstDash val="solid"/>
          </a:ln>
        </p:spPr>
      </p:sp>
      <p:sp>
        <p:nvSpPr>
          <p:cNvPr id="10" name="shape-163">
            <a:extLst xmlns:a="http://schemas.openxmlformats.org/drawingml/2006/main">
              <a:ext uri="{FF2B5EF4-FFF2-40B4-BE49-F238E27FC236}">
                <a16:creationId xmlns:a16="http://schemas.microsoft.com/office/drawing/2014/main" id="{0E26F319-7D78-43F5-AD84-10C3AE3CD38D}"/>
              </a:ext>
            </a:extLst>
          </p:cNvPr>
          <p:cNvSpPr>
            <a:spLocks xmlns:a="http://schemas.openxmlformats.org/drawingml/2006/main" noGrp="1"/>
          </p:cNvSpPr>
          <p:nvPr/>
        </p:nvSpPr>
        <p:spPr>
          <a:xfrm xmlns:a="http://schemas.openxmlformats.org/drawingml/2006/main">
            <a:off x="781050" y="2819400"/>
            <a:ext cx="5772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48DCE7"/>
                </a:solidFill>
                <a:latin typeface="Liberation Sans"/>
                <a:ea typeface="Liberation Sans"/>
                <a:cs typeface="Liberation Sans"/>
              </a:defRPr>
            </a:defPPr>
          </a:lstStyle>
          <a:p xmlns:a="http://schemas.openxmlformats.org/drawingml/2006/main">
            <a:pPr algn="l">
              <a:defRPr sz="2025" b="1">
                <a:solidFill>
                  <a:srgbClr val="48DCE7"/>
                </a:solidFill>
                <a:latin typeface="Liberation Sans"/>
                <a:ea typeface="Liberation Sans"/>
                <a:cs typeface="Liberation Sans"/>
              </a:defRPr>
            </a:pPr>
            <a:r>
              <a:rPr sz="2025" b="1">
                <a:solidFill>
                  <a:srgbClr val="48DCE7"/>
                </a:solidFill>
                <a:latin typeface="Liberation Sans"/>
                <a:ea typeface="Liberation Sans"/>
                <a:cs typeface="Liberation Sans"/>
              </a:rPr>
              <a:t>Staging Layer</a:t>
            </a:r>
          </a:p>
        </p:txBody>
      </p:sp>
      <p:sp>
        <p:nvSpPr>
          <p:cNvPr id="11" name="shape-164">
            <a:extLst xmlns:a="http://schemas.openxmlformats.org/drawingml/2006/main">
              <a:ext uri="{FF2B5EF4-FFF2-40B4-BE49-F238E27FC236}">
                <a16:creationId xmlns:a16="http://schemas.microsoft.com/office/drawing/2014/main" id="{7C7284C9-A621-4C21-B0DF-FE22AD9E87CD}"/>
              </a:ext>
            </a:extLst>
          </p:cNvPr>
          <p:cNvSpPr>
            <a:spLocks xmlns:a="http://schemas.openxmlformats.org/drawingml/2006/main" noGrp="1"/>
          </p:cNvSpPr>
          <p:nvPr/>
        </p:nvSpPr>
        <p:spPr>
          <a:xfrm xmlns:a="http://schemas.openxmlformats.org/drawingml/2006/main">
            <a:off x="781050" y="3181350"/>
            <a:ext cx="5772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9BBCB"/>
                </a:solidFill>
                <a:latin typeface="Liberation Sans"/>
                <a:ea typeface="Liberation Sans"/>
                <a:cs typeface="Liberation Sans"/>
              </a:defRPr>
            </a:defPPr>
          </a:lstStyle>
          <a:p xmlns:a="http://schemas.openxmlformats.org/drawingml/2006/main">
            <a:pPr algn="l">
              <a:defRPr sz="1575" b="0">
                <a:solidFill>
                  <a:srgbClr val="A9BBCB"/>
                </a:solidFill>
                <a:latin typeface="Liberation Sans"/>
                <a:ea typeface="Liberation Sans"/>
                <a:cs typeface="Liberation Sans"/>
              </a:defRPr>
            </a:pPr>
            <a:r>
              <a:rPr sz="1575" b="0">
                <a:solidFill>
                  <a:srgbClr val="A9BBCB"/>
                </a:solidFill>
                <a:latin typeface="Liberation Sans"/>
                <a:ea typeface="Liberation Sans"/>
                <a:cs typeface="Liberation Sans"/>
              </a:rPr>
              <a:t>stg_orders · stg_tracking_events</a:t>
            </a:r>
          </a:p>
        </p:txBody>
      </p:sp>
      <p:sp>
        <p:nvSpPr>
          <p:cNvPr id="12" name="shape-165">
            <a:extLst xmlns:a="http://schemas.openxmlformats.org/drawingml/2006/main">
              <a:ext uri="{FF2B5EF4-FFF2-40B4-BE49-F238E27FC236}">
                <a16:creationId xmlns:a16="http://schemas.microsoft.com/office/drawing/2014/main" id="{CA5243F3-1FEA-4902-B3E7-4A937DC15989}"/>
              </a:ext>
            </a:extLst>
          </p:cNvPr>
          <p:cNvSpPr>
            <a:spLocks xmlns:a="http://schemas.openxmlformats.org/drawingml/2006/main" noGrp="1"/>
          </p:cNvSpPr>
          <p:nvPr/>
        </p:nvSpPr>
        <p:spPr>
          <a:xfrm xmlns:a="http://schemas.openxmlformats.org/drawingml/2006/main">
            <a:off x="571500" y="3724275"/>
            <a:ext cx="6191250" cy="781050"/>
          </a:xfrm>
          <a:prstGeom xmlns:a="http://schemas.openxmlformats.org/drawingml/2006/main" prst="roundRect">
            <a:avLst>
              <a:gd name="adj" fmla="val 14634"/>
            </a:avLst>
          </a:prstGeom>
          <a:solidFill xmlns:a="http://schemas.openxmlformats.org/drawingml/2006/main">
            <a:srgbClr val="122536"/>
          </a:solidFill>
          <a:ln xmlns:a="http://schemas.openxmlformats.org/drawingml/2006/main" w="9525">
            <a:solidFill>
              <a:srgbClr val="2A4052"/>
            </a:solidFill>
            <a:prstDash val="solid"/>
          </a:ln>
        </p:spPr>
      </p:sp>
      <p:sp>
        <p:nvSpPr>
          <p:cNvPr id="13" name="shape-166">
            <a:extLst xmlns:a="http://schemas.openxmlformats.org/drawingml/2006/main">
              <a:ext uri="{FF2B5EF4-FFF2-40B4-BE49-F238E27FC236}">
                <a16:creationId xmlns:a16="http://schemas.microsoft.com/office/drawing/2014/main" id="{40F7DE7F-1F55-4A59-BCFE-A0B209BE8F30}"/>
              </a:ext>
            </a:extLst>
          </p:cNvPr>
          <p:cNvSpPr>
            <a:spLocks xmlns:a="http://schemas.openxmlformats.org/drawingml/2006/main" noGrp="1"/>
          </p:cNvSpPr>
          <p:nvPr/>
        </p:nvSpPr>
        <p:spPr>
          <a:xfrm xmlns:a="http://schemas.openxmlformats.org/drawingml/2006/main">
            <a:off x="781050" y="3819525"/>
            <a:ext cx="5772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48DCE7"/>
                </a:solidFill>
                <a:latin typeface="Liberation Sans"/>
                <a:ea typeface="Liberation Sans"/>
                <a:cs typeface="Liberation Sans"/>
              </a:defRPr>
            </a:defPPr>
          </a:lstStyle>
          <a:p xmlns:a="http://schemas.openxmlformats.org/drawingml/2006/main">
            <a:pPr algn="l">
              <a:defRPr sz="2025" b="1">
                <a:solidFill>
                  <a:srgbClr val="48DCE7"/>
                </a:solidFill>
                <a:latin typeface="Liberation Sans"/>
                <a:ea typeface="Liberation Sans"/>
                <a:cs typeface="Liberation Sans"/>
              </a:defRPr>
            </a:pPr>
            <a:r>
              <a:rPr sz="2025" b="1">
                <a:solidFill>
                  <a:srgbClr val="48DCE7"/>
                </a:solidFill>
                <a:latin typeface="Liberation Sans"/>
                <a:ea typeface="Liberation Sans"/>
                <a:cs typeface="Liberation Sans"/>
              </a:rPr>
              <a:t>Intermediate Models</a:t>
            </a:r>
          </a:p>
        </p:txBody>
      </p:sp>
      <p:sp>
        <p:nvSpPr>
          <p:cNvPr id="14" name="shape-167">
            <a:extLst xmlns:a="http://schemas.openxmlformats.org/drawingml/2006/main">
              <a:ext uri="{FF2B5EF4-FFF2-40B4-BE49-F238E27FC236}">
                <a16:creationId xmlns:a16="http://schemas.microsoft.com/office/drawing/2014/main" id="{6D6461DD-0C40-4DFA-9BF6-ECAF59180E07}"/>
              </a:ext>
            </a:extLst>
          </p:cNvPr>
          <p:cNvSpPr>
            <a:spLocks xmlns:a="http://schemas.openxmlformats.org/drawingml/2006/main" noGrp="1"/>
          </p:cNvSpPr>
          <p:nvPr/>
        </p:nvSpPr>
        <p:spPr>
          <a:xfrm xmlns:a="http://schemas.openxmlformats.org/drawingml/2006/main">
            <a:off x="781050" y="4181475"/>
            <a:ext cx="5772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9BBCB"/>
                </a:solidFill>
                <a:latin typeface="Liberation Sans"/>
                <a:ea typeface="Liberation Sans"/>
                <a:cs typeface="Liberation Sans"/>
              </a:defRPr>
            </a:defPPr>
          </a:lstStyle>
          <a:p xmlns:a="http://schemas.openxmlformats.org/drawingml/2006/main">
            <a:pPr algn="l">
              <a:defRPr sz="1575" b="0">
                <a:solidFill>
                  <a:srgbClr val="A9BBCB"/>
                </a:solidFill>
                <a:latin typeface="Liberation Sans"/>
                <a:ea typeface="Liberation Sans"/>
                <a:cs typeface="Liberation Sans"/>
              </a:defRPr>
            </a:pPr>
            <a:r>
              <a:rPr sz="1575" b="0">
                <a:solidFill>
                  <a:srgbClr val="A9BBCB"/>
                </a:solidFill>
                <a:latin typeface="Liberation Sans"/>
                <a:ea typeface="Liberation Sans"/>
                <a:cs typeface="Liberation Sans"/>
              </a:rPr>
              <a:t>int_order_events</a:t>
            </a:r>
          </a:p>
        </p:txBody>
      </p:sp>
      <p:sp>
        <p:nvSpPr>
          <p:cNvPr id="15" name="shape-168">
            <a:extLst xmlns:a="http://schemas.openxmlformats.org/drawingml/2006/main">
              <a:ext uri="{FF2B5EF4-FFF2-40B4-BE49-F238E27FC236}">
                <a16:creationId xmlns:a16="http://schemas.microsoft.com/office/drawing/2014/main" id="{B2927251-CFCC-4DB8-8896-D45559852D91}"/>
              </a:ext>
            </a:extLst>
          </p:cNvPr>
          <p:cNvSpPr>
            <a:spLocks xmlns:a="http://schemas.openxmlformats.org/drawingml/2006/main" noGrp="1"/>
          </p:cNvSpPr>
          <p:nvPr/>
        </p:nvSpPr>
        <p:spPr>
          <a:xfrm xmlns:a="http://schemas.openxmlformats.org/drawingml/2006/main">
            <a:off x="571500" y="4724400"/>
            <a:ext cx="6191250" cy="781050"/>
          </a:xfrm>
          <a:prstGeom xmlns:a="http://schemas.openxmlformats.org/drawingml/2006/main" prst="roundRect">
            <a:avLst>
              <a:gd name="adj" fmla="val 14634"/>
            </a:avLst>
          </a:prstGeom>
          <a:solidFill xmlns:a="http://schemas.openxmlformats.org/drawingml/2006/main">
            <a:srgbClr val="122536"/>
          </a:solidFill>
          <a:ln xmlns:a="http://schemas.openxmlformats.org/drawingml/2006/main" w="9525">
            <a:solidFill>
              <a:srgbClr val="39DBB0"/>
            </a:solidFill>
            <a:prstDash val="solid"/>
          </a:ln>
        </p:spPr>
      </p:sp>
      <p:sp>
        <p:nvSpPr>
          <p:cNvPr id="16" name="shape-169">
            <a:extLst xmlns:a="http://schemas.openxmlformats.org/drawingml/2006/main">
              <a:ext uri="{FF2B5EF4-FFF2-40B4-BE49-F238E27FC236}">
                <a16:creationId xmlns:a16="http://schemas.microsoft.com/office/drawing/2014/main" id="{7F2D6E09-6680-4987-B1F5-A094F30EE87D}"/>
              </a:ext>
            </a:extLst>
          </p:cNvPr>
          <p:cNvSpPr>
            <a:spLocks xmlns:a="http://schemas.openxmlformats.org/drawingml/2006/main" noGrp="1"/>
          </p:cNvSpPr>
          <p:nvPr/>
        </p:nvSpPr>
        <p:spPr>
          <a:xfrm xmlns:a="http://schemas.openxmlformats.org/drawingml/2006/main">
            <a:off x="781050" y="4819650"/>
            <a:ext cx="5772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39DBB0"/>
                </a:solidFill>
                <a:latin typeface="Liberation Sans"/>
                <a:ea typeface="Liberation Sans"/>
                <a:cs typeface="Liberation Sans"/>
              </a:defRPr>
            </a:defPPr>
          </a:lstStyle>
          <a:p xmlns:a="http://schemas.openxmlformats.org/drawingml/2006/main">
            <a:pPr algn="l">
              <a:defRPr sz="2025" b="1">
                <a:solidFill>
                  <a:srgbClr val="39DBB0"/>
                </a:solidFill>
                <a:latin typeface="Liberation Sans"/>
                <a:ea typeface="Liberation Sans"/>
                <a:cs typeface="Liberation Sans"/>
              </a:defRPr>
            </a:pPr>
            <a:r>
              <a:rPr sz="2025" b="1">
                <a:solidFill>
                  <a:srgbClr val="39DBB0"/>
                </a:solidFill>
                <a:latin typeface="Liberation Sans"/>
                <a:ea typeface="Liberation Sans"/>
                <a:cs typeface="Liberation Sans"/>
              </a:rPr>
              <a:t>Analytics / Mart Layer</a:t>
            </a:r>
          </a:p>
        </p:txBody>
      </p:sp>
      <p:sp>
        <p:nvSpPr>
          <p:cNvPr id="17" name="shape-170">
            <a:extLst xmlns:a="http://schemas.openxmlformats.org/drawingml/2006/main">
              <a:ext uri="{FF2B5EF4-FFF2-40B4-BE49-F238E27FC236}">
                <a16:creationId xmlns:a16="http://schemas.microsoft.com/office/drawing/2014/main" id="{F5B1F36E-2B25-445C-9AF1-8E1F67CA16CE}"/>
              </a:ext>
            </a:extLst>
          </p:cNvPr>
          <p:cNvSpPr>
            <a:spLocks xmlns:a="http://schemas.openxmlformats.org/drawingml/2006/main" noGrp="1"/>
          </p:cNvSpPr>
          <p:nvPr/>
        </p:nvSpPr>
        <p:spPr>
          <a:xfrm xmlns:a="http://schemas.openxmlformats.org/drawingml/2006/main">
            <a:off x="781050" y="5181600"/>
            <a:ext cx="5772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9BBCB"/>
                </a:solidFill>
                <a:latin typeface="Liberation Sans"/>
                <a:ea typeface="Liberation Sans"/>
                <a:cs typeface="Liberation Sans"/>
              </a:defRPr>
            </a:defPPr>
          </a:lstStyle>
          <a:p xmlns:a="http://schemas.openxmlformats.org/drawingml/2006/main">
            <a:pPr algn="l">
              <a:defRPr sz="1575" b="0">
                <a:solidFill>
                  <a:srgbClr val="A9BBCB"/>
                </a:solidFill>
                <a:latin typeface="Liberation Sans"/>
                <a:ea typeface="Liberation Sans"/>
                <a:cs typeface="Liberation Sans"/>
              </a:defRPr>
            </a:pPr>
            <a:r>
              <a:rPr sz="1575" b="0">
                <a:solidFill>
                  <a:srgbClr val="A9BBCB"/>
                </a:solidFill>
                <a:latin typeface="Liberation Sans"/>
                <a:ea typeface="Liberation Sans"/>
                <a:cs typeface="Liberation Sans"/>
              </a:rPr>
              <a:t>fct_orders · mart_daily_kpi · analytics views</a:t>
            </a:r>
          </a:p>
        </p:txBody>
      </p:sp>
      <p:sp>
        <p:nvSpPr>
          <p:cNvPr id="21" name="shape-171">
            <a:extLst xmlns:a="http://schemas.openxmlformats.org/drawingml/2006/main">
              <a:ext uri="{FF2B5EF4-FFF2-40B4-BE49-F238E27FC236}">
                <a16:creationId xmlns:a16="http://schemas.microsoft.com/office/drawing/2014/main" id="{4CF8DDA2-AA84-4A99-A9E9-4C0465F483C1}"/>
              </a:ext>
            </a:extLst>
          </p:cNvPr>
          <p:cNvSpPr>
            <a:spLocks xmlns:a="http://schemas.openxmlformats.org/drawingml/2006/main" noGrp="1"/>
          </p:cNvSpPr>
          <p:nvPr/>
        </p:nvSpPr>
        <p:spPr>
          <a:xfrm xmlns:a="http://schemas.openxmlformats.org/drawingml/2006/main">
            <a:off x="7286625" y="1771650"/>
            <a:ext cx="4333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F3F7FB"/>
                </a:solidFill>
                <a:latin typeface="Liberation Sans"/>
                <a:ea typeface="Liberation Sans"/>
                <a:cs typeface="Liberation Sans"/>
              </a:defRPr>
            </a:defPPr>
          </a:lstStyle>
          <a:p xmlns:a="http://schemas.openxmlformats.org/drawingml/2006/main">
            <a:pPr algn="l">
              <a:defRPr sz="2325" b="1">
                <a:solidFill>
                  <a:srgbClr val="F3F7FB"/>
                </a:solidFill>
                <a:latin typeface="Liberation Sans"/>
                <a:ea typeface="Liberation Sans"/>
                <a:cs typeface="Liberation Sans"/>
              </a:defRPr>
            </a:pPr>
            <a:r>
              <a:rPr sz="2325" b="1">
                <a:solidFill>
                  <a:srgbClr val="F3F7FB"/>
                </a:solidFill>
                <a:latin typeface="Liberation Sans"/>
                <a:ea typeface="Liberation Sans"/>
                <a:cs typeface="Liberation Sans"/>
              </a:rPr>
              <a:t>One central relational store</a:t>
            </a:r>
          </a:p>
        </p:txBody>
      </p:sp>
      <p:sp>
        <p:nvSpPr>
          <p:cNvPr id="22" name="shape-172">
            <a:extLst xmlns:a="http://schemas.openxmlformats.org/drawingml/2006/main">
              <a:ext uri="{FF2B5EF4-FFF2-40B4-BE49-F238E27FC236}">
                <a16:creationId xmlns:a16="http://schemas.microsoft.com/office/drawing/2014/main" id="{A2016035-F647-40D0-9320-4D17B11DC284}"/>
              </a:ext>
            </a:extLst>
          </p:cNvPr>
          <p:cNvSpPr>
            <a:spLocks xmlns:a="http://schemas.openxmlformats.org/drawingml/2006/main" noGrp="1"/>
          </p:cNvSpPr>
          <p:nvPr/>
        </p:nvSpPr>
        <p:spPr>
          <a:xfrm xmlns:a="http://schemas.openxmlformats.org/drawingml/2006/main">
            <a:off x="7286625" y="2724150"/>
            <a:ext cx="433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48DCE7"/>
                </a:solidFill>
                <a:latin typeface="Liberation Sans"/>
                <a:ea typeface="Liberation Sans"/>
                <a:cs typeface="Liberation Sans"/>
              </a:defRPr>
            </a:defPPr>
          </a:lstStyle>
          <a:p xmlns:a="http://schemas.openxmlformats.org/drawingml/2006/main">
            <a:pPr algn="l">
              <a:defRPr sz="1875" b="1">
                <a:solidFill>
                  <a:srgbClr val="48DCE7"/>
                </a:solidFill>
                <a:latin typeface="Liberation Sans"/>
                <a:ea typeface="Liberation Sans"/>
                <a:cs typeface="Liberation Sans"/>
              </a:defRPr>
            </a:pPr>
            <a:r>
              <a:rPr sz="1875" b="1">
                <a:solidFill>
                  <a:srgbClr val="48DCE7"/>
                </a:solidFill>
                <a:latin typeface="Liberation Sans"/>
                <a:ea typeface="Liberation Sans"/>
                <a:cs typeface="Liberation Sans"/>
              </a:rPr>
              <a:t>Business-facing output</a:t>
            </a:r>
          </a:p>
        </p:txBody>
      </p:sp>
      <p:sp>
        <p:nvSpPr>
          <p:cNvPr id="23" name="line-173">
            <a:extLst xmlns:a="http://schemas.openxmlformats.org/drawingml/2006/main">
              <a:ext uri="{FF2B5EF4-FFF2-40B4-BE49-F238E27FC236}">
                <a16:creationId xmlns:a16="http://schemas.microsoft.com/office/drawing/2014/main" id="{BDB020B1-EC9D-464C-A948-43D73DB6197F}"/>
              </a:ext>
            </a:extLst>
          </p:cNvPr>
          <p:cNvSpPr>
            <a:spLocks xmlns:a="http://schemas.openxmlformats.org/drawingml/2006/main" noGrp="1"/>
          </p:cNvSpPr>
          <p:nvPr/>
        </p:nvSpPr>
        <p:spPr>
          <a:xfrm xmlns:a="http://schemas.openxmlformats.org/drawingml/2006/main">
            <a:off x="7286625" y="3209925"/>
            <a:ext cx="4333875"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24" name="shape-174">
            <a:extLst xmlns:a="http://schemas.openxmlformats.org/drawingml/2006/main">
              <a:ext uri="{FF2B5EF4-FFF2-40B4-BE49-F238E27FC236}">
                <a16:creationId xmlns:a16="http://schemas.microsoft.com/office/drawing/2014/main" id="{9D7BA64D-1707-4EB0-9D45-70954A982AB6}"/>
              </a:ext>
            </a:extLst>
          </p:cNvPr>
          <p:cNvSpPr>
            <a:spLocks xmlns:a="http://schemas.openxmlformats.org/drawingml/2006/main" noGrp="1"/>
          </p:cNvSpPr>
          <p:nvPr/>
        </p:nvSpPr>
        <p:spPr>
          <a:xfrm xmlns:a="http://schemas.openxmlformats.org/drawingml/2006/main">
            <a:off x="7286625" y="3286125"/>
            <a:ext cx="433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F3F7FB"/>
                </a:solidFill>
                <a:latin typeface="Liberation Sans"/>
                <a:ea typeface="Liberation Sans"/>
                <a:cs typeface="Liberation Sans"/>
              </a:defRPr>
            </a:defPPr>
          </a:lstStyle>
          <a:p xmlns:a="http://schemas.openxmlformats.org/drawingml/2006/main">
            <a:pPr algn="l">
              <a:defRPr sz="1800" b="0">
                <a:solidFill>
                  <a:srgbClr val="F3F7FB"/>
                </a:solidFill>
                <a:latin typeface="Liberation Sans"/>
                <a:ea typeface="Liberation Sans"/>
                <a:cs typeface="Liberation Sans"/>
              </a:defRPr>
            </a:pPr>
            <a:r>
              <a:rPr sz="1800" b="0">
                <a:solidFill>
                  <a:srgbClr val="F3F7FB"/>
                </a:solidFill>
                <a:latin typeface="Liberation Sans"/>
                <a:ea typeface="Liberation Sans"/>
                <a:cs typeface="Liberation Sans"/>
              </a:rPr>
              <a:t>Order fact model</a:t>
            </a:r>
          </a:p>
        </p:txBody>
      </p:sp>
      <p:sp>
        <p:nvSpPr>
          <p:cNvPr id="25" name="line-175">
            <a:extLst xmlns:a="http://schemas.openxmlformats.org/drawingml/2006/main">
              <a:ext uri="{FF2B5EF4-FFF2-40B4-BE49-F238E27FC236}">
                <a16:creationId xmlns:a16="http://schemas.microsoft.com/office/drawing/2014/main" id="{6208BA25-2787-4166-AEDA-038FE9D550FF}"/>
              </a:ext>
            </a:extLst>
          </p:cNvPr>
          <p:cNvSpPr>
            <a:spLocks xmlns:a="http://schemas.openxmlformats.org/drawingml/2006/main" noGrp="1"/>
          </p:cNvSpPr>
          <p:nvPr/>
        </p:nvSpPr>
        <p:spPr>
          <a:xfrm xmlns:a="http://schemas.openxmlformats.org/drawingml/2006/main">
            <a:off x="7286625" y="3667125"/>
            <a:ext cx="4333875"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26" name="shape-176">
            <a:extLst xmlns:a="http://schemas.openxmlformats.org/drawingml/2006/main">
              <a:ext uri="{FF2B5EF4-FFF2-40B4-BE49-F238E27FC236}">
                <a16:creationId xmlns:a16="http://schemas.microsoft.com/office/drawing/2014/main" id="{E0BC4A9D-EAD2-406F-9326-F64E15C94718}"/>
              </a:ext>
            </a:extLst>
          </p:cNvPr>
          <p:cNvSpPr>
            <a:spLocks xmlns:a="http://schemas.openxmlformats.org/drawingml/2006/main" noGrp="1"/>
          </p:cNvSpPr>
          <p:nvPr/>
        </p:nvSpPr>
        <p:spPr>
          <a:xfrm xmlns:a="http://schemas.openxmlformats.org/drawingml/2006/main">
            <a:off x="7286625" y="3743325"/>
            <a:ext cx="433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F3F7FB"/>
                </a:solidFill>
                <a:latin typeface="Liberation Sans"/>
                <a:ea typeface="Liberation Sans"/>
                <a:cs typeface="Liberation Sans"/>
              </a:defRPr>
            </a:defPPr>
          </a:lstStyle>
          <a:p xmlns:a="http://schemas.openxmlformats.org/drawingml/2006/main">
            <a:pPr algn="l">
              <a:defRPr sz="1800" b="0">
                <a:solidFill>
                  <a:srgbClr val="F3F7FB"/>
                </a:solidFill>
                <a:latin typeface="Liberation Sans"/>
                <a:ea typeface="Liberation Sans"/>
                <a:cs typeface="Liberation Sans"/>
              </a:defRPr>
            </a:pPr>
            <a:r>
              <a:rPr sz="1800" b="0">
                <a:solidFill>
                  <a:srgbClr val="F3F7FB"/>
                </a:solidFill>
                <a:latin typeface="Liberation Sans"/>
                <a:ea typeface="Liberation Sans"/>
                <a:cs typeface="Liberation Sans"/>
              </a:rPr>
              <a:t>Daily KPI model</a:t>
            </a:r>
          </a:p>
        </p:txBody>
      </p:sp>
      <p:sp>
        <p:nvSpPr>
          <p:cNvPr id="27" name="line-177">
            <a:extLst xmlns:a="http://schemas.openxmlformats.org/drawingml/2006/main">
              <a:ext uri="{FF2B5EF4-FFF2-40B4-BE49-F238E27FC236}">
                <a16:creationId xmlns:a16="http://schemas.microsoft.com/office/drawing/2014/main" id="{CCDC44F0-FA58-44E3-802A-CE456C4D8E78}"/>
              </a:ext>
            </a:extLst>
          </p:cNvPr>
          <p:cNvSpPr>
            <a:spLocks xmlns:a="http://schemas.openxmlformats.org/drawingml/2006/main" noGrp="1"/>
          </p:cNvSpPr>
          <p:nvPr/>
        </p:nvSpPr>
        <p:spPr>
          <a:xfrm xmlns:a="http://schemas.openxmlformats.org/drawingml/2006/main">
            <a:off x="7286625" y="4124325"/>
            <a:ext cx="4333875"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28" name="shape-178">
            <a:extLst xmlns:a="http://schemas.openxmlformats.org/drawingml/2006/main">
              <a:ext uri="{FF2B5EF4-FFF2-40B4-BE49-F238E27FC236}">
                <a16:creationId xmlns:a16="http://schemas.microsoft.com/office/drawing/2014/main" id="{E01C62DE-8A05-4D87-89F7-D885EF47672A}"/>
              </a:ext>
            </a:extLst>
          </p:cNvPr>
          <p:cNvSpPr>
            <a:spLocks xmlns:a="http://schemas.openxmlformats.org/drawingml/2006/main" noGrp="1"/>
          </p:cNvSpPr>
          <p:nvPr/>
        </p:nvSpPr>
        <p:spPr>
          <a:xfrm xmlns:a="http://schemas.openxmlformats.org/drawingml/2006/main">
            <a:off x="7286625" y="4200525"/>
            <a:ext cx="433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F3F7FB"/>
                </a:solidFill>
                <a:latin typeface="Liberation Sans"/>
                <a:ea typeface="Liberation Sans"/>
                <a:cs typeface="Liberation Sans"/>
              </a:defRPr>
            </a:defPPr>
          </a:lstStyle>
          <a:p xmlns:a="http://schemas.openxmlformats.org/drawingml/2006/main">
            <a:pPr algn="l">
              <a:defRPr sz="1800" b="0">
                <a:solidFill>
                  <a:srgbClr val="F3F7FB"/>
                </a:solidFill>
                <a:latin typeface="Liberation Sans"/>
                <a:ea typeface="Liberation Sans"/>
                <a:cs typeface="Liberation Sans"/>
              </a:defRPr>
            </a:pPr>
            <a:r>
              <a:rPr sz="1800" b="0">
                <a:solidFill>
                  <a:srgbClr val="F3F7FB"/>
                </a:solidFill>
                <a:latin typeface="Liberation Sans"/>
                <a:ea typeface="Liberation Sans"/>
                <a:cs typeface="Liberation Sans"/>
              </a:rPr>
              <a:t>Order-level analytics</a:t>
            </a:r>
          </a:p>
        </p:txBody>
      </p:sp>
      <p:sp>
        <p:nvSpPr>
          <p:cNvPr id="29" name="line-179">
            <a:extLst xmlns:a="http://schemas.openxmlformats.org/drawingml/2006/main">
              <a:ext uri="{FF2B5EF4-FFF2-40B4-BE49-F238E27FC236}">
                <a16:creationId xmlns:a16="http://schemas.microsoft.com/office/drawing/2014/main" id="{DA995739-24E2-4714-AC39-0112203A0125}"/>
              </a:ext>
            </a:extLst>
          </p:cNvPr>
          <p:cNvSpPr>
            <a:spLocks xmlns:a="http://schemas.openxmlformats.org/drawingml/2006/main" noGrp="1"/>
          </p:cNvSpPr>
          <p:nvPr/>
        </p:nvSpPr>
        <p:spPr>
          <a:xfrm xmlns:a="http://schemas.openxmlformats.org/drawingml/2006/main">
            <a:off x="7286625" y="4581525"/>
            <a:ext cx="4333875"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30" name="shape-180">
            <a:extLst xmlns:a="http://schemas.openxmlformats.org/drawingml/2006/main">
              <a:ext uri="{FF2B5EF4-FFF2-40B4-BE49-F238E27FC236}">
                <a16:creationId xmlns:a16="http://schemas.microsoft.com/office/drawing/2014/main" id="{41BE3757-6A65-4A2B-9005-9A3F50676B95}"/>
              </a:ext>
            </a:extLst>
          </p:cNvPr>
          <p:cNvSpPr>
            <a:spLocks xmlns:a="http://schemas.openxmlformats.org/drawingml/2006/main" noGrp="1"/>
          </p:cNvSpPr>
          <p:nvPr/>
        </p:nvSpPr>
        <p:spPr>
          <a:xfrm xmlns:a="http://schemas.openxmlformats.org/drawingml/2006/main">
            <a:off x="7286625" y="4657725"/>
            <a:ext cx="433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F3F7FB"/>
                </a:solidFill>
                <a:latin typeface="Liberation Sans"/>
                <a:ea typeface="Liberation Sans"/>
                <a:cs typeface="Liberation Sans"/>
              </a:defRPr>
            </a:defPPr>
          </a:lstStyle>
          <a:p xmlns:a="http://schemas.openxmlformats.org/drawingml/2006/main">
            <a:pPr algn="l">
              <a:defRPr sz="1800" b="0">
                <a:solidFill>
                  <a:srgbClr val="F3F7FB"/>
                </a:solidFill>
                <a:latin typeface="Liberation Sans"/>
                <a:ea typeface="Liberation Sans"/>
                <a:cs typeface="Liberation Sans"/>
              </a:defRPr>
            </a:pPr>
            <a:r>
              <a:rPr sz="1800" b="0">
                <a:solidFill>
                  <a:srgbClr val="F3F7FB"/>
                </a:solidFill>
                <a:latin typeface="Liberation Sans"/>
                <a:ea typeface="Liberation Sans"/>
                <a:cs typeface="Liberation Sans"/>
              </a:rPr>
              <a:t>Hub performance reporting</a:t>
            </a:r>
          </a:p>
        </p:txBody>
      </p:sp>
      <p:sp>
        <p:nvSpPr>
          <p:cNvPr id="31" name="line-181">
            <a:extLst xmlns:a="http://schemas.openxmlformats.org/drawingml/2006/main">
              <a:ext uri="{FF2B5EF4-FFF2-40B4-BE49-F238E27FC236}">
                <a16:creationId xmlns:a16="http://schemas.microsoft.com/office/drawing/2014/main" id="{F7298A08-B337-4BE1-8B39-C72777438E0F}"/>
              </a:ext>
            </a:extLst>
          </p:cNvPr>
          <p:cNvSpPr>
            <a:spLocks xmlns:a="http://schemas.openxmlformats.org/drawingml/2006/main" noGrp="1"/>
          </p:cNvSpPr>
          <p:nvPr/>
        </p:nvSpPr>
        <p:spPr>
          <a:xfrm xmlns:a="http://schemas.openxmlformats.org/drawingml/2006/main">
            <a:off x="7286625" y="5038725"/>
            <a:ext cx="4333875"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32" name="shape-182">
            <a:extLst xmlns:a="http://schemas.openxmlformats.org/drawingml/2006/main">
              <a:ext uri="{FF2B5EF4-FFF2-40B4-BE49-F238E27FC236}">
                <a16:creationId xmlns:a16="http://schemas.microsoft.com/office/drawing/2014/main" id="{AF32D974-569B-4F9A-92F3-E2D3889B2341}"/>
              </a:ext>
            </a:extLst>
          </p:cNvPr>
          <p:cNvSpPr>
            <a:spLocks xmlns:a="http://schemas.openxmlformats.org/drawingml/2006/main" noGrp="1"/>
          </p:cNvSpPr>
          <p:nvPr/>
        </p:nvSpPr>
        <p:spPr>
          <a:xfrm xmlns:a="http://schemas.openxmlformats.org/drawingml/2006/main">
            <a:off x="7286625" y="5114925"/>
            <a:ext cx="433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F3F7FB"/>
                </a:solidFill>
                <a:latin typeface="Liberation Sans"/>
                <a:ea typeface="Liberation Sans"/>
                <a:cs typeface="Liberation Sans"/>
              </a:defRPr>
            </a:defPPr>
          </a:lstStyle>
          <a:p xmlns:a="http://schemas.openxmlformats.org/drawingml/2006/main">
            <a:pPr algn="l">
              <a:defRPr sz="1800" b="0">
                <a:solidFill>
                  <a:srgbClr val="F3F7FB"/>
                </a:solidFill>
                <a:latin typeface="Liberation Sans"/>
                <a:ea typeface="Liberation Sans"/>
                <a:cs typeface="Liberation Sans"/>
              </a:defRPr>
            </a:pPr>
            <a:r>
              <a:rPr sz="1800" b="0">
                <a:solidFill>
                  <a:srgbClr val="F3F7FB"/>
                </a:solidFill>
                <a:latin typeface="Liberation Sans"/>
                <a:ea typeface="Liberation Sans"/>
                <a:cs typeface="Liberation Sans"/>
              </a:rPr>
              <a:t>Courier performance reporting</a:t>
            </a:r>
          </a:p>
        </p:txBody>
      </p:sp>
      <p:sp>
        <p:nvSpPr>
          <p:cNvPr id="33" name="shape-183">
            <a:extLst xmlns:a="http://schemas.openxmlformats.org/drawingml/2006/main">
              <a:ext uri="{FF2B5EF4-FFF2-40B4-BE49-F238E27FC236}">
                <a16:creationId xmlns:a16="http://schemas.microsoft.com/office/drawing/2014/main" id="{B97355C8-0987-4E05-BBB4-54786E694CD3}"/>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F3F7FB"/>
                </a:solidFill>
                <a:latin typeface="Liberation Sans"/>
                <a:ea typeface="Liberation Sans"/>
                <a:cs typeface="Liberation Sans"/>
              </a:defRPr>
            </a:defPPr>
          </a:lstStyle>
          <a:p xmlns:a="http://schemas.openxmlformats.org/drawingml/2006/main">
            <a:pPr algn="l">
              <a:defRPr sz="1425" b="0">
                <a:solidFill>
                  <a:srgbClr val="F3F7FB"/>
                </a:solidFill>
                <a:latin typeface="Liberation Sans"/>
                <a:ea typeface="Liberation Sans"/>
                <a:cs typeface="Liberation Sans"/>
              </a:defRPr>
            </a:pPr>
            <a:r>
              <a:rPr sz="1425" b="0">
                <a:solidFill>
                  <a:srgbClr val="F3F7FB"/>
                </a:solidFill>
                <a:latin typeface="Liberation Sans"/>
                <a:ea typeface="Liberation Sans"/>
                <a:cs typeface="Liberation Sans"/>
              </a:rPr>
              <a:t>Separating raw ingestion from analytics models improves maintainability, traceability and governance.</a:t>
            </a:r>
          </a:p>
        </p:txBody>
      </p:sp>
    </p:spTree>
    <p:extLst>
      <p:ext uri="{BB962C8B-B14F-4D97-AF65-F5344CB8AC3E}">
        <p14:creationId xmlns:p14="http://schemas.microsoft.com/office/powerpoint/2010/main" val="2136824155"/>
      </p:ext>
    </p:extLst>
  </p:cSld>
</p:sld>
</file>

<file path=ppt/slides/slide7.xml><?xml version="1.0" encoding="utf-8"?>
<p:sld xmlns:p="http://schemas.openxmlformats.org/presentationml/2006/main">
  <p:cSld>
    <p:bg>
      <p:bgPr>
        <a:solidFill xmlns:a="http://schemas.openxmlformats.org/drawingml/2006/main">
          <a:srgbClr val="091522"/>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EA8E860B-A313-4301-BC37-A3CCF35FD7A4}"/>
              </a:ext>
            </a:extLst>
          </p:cNvPr>
          <p:cNvCxnSpPr>
            <a:stCxn xmlns:a="http://schemas.openxmlformats.org/drawingml/2006/main" id="12" idx="2"/>
            <a:endCxn xmlns:a="http://schemas.openxmlformats.org/drawingml/2006/main" id="15" idx="0"/>
          </p:cNvCxnSpPr>
          <p:nvPr/>
        </p:nvCxnSpPr>
        <p:spPr>
          <a:xfrm xmlns:a="http://schemas.openxmlformats.org/drawingml/2006/main">
            <a:off x="2981325" y="4486275"/>
            <a:ext cx="0" cy="209550"/>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F54620F7-6549-4C9E-8AD6-6D31F816645A}"/>
              </a:ext>
            </a:extLst>
          </p:cNvPr>
          <p:cNvCxnSpPr>
            <a:stCxn xmlns:a="http://schemas.openxmlformats.org/drawingml/2006/main" id="9" idx="2"/>
            <a:endCxn xmlns:a="http://schemas.openxmlformats.org/drawingml/2006/main" id="12" idx="0"/>
          </p:cNvCxnSpPr>
          <p:nvPr/>
        </p:nvCxnSpPr>
        <p:spPr>
          <a:xfrm xmlns:a="http://schemas.openxmlformats.org/drawingml/2006/main">
            <a:off x="2981325" y="3495675"/>
            <a:ext cx="0" cy="209550"/>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825DF6E3-D844-4E01-A4DC-BDD722B5EB26}"/>
              </a:ext>
            </a:extLst>
          </p:cNvPr>
          <p:cNvCxnSpPr>
            <a:stCxn xmlns:a="http://schemas.openxmlformats.org/drawingml/2006/main" id="6" idx="2"/>
            <a:endCxn xmlns:a="http://schemas.openxmlformats.org/drawingml/2006/main" id="9" idx="0"/>
          </p:cNvCxnSpPr>
          <p:nvPr/>
        </p:nvCxnSpPr>
        <p:spPr>
          <a:xfrm xmlns:a="http://schemas.openxmlformats.org/drawingml/2006/main">
            <a:off x="2981325" y="2505075"/>
            <a:ext cx="0" cy="209550"/>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sp>
        <p:nvSpPr>
          <p:cNvPr id="37" name="shape-184">
            <a:extLst xmlns:a="http://schemas.openxmlformats.org/drawingml/2006/main">
              <a:ext uri="{FF2B5EF4-FFF2-40B4-BE49-F238E27FC236}">
                <a16:creationId xmlns:a16="http://schemas.microsoft.com/office/drawing/2014/main" id="{C184A93B-67E0-45F6-A8D0-789A2F2A30CF}"/>
              </a:ext>
            </a:extLst>
          </p:cNvPr>
          <p:cNvSpPr>
            <a:spLocks xmlns:a="http://schemas.openxmlformats.org/drawingml/2006/main" noGrp="1"/>
          </p:cNvSpPr>
          <p:nvPr/>
        </p:nvSpPr>
        <p:spPr>
          <a:xfrm xmlns:a="http://schemas.openxmlformats.org/drawingml/2006/main">
            <a:off x="571500" y="333375"/>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48DCE7"/>
                </a:solidFill>
                <a:latin typeface="Liberation Sans"/>
                <a:ea typeface="Liberation Sans"/>
                <a:cs typeface="Liberation Sans"/>
              </a:defRPr>
            </a:defPPr>
          </a:lstStyle>
          <a:p xmlns:a="http://schemas.openxmlformats.org/drawingml/2006/main">
            <a:pPr algn="l">
              <a:defRPr sz="1125" b="1">
                <a:solidFill>
                  <a:srgbClr val="48DCE7"/>
                </a:solidFill>
                <a:latin typeface="Liberation Sans"/>
                <a:ea typeface="Liberation Sans"/>
                <a:cs typeface="Liberation Sans"/>
              </a:defRPr>
            </a:pPr>
            <a:r>
              <a:rPr sz="1125" b="1">
                <a:solidFill>
                  <a:srgbClr val="48DCE7"/>
                </a:solidFill>
                <a:latin typeface="Liberation Sans"/>
                <a:ea typeface="Liberation Sans"/>
                <a:cs typeface="Liberation Sans"/>
              </a:rPr>
              <a:t>ANALYTICS ENGINEERING</a:t>
            </a:r>
          </a:p>
        </p:txBody>
      </p:sp>
      <p:sp>
        <p:nvSpPr>
          <p:cNvPr id="2" name="shape-185">
            <a:extLst xmlns:a="http://schemas.openxmlformats.org/drawingml/2006/main">
              <a:ext uri="{FF2B5EF4-FFF2-40B4-BE49-F238E27FC236}">
                <a16:creationId xmlns:a16="http://schemas.microsoft.com/office/drawing/2014/main" id="{729DC217-6EBB-42C5-8235-1D7CC4227135}"/>
              </a:ext>
            </a:extLst>
          </p:cNvPr>
          <p:cNvSpPr>
            <a:spLocks xmlns:a="http://schemas.openxmlformats.org/drawingml/2006/main" noGrp="1"/>
          </p:cNvSpPr>
          <p:nvPr/>
        </p:nvSpPr>
        <p:spPr>
          <a:xfrm xmlns:a="http://schemas.openxmlformats.org/drawingml/2006/main">
            <a:off x="571500" y="704850"/>
            <a:ext cx="110490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3F7FB"/>
                </a:solidFill>
                <a:latin typeface="Liberation Sans"/>
                <a:ea typeface="Liberation Sans"/>
                <a:cs typeface="Liberation Sans"/>
              </a:defRPr>
            </a:defPPr>
          </a:lstStyle>
          <a:p xmlns:a="http://schemas.openxmlformats.org/drawingml/2006/main">
            <a:pPr algn="l">
              <a:defRPr sz="3225" b="1">
                <a:solidFill>
                  <a:srgbClr val="F3F7FB"/>
                </a:solidFill>
                <a:latin typeface="Liberation Sans"/>
                <a:ea typeface="Liberation Sans"/>
                <a:cs typeface="Liberation Sans"/>
              </a:defRPr>
            </a:pPr>
            <a:r>
              <a:rPr sz="3225" b="1">
                <a:solidFill>
                  <a:srgbClr val="F3F7FB"/>
                </a:solidFill>
                <a:latin typeface="Liberation Sans"/>
                <a:ea typeface="Liberation Sans"/>
                <a:cs typeface="Liberation Sans"/>
              </a:rPr>
              <a:t>dbt — Transformation &amp; Data Quality</a:t>
            </a:r>
          </a:p>
        </p:txBody>
      </p:sp>
      <p:sp>
        <p:nvSpPr>
          <p:cNvPr id="3" name="line-186">
            <a:extLst xmlns:a="http://schemas.openxmlformats.org/drawingml/2006/main">
              <a:ext uri="{FF2B5EF4-FFF2-40B4-BE49-F238E27FC236}">
                <a16:creationId xmlns:a16="http://schemas.microsoft.com/office/drawing/2014/main" id="{26D5C541-3F56-4391-966A-F3A4F7755A20}"/>
              </a:ext>
            </a:extLst>
          </p:cNvPr>
          <p:cNvSpPr>
            <a:spLocks xmlns:a="http://schemas.openxmlformats.org/drawingml/2006/main" noGrp="1"/>
          </p:cNvSpPr>
          <p:nvPr/>
        </p:nvSpPr>
        <p:spPr>
          <a:xfrm xmlns:a="http://schemas.openxmlformats.org/drawingml/2006/main">
            <a:off x="571500" y="6353175"/>
            <a:ext cx="11049000"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4" name="shape-187">
            <a:extLst xmlns:a="http://schemas.openxmlformats.org/drawingml/2006/main">
              <a:ext uri="{FF2B5EF4-FFF2-40B4-BE49-F238E27FC236}">
                <a16:creationId xmlns:a16="http://schemas.microsoft.com/office/drawing/2014/main" id="{81AE6A00-D62F-4F0A-93EB-3B6957ACABC0}"/>
              </a:ext>
            </a:extLst>
          </p:cNvPr>
          <p:cNvSpPr>
            <a:spLocks xmlns:a="http://schemas.openxmlformats.org/drawingml/2006/main" noGrp="1"/>
          </p:cNvSpPr>
          <p:nvPr/>
        </p:nvSpPr>
        <p:spPr>
          <a:xfrm xmlns:a="http://schemas.openxmlformats.org/drawingml/2006/main">
            <a:off x="5715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A9BBCB"/>
                </a:solidFill>
                <a:latin typeface="Liberation Sans"/>
                <a:ea typeface="Liberation Sans"/>
                <a:cs typeface="Liberation Sans"/>
              </a:defRPr>
            </a:defPPr>
          </a:lstStyle>
          <a:p xmlns:a="http://schemas.openxmlformats.org/drawingml/2006/main">
            <a:pPr algn="l">
              <a:defRPr sz="900" b="0">
                <a:solidFill>
                  <a:srgbClr val="A9BBCB"/>
                </a:solidFill>
                <a:latin typeface="Liberation Sans"/>
                <a:ea typeface="Liberation Sans"/>
                <a:cs typeface="Liberation Sans"/>
              </a:defRPr>
            </a:pPr>
            <a:r>
              <a:rPr sz="900" b="0">
                <a:solidFill>
                  <a:srgbClr val="A9BBCB"/>
                </a:solidFill>
                <a:latin typeface="Liberation Sans"/>
                <a:ea typeface="Liberation Sans"/>
                <a:cs typeface="Liberation Sans"/>
              </a:rPr>
              <a:t>SYNTHETIC DATA · PORTFOLIO PROJECT</a:t>
            </a:r>
          </a:p>
        </p:txBody>
      </p:sp>
      <p:sp>
        <p:nvSpPr>
          <p:cNvPr id="5" name="shape-188">
            <a:extLst xmlns:a="http://schemas.openxmlformats.org/drawingml/2006/main">
              <a:ext uri="{FF2B5EF4-FFF2-40B4-BE49-F238E27FC236}">
                <a16:creationId xmlns:a16="http://schemas.microsoft.com/office/drawing/2014/main" id="{DFBCC9B2-49D1-4DB9-9DBE-FF5F5D78D230}"/>
              </a:ext>
            </a:extLst>
          </p:cNvPr>
          <p:cNvSpPr>
            <a:spLocks xmlns:a="http://schemas.openxmlformats.org/drawingml/2006/main" noGrp="1"/>
          </p:cNvSpPr>
          <p:nvPr/>
        </p:nvSpPr>
        <p:spPr>
          <a:xfrm xmlns:a="http://schemas.openxmlformats.org/drawingml/2006/main">
            <a:off x="11144250" y="646747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9BBCB"/>
                </a:solidFill>
                <a:latin typeface="Liberation Sans"/>
                <a:ea typeface="Liberation Sans"/>
                <a:cs typeface="Liberation Sans"/>
              </a:defRPr>
            </a:defPPr>
          </a:lstStyle>
          <a:p xmlns:a="http://schemas.openxmlformats.org/drawingml/2006/main">
            <a:pPr algn="r">
              <a:defRPr sz="1275" b="0">
                <a:solidFill>
                  <a:srgbClr val="A9BBCB"/>
                </a:solidFill>
                <a:latin typeface="Liberation Sans"/>
                <a:ea typeface="Liberation Sans"/>
                <a:cs typeface="Liberation Sans"/>
              </a:defRPr>
            </a:pPr>
            <a:r>
              <a:rPr sz="1275" b="0">
                <a:solidFill>
                  <a:srgbClr val="A9BBCB"/>
                </a:solidFill>
                <a:latin typeface="Liberation Sans"/>
                <a:ea typeface="Liberation Sans"/>
                <a:cs typeface="Liberation Sans"/>
              </a:rPr>
              <a:t>07</a:t>
            </a:r>
          </a:p>
        </p:txBody>
      </p:sp>
      <p:sp>
        <p:nvSpPr>
          <p:cNvPr id="6" name="shape-189">
            <a:extLst xmlns:a="http://schemas.openxmlformats.org/drawingml/2006/main">
              <a:ext uri="{FF2B5EF4-FFF2-40B4-BE49-F238E27FC236}">
                <a16:creationId xmlns:a16="http://schemas.microsoft.com/office/drawing/2014/main" id="{CDCA9EB8-F030-4D70-94E9-866DA88CF17B}"/>
              </a:ext>
            </a:extLst>
          </p:cNvPr>
          <p:cNvSpPr>
            <a:spLocks xmlns:a="http://schemas.openxmlformats.org/drawingml/2006/main" noGrp="1"/>
          </p:cNvSpPr>
          <p:nvPr/>
        </p:nvSpPr>
        <p:spPr>
          <a:xfrm xmlns:a="http://schemas.openxmlformats.org/drawingml/2006/main">
            <a:off x="571500" y="1724025"/>
            <a:ext cx="4819650" cy="781050"/>
          </a:xfrm>
          <a:prstGeom xmlns:a="http://schemas.openxmlformats.org/drawingml/2006/main" prst="roundRect">
            <a:avLst>
              <a:gd name="adj" fmla="val 14634"/>
            </a:avLst>
          </a:prstGeom>
          <a:solidFill xmlns:a="http://schemas.openxmlformats.org/drawingml/2006/main">
            <a:srgbClr val="122536"/>
          </a:solidFill>
          <a:ln xmlns:a="http://schemas.openxmlformats.org/drawingml/2006/main" w="9525">
            <a:solidFill>
              <a:srgbClr val="2A4052"/>
            </a:solidFill>
            <a:prstDash val="solid"/>
          </a:ln>
        </p:spPr>
      </p:sp>
      <p:sp>
        <p:nvSpPr>
          <p:cNvPr id="7" name="shape-190">
            <a:extLst xmlns:a="http://schemas.openxmlformats.org/drawingml/2006/main">
              <a:ext uri="{FF2B5EF4-FFF2-40B4-BE49-F238E27FC236}">
                <a16:creationId xmlns:a16="http://schemas.microsoft.com/office/drawing/2014/main" id="{93CEC0A5-37A3-4BAC-877B-2B0B38CF2B94}"/>
              </a:ext>
            </a:extLst>
          </p:cNvPr>
          <p:cNvSpPr>
            <a:spLocks xmlns:a="http://schemas.openxmlformats.org/drawingml/2006/main" noGrp="1"/>
          </p:cNvSpPr>
          <p:nvPr/>
        </p:nvSpPr>
        <p:spPr>
          <a:xfrm xmlns:a="http://schemas.openxmlformats.org/drawingml/2006/main">
            <a:off x="762000" y="1819275"/>
            <a:ext cx="4438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48DCE7"/>
                </a:solidFill>
                <a:latin typeface="Liberation Sans"/>
                <a:ea typeface="Liberation Sans"/>
                <a:cs typeface="Liberation Sans"/>
              </a:defRPr>
            </a:defPPr>
          </a:lstStyle>
          <a:p xmlns:a="http://schemas.openxmlformats.org/drawingml/2006/main">
            <a:pPr algn="l">
              <a:defRPr sz="2025" b="1">
                <a:solidFill>
                  <a:srgbClr val="48DCE7"/>
                </a:solidFill>
                <a:latin typeface="Liberation Sans"/>
                <a:ea typeface="Liberation Sans"/>
                <a:cs typeface="Liberation Sans"/>
              </a:defRPr>
            </a:pPr>
            <a:r>
              <a:rPr sz="2025" b="1">
                <a:solidFill>
                  <a:srgbClr val="48DCE7"/>
                </a:solidFill>
                <a:latin typeface="Liberation Sans"/>
                <a:ea typeface="Liberation Sans"/>
                <a:cs typeface="Liberation Sans"/>
              </a:rPr>
              <a:t>Raw Tables</a:t>
            </a:r>
          </a:p>
        </p:txBody>
      </p:sp>
      <p:sp>
        <p:nvSpPr>
          <p:cNvPr id="8" name="shape-191">
            <a:extLst xmlns:a="http://schemas.openxmlformats.org/drawingml/2006/main">
              <a:ext uri="{FF2B5EF4-FFF2-40B4-BE49-F238E27FC236}">
                <a16:creationId xmlns:a16="http://schemas.microsoft.com/office/drawing/2014/main" id="{B222CB51-6599-407B-8867-22A4461F2A2F}"/>
              </a:ext>
            </a:extLst>
          </p:cNvPr>
          <p:cNvSpPr>
            <a:spLocks xmlns:a="http://schemas.openxmlformats.org/drawingml/2006/main" noGrp="1"/>
          </p:cNvSpPr>
          <p:nvPr/>
        </p:nvSpPr>
        <p:spPr>
          <a:xfrm xmlns:a="http://schemas.openxmlformats.org/drawingml/2006/main">
            <a:off x="762000" y="2181225"/>
            <a:ext cx="443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9BBCB"/>
                </a:solidFill>
                <a:latin typeface="Liberation Sans"/>
                <a:ea typeface="Liberation Sans"/>
                <a:cs typeface="Liberation Sans"/>
              </a:defRPr>
            </a:defPPr>
          </a:lstStyle>
          <a:p xmlns:a="http://schemas.openxmlformats.org/drawingml/2006/main">
            <a:pPr algn="l">
              <a:defRPr sz="1575" b="0">
                <a:solidFill>
                  <a:srgbClr val="A9BBCB"/>
                </a:solidFill>
                <a:latin typeface="Liberation Sans"/>
                <a:ea typeface="Liberation Sans"/>
                <a:cs typeface="Liberation Sans"/>
              </a:defRPr>
            </a:pPr>
            <a:r>
              <a:rPr sz="1575" b="0">
                <a:solidFill>
                  <a:srgbClr val="A9BBCB"/>
                </a:solidFill>
                <a:latin typeface="Liberation Sans"/>
                <a:ea typeface="Liberation Sans"/>
                <a:cs typeface="Liberation Sans"/>
              </a:rPr>
              <a:t>Source definitions</a:t>
            </a:r>
          </a:p>
        </p:txBody>
      </p:sp>
      <p:sp>
        <p:nvSpPr>
          <p:cNvPr id="9" name="shape-192">
            <a:extLst xmlns:a="http://schemas.openxmlformats.org/drawingml/2006/main">
              <a:ext uri="{FF2B5EF4-FFF2-40B4-BE49-F238E27FC236}">
                <a16:creationId xmlns:a16="http://schemas.microsoft.com/office/drawing/2014/main" id="{81DDAE9E-FBC8-4F14-939E-8892E4937949}"/>
              </a:ext>
            </a:extLst>
          </p:cNvPr>
          <p:cNvSpPr>
            <a:spLocks xmlns:a="http://schemas.openxmlformats.org/drawingml/2006/main" noGrp="1"/>
          </p:cNvSpPr>
          <p:nvPr/>
        </p:nvSpPr>
        <p:spPr>
          <a:xfrm xmlns:a="http://schemas.openxmlformats.org/drawingml/2006/main">
            <a:off x="571500" y="2714625"/>
            <a:ext cx="4819650" cy="781050"/>
          </a:xfrm>
          <a:prstGeom xmlns:a="http://schemas.openxmlformats.org/drawingml/2006/main" prst="roundRect">
            <a:avLst>
              <a:gd name="adj" fmla="val 14634"/>
            </a:avLst>
          </a:prstGeom>
          <a:solidFill xmlns:a="http://schemas.openxmlformats.org/drawingml/2006/main">
            <a:srgbClr val="122536"/>
          </a:solidFill>
          <a:ln xmlns:a="http://schemas.openxmlformats.org/drawingml/2006/main" w="9525">
            <a:solidFill>
              <a:srgbClr val="2A4052"/>
            </a:solidFill>
            <a:prstDash val="solid"/>
          </a:ln>
        </p:spPr>
      </p:sp>
      <p:sp>
        <p:nvSpPr>
          <p:cNvPr id="10" name="shape-193">
            <a:extLst xmlns:a="http://schemas.openxmlformats.org/drawingml/2006/main">
              <a:ext uri="{FF2B5EF4-FFF2-40B4-BE49-F238E27FC236}">
                <a16:creationId xmlns:a16="http://schemas.microsoft.com/office/drawing/2014/main" id="{0F14E831-3627-4D36-AF34-101F11114832}"/>
              </a:ext>
            </a:extLst>
          </p:cNvPr>
          <p:cNvSpPr>
            <a:spLocks xmlns:a="http://schemas.openxmlformats.org/drawingml/2006/main" noGrp="1"/>
          </p:cNvSpPr>
          <p:nvPr/>
        </p:nvSpPr>
        <p:spPr>
          <a:xfrm xmlns:a="http://schemas.openxmlformats.org/drawingml/2006/main">
            <a:off x="762000" y="2809875"/>
            <a:ext cx="4438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48DCE7"/>
                </a:solidFill>
                <a:latin typeface="Liberation Sans"/>
                <a:ea typeface="Liberation Sans"/>
                <a:cs typeface="Liberation Sans"/>
              </a:defRPr>
            </a:defPPr>
          </a:lstStyle>
          <a:p xmlns:a="http://schemas.openxmlformats.org/drawingml/2006/main">
            <a:pPr algn="l">
              <a:defRPr sz="2025" b="1">
                <a:solidFill>
                  <a:srgbClr val="48DCE7"/>
                </a:solidFill>
                <a:latin typeface="Liberation Sans"/>
                <a:ea typeface="Liberation Sans"/>
                <a:cs typeface="Liberation Sans"/>
              </a:defRPr>
            </a:pPr>
            <a:r>
              <a:rPr sz="2025" b="1">
                <a:solidFill>
                  <a:srgbClr val="48DCE7"/>
                </a:solidFill>
                <a:latin typeface="Liberation Sans"/>
                <a:ea typeface="Liberation Sans"/>
                <a:cs typeface="Liberation Sans"/>
              </a:rPr>
              <a:t>Staging</a:t>
            </a:r>
          </a:p>
        </p:txBody>
      </p:sp>
      <p:sp>
        <p:nvSpPr>
          <p:cNvPr id="11" name="shape-194">
            <a:extLst xmlns:a="http://schemas.openxmlformats.org/drawingml/2006/main">
              <a:ext uri="{FF2B5EF4-FFF2-40B4-BE49-F238E27FC236}">
                <a16:creationId xmlns:a16="http://schemas.microsoft.com/office/drawing/2014/main" id="{0D06070B-B1DC-4A8A-B108-4F55AC387F59}"/>
              </a:ext>
            </a:extLst>
          </p:cNvPr>
          <p:cNvSpPr>
            <a:spLocks xmlns:a="http://schemas.openxmlformats.org/drawingml/2006/main" noGrp="1"/>
          </p:cNvSpPr>
          <p:nvPr/>
        </p:nvSpPr>
        <p:spPr>
          <a:xfrm xmlns:a="http://schemas.openxmlformats.org/drawingml/2006/main">
            <a:off x="762000" y="3171825"/>
            <a:ext cx="443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9BBCB"/>
                </a:solidFill>
                <a:latin typeface="Liberation Sans"/>
                <a:ea typeface="Liberation Sans"/>
                <a:cs typeface="Liberation Sans"/>
              </a:defRPr>
            </a:defPPr>
          </a:lstStyle>
          <a:p xmlns:a="http://schemas.openxmlformats.org/drawingml/2006/main">
            <a:pPr algn="l">
              <a:defRPr sz="1575" b="0">
                <a:solidFill>
                  <a:srgbClr val="A9BBCB"/>
                </a:solidFill>
                <a:latin typeface="Liberation Sans"/>
                <a:ea typeface="Liberation Sans"/>
                <a:cs typeface="Liberation Sans"/>
              </a:defRPr>
            </a:pPr>
            <a:r>
              <a:rPr sz="1575" b="0">
                <a:solidFill>
                  <a:srgbClr val="A9BBCB"/>
                </a:solidFill>
                <a:latin typeface="Liberation Sans"/>
                <a:ea typeface="Liberation Sans"/>
                <a:cs typeface="Liberation Sans"/>
              </a:rPr>
              <a:t>stg_orders / stg_tracking_events</a:t>
            </a:r>
          </a:p>
        </p:txBody>
      </p:sp>
      <p:sp>
        <p:nvSpPr>
          <p:cNvPr id="12" name="shape-195">
            <a:extLst xmlns:a="http://schemas.openxmlformats.org/drawingml/2006/main">
              <a:ext uri="{FF2B5EF4-FFF2-40B4-BE49-F238E27FC236}">
                <a16:creationId xmlns:a16="http://schemas.microsoft.com/office/drawing/2014/main" id="{FD66A87D-F2B7-4D12-A3BF-A0224A7D685B}"/>
              </a:ext>
            </a:extLst>
          </p:cNvPr>
          <p:cNvSpPr>
            <a:spLocks xmlns:a="http://schemas.openxmlformats.org/drawingml/2006/main" noGrp="1"/>
          </p:cNvSpPr>
          <p:nvPr/>
        </p:nvSpPr>
        <p:spPr>
          <a:xfrm xmlns:a="http://schemas.openxmlformats.org/drawingml/2006/main">
            <a:off x="571500" y="3705225"/>
            <a:ext cx="4819650" cy="781050"/>
          </a:xfrm>
          <a:prstGeom xmlns:a="http://schemas.openxmlformats.org/drawingml/2006/main" prst="roundRect">
            <a:avLst>
              <a:gd name="adj" fmla="val 14634"/>
            </a:avLst>
          </a:prstGeom>
          <a:solidFill xmlns:a="http://schemas.openxmlformats.org/drawingml/2006/main">
            <a:srgbClr val="122536"/>
          </a:solidFill>
          <a:ln xmlns:a="http://schemas.openxmlformats.org/drawingml/2006/main" w="9525">
            <a:solidFill>
              <a:srgbClr val="2A4052"/>
            </a:solidFill>
            <a:prstDash val="solid"/>
          </a:ln>
        </p:spPr>
      </p:sp>
      <p:sp>
        <p:nvSpPr>
          <p:cNvPr id="13" name="shape-196">
            <a:extLst xmlns:a="http://schemas.openxmlformats.org/drawingml/2006/main">
              <a:ext uri="{FF2B5EF4-FFF2-40B4-BE49-F238E27FC236}">
                <a16:creationId xmlns:a16="http://schemas.microsoft.com/office/drawing/2014/main" id="{97C29B64-56F2-45C1-B668-1B26F315F5BA}"/>
              </a:ext>
            </a:extLst>
          </p:cNvPr>
          <p:cNvSpPr>
            <a:spLocks xmlns:a="http://schemas.openxmlformats.org/drawingml/2006/main" noGrp="1"/>
          </p:cNvSpPr>
          <p:nvPr/>
        </p:nvSpPr>
        <p:spPr>
          <a:xfrm xmlns:a="http://schemas.openxmlformats.org/drawingml/2006/main">
            <a:off x="762000" y="3800475"/>
            <a:ext cx="4438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48DCE7"/>
                </a:solidFill>
                <a:latin typeface="Liberation Sans"/>
                <a:ea typeface="Liberation Sans"/>
                <a:cs typeface="Liberation Sans"/>
              </a:defRPr>
            </a:defPPr>
          </a:lstStyle>
          <a:p xmlns:a="http://schemas.openxmlformats.org/drawingml/2006/main">
            <a:pPr algn="l">
              <a:defRPr sz="2025" b="1">
                <a:solidFill>
                  <a:srgbClr val="48DCE7"/>
                </a:solidFill>
                <a:latin typeface="Liberation Sans"/>
                <a:ea typeface="Liberation Sans"/>
                <a:cs typeface="Liberation Sans"/>
              </a:defRPr>
            </a:pPr>
            <a:r>
              <a:rPr sz="2025" b="1">
                <a:solidFill>
                  <a:srgbClr val="48DCE7"/>
                </a:solidFill>
                <a:latin typeface="Liberation Sans"/>
                <a:ea typeface="Liberation Sans"/>
                <a:cs typeface="Liberation Sans"/>
              </a:rPr>
              <a:t>Intermediate</a:t>
            </a:r>
          </a:p>
        </p:txBody>
      </p:sp>
      <p:sp>
        <p:nvSpPr>
          <p:cNvPr id="14" name="shape-197">
            <a:extLst xmlns:a="http://schemas.openxmlformats.org/drawingml/2006/main">
              <a:ext uri="{FF2B5EF4-FFF2-40B4-BE49-F238E27FC236}">
                <a16:creationId xmlns:a16="http://schemas.microsoft.com/office/drawing/2014/main" id="{75404A23-476F-448F-BDBB-2941F06277FA}"/>
              </a:ext>
            </a:extLst>
          </p:cNvPr>
          <p:cNvSpPr>
            <a:spLocks xmlns:a="http://schemas.openxmlformats.org/drawingml/2006/main" noGrp="1"/>
          </p:cNvSpPr>
          <p:nvPr/>
        </p:nvSpPr>
        <p:spPr>
          <a:xfrm xmlns:a="http://schemas.openxmlformats.org/drawingml/2006/main">
            <a:off x="762000" y="4162425"/>
            <a:ext cx="443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9BBCB"/>
                </a:solidFill>
                <a:latin typeface="Liberation Sans"/>
                <a:ea typeface="Liberation Sans"/>
                <a:cs typeface="Liberation Sans"/>
              </a:defRPr>
            </a:defPPr>
          </a:lstStyle>
          <a:p xmlns:a="http://schemas.openxmlformats.org/drawingml/2006/main">
            <a:pPr algn="l">
              <a:defRPr sz="1575" b="0">
                <a:solidFill>
                  <a:srgbClr val="A9BBCB"/>
                </a:solidFill>
                <a:latin typeface="Liberation Sans"/>
                <a:ea typeface="Liberation Sans"/>
                <a:cs typeface="Liberation Sans"/>
              </a:defRPr>
            </a:pPr>
            <a:r>
              <a:rPr sz="1575" b="0">
                <a:solidFill>
                  <a:srgbClr val="A9BBCB"/>
                </a:solidFill>
                <a:latin typeface="Liberation Sans"/>
                <a:ea typeface="Liberation Sans"/>
                <a:cs typeface="Liberation Sans"/>
              </a:rPr>
              <a:t>int_order_events</a:t>
            </a:r>
          </a:p>
        </p:txBody>
      </p:sp>
      <p:sp>
        <p:nvSpPr>
          <p:cNvPr id="15" name="shape-198">
            <a:extLst xmlns:a="http://schemas.openxmlformats.org/drawingml/2006/main">
              <a:ext uri="{FF2B5EF4-FFF2-40B4-BE49-F238E27FC236}">
                <a16:creationId xmlns:a16="http://schemas.microsoft.com/office/drawing/2014/main" id="{71E24072-0322-49DF-90EC-94F1C4004FC4}"/>
              </a:ext>
            </a:extLst>
          </p:cNvPr>
          <p:cNvSpPr>
            <a:spLocks xmlns:a="http://schemas.openxmlformats.org/drawingml/2006/main" noGrp="1"/>
          </p:cNvSpPr>
          <p:nvPr/>
        </p:nvSpPr>
        <p:spPr>
          <a:xfrm xmlns:a="http://schemas.openxmlformats.org/drawingml/2006/main">
            <a:off x="571500" y="4695825"/>
            <a:ext cx="4819650" cy="781050"/>
          </a:xfrm>
          <a:prstGeom xmlns:a="http://schemas.openxmlformats.org/drawingml/2006/main" prst="roundRect">
            <a:avLst>
              <a:gd name="adj" fmla="val 14634"/>
            </a:avLst>
          </a:prstGeom>
          <a:solidFill xmlns:a="http://schemas.openxmlformats.org/drawingml/2006/main">
            <a:srgbClr val="122536"/>
          </a:solidFill>
          <a:ln xmlns:a="http://schemas.openxmlformats.org/drawingml/2006/main" w="9525">
            <a:solidFill>
              <a:srgbClr val="2A4052"/>
            </a:solidFill>
            <a:prstDash val="solid"/>
          </a:ln>
        </p:spPr>
      </p:sp>
      <p:sp>
        <p:nvSpPr>
          <p:cNvPr id="16" name="shape-199">
            <a:extLst xmlns:a="http://schemas.openxmlformats.org/drawingml/2006/main">
              <a:ext uri="{FF2B5EF4-FFF2-40B4-BE49-F238E27FC236}">
                <a16:creationId xmlns:a16="http://schemas.microsoft.com/office/drawing/2014/main" id="{189027F5-F5B2-45C4-A235-95D03B3E5E3B}"/>
              </a:ext>
            </a:extLst>
          </p:cNvPr>
          <p:cNvSpPr>
            <a:spLocks xmlns:a="http://schemas.openxmlformats.org/drawingml/2006/main" noGrp="1"/>
          </p:cNvSpPr>
          <p:nvPr/>
        </p:nvSpPr>
        <p:spPr>
          <a:xfrm xmlns:a="http://schemas.openxmlformats.org/drawingml/2006/main">
            <a:off x="762000" y="4791075"/>
            <a:ext cx="4438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48DCE7"/>
                </a:solidFill>
                <a:latin typeface="Liberation Sans"/>
                <a:ea typeface="Liberation Sans"/>
                <a:cs typeface="Liberation Sans"/>
              </a:defRPr>
            </a:defPPr>
          </a:lstStyle>
          <a:p xmlns:a="http://schemas.openxmlformats.org/drawingml/2006/main">
            <a:pPr algn="l">
              <a:defRPr sz="2025" b="1">
                <a:solidFill>
                  <a:srgbClr val="48DCE7"/>
                </a:solidFill>
                <a:latin typeface="Liberation Sans"/>
                <a:ea typeface="Liberation Sans"/>
                <a:cs typeface="Liberation Sans"/>
              </a:defRPr>
            </a:pPr>
            <a:r>
              <a:rPr sz="2025" b="1">
                <a:solidFill>
                  <a:srgbClr val="48DCE7"/>
                </a:solidFill>
                <a:latin typeface="Liberation Sans"/>
                <a:ea typeface="Liberation Sans"/>
                <a:cs typeface="Liberation Sans"/>
              </a:rPr>
              <a:t>Fact / Mart Models</a:t>
            </a:r>
          </a:p>
        </p:txBody>
      </p:sp>
      <p:sp>
        <p:nvSpPr>
          <p:cNvPr id="17" name="shape-200">
            <a:extLst xmlns:a="http://schemas.openxmlformats.org/drawingml/2006/main">
              <a:ext uri="{FF2B5EF4-FFF2-40B4-BE49-F238E27FC236}">
                <a16:creationId xmlns:a16="http://schemas.microsoft.com/office/drawing/2014/main" id="{9A4CE103-E9D8-4E8E-A26F-61BED5A01AB0}"/>
              </a:ext>
            </a:extLst>
          </p:cNvPr>
          <p:cNvSpPr>
            <a:spLocks xmlns:a="http://schemas.openxmlformats.org/drawingml/2006/main" noGrp="1"/>
          </p:cNvSpPr>
          <p:nvPr/>
        </p:nvSpPr>
        <p:spPr>
          <a:xfrm xmlns:a="http://schemas.openxmlformats.org/drawingml/2006/main">
            <a:off x="762000" y="5153025"/>
            <a:ext cx="443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9BBCB"/>
                </a:solidFill>
                <a:latin typeface="Liberation Sans"/>
                <a:ea typeface="Liberation Sans"/>
                <a:cs typeface="Liberation Sans"/>
              </a:defRPr>
            </a:defPPr>
          </a:lstStyle>
          <a:p xmlns:a="http://schemas.openxmlformats.org/drawingml/2006/main">
            <a:pPr algn="l">
              <a:defRPr sz="1575" b="0">
                <a:solidFill>
                  <a:srgbClr val="A9BBCB"/>
                </a:solidFill>
                <a:latin typeface="Liberation Sans"/>
                <a:ea typeface="Liberation Sans"/>
                <a:cs typeface="Liberation Sans"/>
              </a:defRPr>
            </a:pPr>
            <a:r>
              <a:rPr sz="1575" b="0">
                <a:solidFill>
                  <a:srgbClr val="A9BBCB"/>
                </a:solidFill>
                <a:latin typeface="Liberation Sans"/>
                <a:ea typeface="Liberation Sans"/>
                <a:cs typeface="Liberation Sans"/>
              </a:rPr>
              <a:t>fct_orders / mart_daily_kpi</a:t>
            </a:r>
          </a:p>
        </p:txBody>
      </p:sp>
      <p:sp>
        <p:nvSpPr>
          <p:cNvPr id="21" name="shape-201">
            <a:extLst xmlns:a="http://schemas.openxmlformats.org/drawingml/2006/main">
              <a:ext uri="{FF2B5EF4-FFF2-40B4-BE49-F238E27FC236}">
                <a16:creationId xmlns:a16="http://schemas.microsoft.com/office/drawing/2014/main" id="{A2A5ACD4-2581-4F27-BCA6-240953E0AB18}"/>
              </a:ext>
            </a:extLst>
          </p:cNvPr>
          <p:cNvSpPr>
            <a:spLocks xmlns:a="http://schemas.openxmlformats.org/drawingml/2006/main" noGrp="1"/>
          </p:cNvSpPr>
          <p:nvPr/>
        </p:nvSpPr>
        <p:spPr>
          <a:xfrm xmlns:a="http://schemas.openxmlformats.org/drawingml/2006/main">
            <a:off x="5810250" y="1724025"/>
            <a:ext cx="5810250" cy="2381250"/>
          </a:xfrm>
          <a:prstGeom xmlns:a="http://schemas.openxmlformats.org/drawingml/2006/main" prst="roundRect">
            <a:avLst>
              <a:gd name="adj" fmla="val 4800"/>
            </a:avLst>
          </a:prstGeom>
          <a:solidFill xmlns:a="http://schemas.openxmlformats.org/drawingml/2006/main">
            <a:srgbClr val="10352E"/>
          </a:solidFill>
          <a:ln xmlns:a="http://schemas.openxmlformats.org/drawingml/2006/main" w="9525">
            <a:solidFill>
              <a:srgbClr val="39DBB0"/>
            </a:solidFill>
            <a:prstDash val="solid"/>
          </a:ln>
        </p:spPr>
      </p:sp>
      <p:sp>
        <p:nvSpPr>
          <p:cNvPr id="22" name="shape-202">
            <a:extLst xmlns:a="http://schemas.openxmlformats.org/drawingml/2006/main">
              <a:ext uri="{FF2B5EF4-FFF2-40B4-BE49-F238E27FC236}">
                <a16:creationId xmlns:a16="http://schemas.microsoft.com/office/drawing/2014/main" id="{C76171D7-E1DE-4D17-BBE5-77A2A7BF669B}"/>
              </a:ext>
            </a:extLst>
          </p:cNvPr>
          <p:cNvSpPr>
            <a:spLocks xmlns:a="http://schemas.openxmlformats.org/drawingml/2006/main" noGrp="1"/>
          </p:cNvSpPr>
          <p:nvPr/>
        </p:nvSpPr>
        <p:spPr>
          <a:xfrm xmlns:a="http://schemas.openxmlformats.org/drawingml/2006/main">
            <a:off x="6048375" y="1971675"/>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6375" b="1">
                <a:solidFill>
                  <a:srgbClr val="39DBB0"/>
                </a:solidFill>
                <a:latin typeface="Liberation Sans"/>
                <a:ea typeface="Liberation Sans"/>
                <a:cs typeface="Liberation Sans"/>
              </a:defRPr>
            </a:defPPr>
          </a:lstStyle>
          <a:p xmlns:a="http://schemas.openxmlformats.org/drawingml/2006/main">
            <a:pPr algn="ctr">
              <a:defRPr sz="6375" b="1">
                <a:solidFill>
                  <a:srgbClr val="39DBB0"/>
                </a:solidFill>
                <a:latin typeface="Liberation Sans"/>
                <a:ea typeface="Liberation Sans"/>
                <a:cs typeface="Liberation Sans"/>
              </a:defRPr>
            </a:pPr>
            <a:r>
              <a:rPr sz="6375" b="1">
                <a:solidFill>
                  <a:srgbClr val="39DBB0"/>
                </a:solidFill>
                <a:latin typeface="Liberation Sans"/>
                <a:ea typeface="Liberation Sans"/>
                <a:cs typeface="Liberation Sans"/>
              </a:rPr>
              <a:t>16 / 16</a:t>
            </a:r>
          </a:p>
        </p:txBody>
      </p:sp>
      <p:sp>
        <p:nvSpPr>
          <p:cNvPr id="23" name="shape-203">
            <a:extLst xmlns:a="http://schemas.openxmlformats.org/drawingml/2006/main">
              <a:ext uri="{FF2B5EF4-FFF2-40B4-BE49-F238E27FC236}">
                <a16:creationId xmlns:a16="http://schemas.microsoft.com/office/drawing/2014/main" id="{69D79BAE-9CE5-4E20-9891-E5363A56B1AB}"/>
              </a:ext>
            </a:extLst>
          </p:cNvPr>
          <p:cNvSpPr>
            <a:spLocks xmlns:a="http://schemas.openxmlformats.org/drawingml/2006/main" noGrp="1"/>
          </p:cNvSpPr>
          <p:nvPr/>
        </p:nvSpPr>
        <p:spPr>
          <a:xfrm xmlns:a="http://schemas.openxmlformats.org/drawingml/2006/main">
            <a:off x="6048375" y="2981325"/>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3F7FB"/>
                </a:solidFill>
                <a:latin typeface="Liberation Sans"/>
                <a:ea typeface="Liberation Sans"/>
                <a:cs typeface="Liberation Sans"/>
              </a:defRPr>
            </a:defPPr>
          </a:lstStyle>
          <a:p xmlns:a="http://schemas.openxmlformats.org/drawingml/2006/main">
            <a:pPr algn="ctr">
              <a:defRPr sz="2250" b="1">
                <a:solidFill>
                  <a:srgbClr val="F3F7FB"/>
                </a:solidFill>
                <a:latin typeface="Liberation Sans"/>
                <a:ea typeface="Liberation Sans"/>
                <a:cs typeface="Liberation Sans"/>
              </a:defRPr>
            </a:pPr>
            <a:r>
              <a:rPr sz="2250" b="1">
                <a:solidFill>
                  <a:srgbClr val="F3F7FB"/>
                </a:solidFill>
                <a:latin typeface="Liberation Sans"/>
                <a:ea typeface="Liberation Sans"/>
                <a:cs typeface="Liberation Sans"/>
              </a:rPr>
              <a:t>TESTS PASSED</a:t>
            </a:r>
          </a:p>
        </p:txBody>
      </p:sp>
      <p:sp>
        <p:nvSpPr>
          <p:cNvPr id="24" name="shape-204">
            <a:extLst xmlns:a="http://schemas.openxmlformats.org/drawingml/2006/main">
              <a:ext uri="{FF2B5EF4-FFF2-40B4-BE49-F238E27FC236}">
                <a16:creationId xmlns:a16="http://schemas.microsoft.com/office/drawing/2014/main" id="{BFBD8BB2-B9B0-40F4-B697-5B5A937D11FB}"/>
              </a:ext>
            </a:extLst>
          </p:cNvPr>
          <p:cNvSpPr>
            <a:spLocks xmlns:a="http://schemas.openxmlformats.org/drawingml/2006/main" noGrp="1"/>
          </p:cNvSpPr>
          <p:nvPr/>
        </p:nvSpPr>
        <p:spPr>
          <a:xfrm xmlns:a="http://schemas.openxmlformats.org/drawingml/2006/main">
            <a:off x="6057900" y="3543300"/>
            <a:ext cx="120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50" b="1">
                <a:solidFill>
                  <a:srgbClr val="A9BBCB"/>
                </a:solidFill>
                <a:latin typeface="Liberation Sans"/>
                <a:ea typeface="Liberation Sans"/>
                <a:cs typeface="Liberation Sans"/>
              </a:defRPr>
            </a:defPPr>
          </a:lstStyle>
          <a:p xmlns:a="http://schemas.openxmlformats.org/drawingml/2006/main">
            <a:pPr algn="ctr">
              <a:defRPr sz="1350" b="1">
                <a:solidFill>
                  <a:srgbClr val="A9BBCB"/>
                </a:solidFill>
                <a:latin typeface="Liberation Sans"/>
                <a:ea typeface="Liberation Sans"/>
                <a:cs typeface="Liberation Sans"/>
              </a:defRPr>
            </a:pPr>
            <a:r>
              <a:rPr sz="1350" b="1">
                <a:solidFill>
                  <a:srgbClr val="A9BBCB"/>
                </a:solidFill>
                <a:latin typeface="Liberation Sans"/>
                <a:ea typeface="Liberation Sans"/>
                <a:cs typeface="Liberation Sans"/>
              </a:rPr>
              <a:t>PASS</a:t>
            </a:r>
          </a:p>
        </p:txBody>
      </p:sp>
      <p:sp>
        <p:nvSpPr>
          <p:cNvPr id="25" name="shape-205">
            <a:extLst xmlns:a="http://schemas.openxmlformats.org/drawingml/2006/main">
              <a:ext uri="{FF2B5EF4-FFF2-40B4-BE49-F238E27FC236}">
                <a16:creationId xmlns:a16="http://schemas.microsoft.com/office/drawing/2014/main" id="{435F9033-B373-485F-B892-3B8A0E80F4FC}"/>
              </a:ext>
            </a:extLst>
          </p:cNvPr>
          <p:cNvSpPr>
            <a:spLocks xmlns:a="http://schemas.openxmlformats.org/drawingml/2006/main" noGrp="1"/>
          </p:cNvSpPr>
          <p:nvPr/>
        </p:nvSpPr>
        <p:spPr>
          <a:xfrm xmlns:a="http://schemas.openxmlformats.org/drawingml/2006/main">
            <a:off x="6057900" y="3800475"/>
            <a:ext cx="120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a:solidFill>
                  <a:srgbClr val="39DBB0"/>
                </a:solidFill>
                <a:latin typeface="Liberation Sans"/>
                <a:ea typeface="Liberation Sans"/>
                <a:cs typeface="Liberation Sans"/>
              </a:defRPr>
            </a:defPPr>
          </a:lstStyle>
          <a:p xmlns:a="http://schemas.openxmlformats.org/drawingml/2006/main">
            <a:pPr algn="ctr">
              <a:defRPr sz="1650" b="1">
                <a:solidFill>
                  <a:srgbClr val="39DBB0"/>
                </a:solidFill>
                <a:latin typeface="Liberation Sans"/>
                <a:ea typeface="Liberation Sans"/>
                <a:cs typeface="Liberation Sans"/>
              </a:defRPr>
            </a:pPr>
            <a:r>
              <a:rPr sz="1650" b="1">
                <a:solidFill>
                  <a:srgbClr val="39DBB0"/>
                </a:solidFill>
                <a:latin typeface="Liberation Sans"/>
                <a:ea typeface="Liberation Sans"/>
                <a:cs typeface="Liberation Sans"/>
              </a:rPr>
              <a:t>16</a:t>
            </a:r>
          </a:p>
        </p:txBody>
      </p:sp>
      <p:sp>
        <p:nvSpPr>
          <p:cNvPr id="26" name="shape-206">
            <a:extLst xmlns:a="http://schemas.openxmlformats.org/drawingml/2006/main">
              <a:ext uri="{FF2B5EF4-FFF2-40B4-BE49-F238E27FC236}">
                <a16:creationId xmlns:a16="http://schemas.microsoft.com/office/drawing/2014/main" id="{D40F1DBF-F749-47E9-B089-9EDABAC5E4D0}"/>
              </a:ext>
            </a:extLst>
          </p:cNvPr>
          <p:cNvSpPr>
            <a:spLocks xmlns:a="http://schemas.openxmlformats.org/drawingml/2006/main" noGrp="1"/>
          </p:cNvSpPr>
          <p:nvPr/>
        </p:nvSpPr>
        <p:spPr>
          <a:xfrm xmlns:a="http://schemas.openxmlformats.org/drawingml/2006/main">
            <a:off x="7439025" y="3543300"/>
            <a:ext cx="120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50" b="1">
                <a:solidFill>
                  <a:srgbClr val="A9BBCB"/>
                </a:solidFill>
                <a:latin typeface="Liberation Sans"/>
                <a:ea typeface="Liberation Sans"/>
                <a:cs typeface="Liberation Sans"/>
              </a:defRPr>
            </a:defPPr>
          </a:lstStyle>
          <a:p xmlns:a="http://schemas.openxmlformats.org/drawingml/2006/main">
            <a:pPr algn="ctr">
              <a:defRPr sz="1350" b="1">
                <a:solidFill>
                  <a:srgbClr val="A9BBCB"/>
                </a:solidFill>
                <a:latin typeface="Liberation Sans"/>
                <a:ea typeface="Liberation Sans"/>
                <a:cs typeface="Liberation Sans"/>
              </a:defRPr>
            </a:pPr>
            <a:r>
              <a:rPr sz="1350" b="1">
                <a:solidFill>
                  <a:srgbClr val="A9BBCB"/>
                </a:solidFill>
                <a:latin typeface="Liberation Sans"/>
                <a:ea typeface="Liberation Sans"/>
                <a:cs typeface="Liberation Sans"/>
              </a:rPr>
              <a:t>WARN</a:t>
            </a:r>
          </a:p>
        </p:txBody>
      </p:sp>
      <p:sp>
        <p:nvSpPr>
          <p:cNvPr id="27" name="shape-207">
            <a:extLst xmlns:a="http://schemas.openxmlformats.org/drawingml/2006/main">
              <a:ext uri="{FF2B5EF4-FFF2-40B4-BE49-F238E27FC236}">
                <a16:creationId xmlns:a16="http://schemas.microsoft.com/office/drawing/2014/main" id="{6219B06D-C359-481F-BFCB-5F059E0D1A07}"/>
              </a:ext>
            </a:extLst>
          </p:cNvPr>
          <p:cNvSpPr>
            <a:spLocks xmlns:a="http://schemas.openxmlformats.org/drawingml/2006/main" noGrp="1"/>
          </p:cNvSpPr>
          <p:nvPr/>
        </p:nvSpPr>
        <p:spPr>
          <a:xfrm xmlns:a="http://schemas.openxmlformats.org/drawingml/2006/main">
            <a:off x="7439025" y="3800475"/>
            <a:ext cx="120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a:solidFill>
                  <a:srgbClr val="F3F7FB"/>
                </a:solidFill>
                <a:latin typeface="Liberation Sans"/>
                <a:ea typeface="Liberation Sans"/>
                <a:cs typeface="Liberation Sans"/>
              </a:defRPr>
            </a:defPPr>
          </a:lstStyle>
          <a:p xmlns:a="http://schemas.openxmlformats.org/drawingml/2006/main">
            <a:pPr algn="ctr">
              <a:defRPr sz="1650" b="1">
                <a:solidFill>
                  <a:srgbClr val="F3F7FB"/>
                </a:solidFill>
                <a:latin typeface="Liberation Sans"/>
                <a:ea typeface="Liberation Sans"/>
                <a:cs typeface="Liberation Sans"/>
              </a:defRPr>
            </a:pPr>
            <a:r>
              <a:rPr sz="1650" b="1">
                <a:solidFill>
                  <a:srgbClr val="F3F7FB"/>
                </a:solidFill>
                <a:latin typeface="Liberation Sans"/>
                <a:ea typeface="Liberation Sans"/>
                <a:cs typeface="Liberation Sans"/>
              </a:rPr>
              <a:t>0</a:t>
            </a:r>
          </a:p>
        </p:txBody>
      </p:sp>
      <p:sp>
        <p:nvSpPr>
          <p:cNvPr id="28" name="shape-208">
            <a:extLst xmlns:a="http://schemas.openxmlformats.org/drawingml/2006/main">
              <a:ext uri="{FF2B5EF4-FFF2-40B4-BE49-F238E27FC236}">
                <a16:creationId xmlns:a16="http://schemas.microsoft.com/office/drawing/2014/main" id="{092A65A7-DCA0-40B0-B228-0B9CE0DCFFC8}"/>
              </a:ext>
            </a:extLst>
          </p:cNvPr>
          <p:cNvSpPr>
            <a:spLocks xmlns:a="http://schemas.openxmlformats.org/drawingml/2006/main" noGrp="1"/>
          </p:cNvSpPr>
          <p:nvPr/>
        </p:nvSpPr>
        <p:spPr>
          <a:xfrm xmlns:a="http://schemas.openxmlformats.org/drawingml/2006/main">
            <a:off x="8820150" y="3543300"/>
            <a:ext cx="120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50" b="1">
                <a:solidFill>
                  <a:srgbClr val="A9BBCB"/>
                </a:solidFill>
                <a:latin typeface="Liberation Sans"/>
                <a:ea typeface="Liberation Sans"/>
                <a:cs typeface="Liberation Sans"/>
              </a:defRPr>
            </a:defPPr>
          </a:lstStyle>
          <a:p xmlns:a="http://schemas.openxmlformats.org/drawingml/2006/main">
            <a:pPr algn="ctr">
              <a:defRPr sz="1350" b="1">
                <a:solidFill>
                  <a:srgbClr val="A9BBCB"/>
                </a:solidFill>
                <a:latin typeface="Liberation Sans"/>
                <a:ea typeface="Liberation Sans"/>
                <a:cs typeface="Liberation Sans"/>
              </a:defRPr>
            </a:pPr>
            <a:r>
              <a:rPr sz="1350" b="1">
                <a:solidFill>
                  <a:srgbClr val="A9BBCB"/>
                </a:solidFill>
                <a:latin typeface="Liberation Sans"/>
                <a:ea typeface="Liberation Sans"/>
                <a:cs typeface="Liberation Sans"/>
              </a:rPr>
              <a:t>ERROR</a:t>
            </a:r>
          </a:p>
        </p:txBody>
      </p:sp>
      <p:sp>
        <p:nvSpPr>
          <p:cNvPr id="29" name="shape-209">
            <a:extLst xmlns:a="http://schemas.openxmlformats.org/drawingml/2006/main">
              <a:ext uri="{FF2B5EF4-FFF2-40B4-BE49-F238E27FC236}">
                <a16:creationId xmlns:a16="http://schemas.microsoft.com/office/drawing/2014/main" id="{756F3E61-1C77-4A5D-AB1A-C50D48B0A751}"/>
              </a:ext>
            </a:extLst>
          </p:cNvPr>
          <p:cNvSpPr>
            <a:spLocks xmlns:a="http://schemas.openxmlformats.org/drawingml/2006/main" noGrp="1"/>
          </p:cNvSpPr>
          <p:nvPr/>
        </p:nvSpPr>
        <p:spPr>
          <a:xfrm xmlns:a="http://schemas.openxmlformats.org/drawingml/2006/main">
            <a:off x="8820150" y="3800475"/>
            <a:ext cx="120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a:solidFill>
                  <a:srgbClr val="F3F7FB"/>
                </a:solidFill>
                <a:latin typeface="Liberation Sans"/>
                <a:ea typeface="Liberation Sans"/>
                <a:cs typeface="Liberation Sans"/>
              </a:defRPr>
            </a:defPPr>
          </a:lstStyle>
          <a:p xmlns:a="http://schemas.openxmlformats.org/drawingml/2006/main">
            <a:pPr algn="ctr">
              <a:defRPr sz="1650" b="1">
                <a:solidFill>
                  <a:srgbClr val="F3F7FB"/>
                </a:solidFill>
                <a:latin typeface="Liberation Sans"/>
                <a:ea typeface="Liberation Sans"/>
                <a:cs typeface="Liberation Sans"/>
              </a:defRPr>
            </a:pPr>
            <a:r>
              <a:rPr sz="1650" b="1">
                <a:solidFill>
                  <a:srgbClr val="F3F7FB"/>
                </a:solidFill>
                <a:latin typeface="Liberation Sans"/>
                <a:ea typeface="Liberation Sans"/>
                <a:cs typeface="Liberation Sans"/>
              </a:rPr>
              <a:t>0</a:t>
            </a:r>
          </a:p>
        </p:txBody>
      </p:sp>
      <p:sp>
        <p:nvSpPr>
          <p:cNvPr id="30" name="shape-210">
            <a:extLst xmlns:a="http://schemas.openxmlformats.org/drawingml/2006/main">
              <a:ext uri="{FF2B5EF4-FFF2-40B4-BE49-F238E27FC236}">
                <a16:creationId xmlns:a16="http://schemas.microsoft.com/office/drawing/2014/main" id="{E3496811-4CB5-4B2B-988F-2962599A76C4}"/>
              </a:ext>
            </a:extLst>
          </p:cNvPr>
          <p:cNvSpPr>
            <a:spLocks xmlns:a="http://schemas.openxmlformats.org/drawingml/2006/main" noGrp="1"/>
          </p:cNvSpPr>
          <p:nvPr/>
        </p:nvSpPr>
        <p:spPr>
          <a:xfrm xmlns:a="http://schemas.openxmlformats.org/drawingml/2006/main">
            <a:off x="10201275" y="3543300"/>
            <a:ext cx="120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50" b="1">
                <a:solidFill>
                  <a:srgbClr val="A9BBCB"/>
                </a:solidFill>
                <a:latin typeface="Liberation Sans"/>
                <a:ea typeface="Liberation Sans"/>
                <a:cs typeface="Liberation Sans"/>
              </a:defRPr>
            </a:defPPr>
          </a:lstStyle>
          <a:p xmlns:a="http://schemas.openxmlformats.org/drawingml/2006/main">
            <a:pPr algn="ctr">
              <a:defRPr sz="1350" b="1">
                <a:solidFill>
                  <a:srgbClr val="A9BBCB"/>
                </a:solidFill>
                <a:latin typeface="Liberation Sans"/>
                <a:ea typeface="Liberation Sans"/>
                <a:cs typeface="Liberation Sans"/>
              </a:defRPr>
            </a:pPr>
            <a:r>
              <a:rPr sz="1350" b="1">
                <a:solidFill>
                  <a:srgbClr val="A9BBCB"/>
                </a:solidFill>
                <a:latin typeface="Liberation Sans"/>
                <a:ea typeface="Liberation Sans"/>
                <a:cs typeface="Liberation Sans"/>
              </a:rPr>
              <a:t>SKIP</a:t>
            </a:r>
          </a:p>
        </p:txBody>
      </p:sp>
      <p:sp>
        <p:nvSpPr>
          <p:cNvPr id="31" name="shape-211">
            <a:extLst xmlns:a="http://schemas.openxmlformats.org/drawingml/2006/main">
              <a:ext uri="{FF2B5EF4-FFF2-40B4-BE49-F238E27FC236}">
                <a16:creationId xmlns:a16="http://schemas.microsoft.com/office/drawing/2014/main" id="{5D905C87-BCE3-4B7A-AC3F-11DD0A4FBA79}"/>
              </a:ext>
            </a:extLst>
          </p:cNvPr>
          <p:cNvSpPr>
            <a:spLocks xmlns:a="http://schemas.openxmlformats.org/drawingml/2006/main" noGrp="1"/>
          </p:cNvSpPr>
          <p:nvPr/>
        </p:nvSpPr>
        <p:spPr>
          <a:xfrm xmlns:a="http://schemas.openxmlformats.org/drawingml/2006/main">
            <a:off x="10201275" y="3800475"/>
            <a:ext cx="120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a:solidFill>
                  <a:srgbClr val="F3F7FB"/>
                </a:solidFill>
                <a:latin typeface="Liberation Sans"/>
                <a:ea typeface="Liberation Sans"/>
                <a:cs typeface="Liberation Sans"/>
              </a:defRPr>
            </a:defPPr>
          </a:lstStyle>
          <a:p xmlns:a="http://schemas.openxmlformats.org/drawingml/2006/main">
            <a:pPr algn="ctr">
              <a:defRPr sz="1650" b="1">
                <a:solidFill>
                  <a:srgbClr val="F3F7FB"/>
                </a:solidFill>
                <a:latin typeface="Liberation Sans"/>
                <a:ea typeface="Liberation Sans"/>
                <a:cs typeface="Liberation Sans"/>
              </a:defRPr>
            </a:pPr>
            <a:r>
              <a:rPr sz="1650" b="1">
                <a:solidFill>
                  <a:srgbClr val="F3F7FB"/>
                </a:solidFill>
                <a:latin typeface="Liberation Sans"/>
                <a:ea typeface="Liberation Sans"/>
                <a:cs typeface="Liberation Sans"/>
              </a:rPr>
              <a:t>0</a:t>
            </a:r>
          </a:p>
        </p:txBody>
      </p:sp>
      <p:sp>
        <p:nvSpPr>
          <p:cNvPr id="32" name="shape-212">
            <a:extLst xmlns:a="http://schemas.openxmlformats.org/drawingml/2006/main">
              <a:ext uri="{FF2B5EF4-FFF2-40B4-BE49-F238E27FC236}">
                <a16:creationId xmlns:a16="http://schemas.microsoft.com/office/drawing/2014/main" id="{5F26A258-AF1C-42FB-8C84-2B66C140FA6F}"/>
              </a:ext>
            </a:extLst>
          </p:cNvPr>
          <p:cNvSpPr>
            <a:spLocks xmlns:a="http://schemas.openxmlformats.org/drawingml/2006/main" noGrp="1"/>
          </p:cNvSpPr>
          <p:nvPr/>
        </p:nvSpPr>
        <p:spPr>
          <a:xfrm xmlns:a="http://schemas.openxmlformats.org/drawingml/2006/main">
            <a:off x="5810250" y="4410075"/>
            <a:ext cx="581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3F7FB"/>
                </a:solidFill>
                <a:latin typeface="Liberation Sans"/>
                <a:ea typeface="Liberation Sans"/>
                <a:cs typeface="Liberation Sans"/>
              </a:defRPr>
            </a:defPPr>
          </a:lstStyle>
          <a:p xmlns:a="http://schemas.openxmlformats.org/drawingml/2006/main">
            <a:pPr algn="l">
              <a:defRPr sz="2025" b="1">
                <a:solidFill>
                  <a:srgbClr val="F3F7FB"/>
                </a:solidFill>
                <a:latin typeface="Liberation Sans"/>
                <a:ea typeface="Liberation Sans"/>
                <a:cs typeface="Liberation Sans"/>
              </a:defRPr>
            </a:pPr>
            <a:r>
              <a:rPr sz="2025" b="1">
                <a:solidFill>
                  <a:srgbClr val="F3F7FB"/>
                </a:solidFill>
                <a:latin typeface="Liberation Sans"/>
                <a:ea typeface="Liberation Sans"/>
                <a:cs typeface="Liberation Sans"/>
              </a:rPr>
              <a:t>Configured quality checks</a:t>
            </a:r>
          </a:p>
        </p:txBody>
      </p:sp>
      <p:sp>
        <p:nvSpPr>
          <p:cNvPr id="33" name="shape-213">
            <a:extLst xmlns:a="http://schemas.openxmlformats.org/drawingml/2006/main">
              <a:ext uri="{FF2B5EF4-FFF2-40B4-BE49-F238E27FC236}">
                <a16:creationId xmlns:a16="http://schemas.microsoft.com/office/drawing/2014/main" id="{54379CAC-A634-45DF-9D37-1A2548A1DD8A}"/>
              </a:ext>
            </a:extLst>
          </p:cNvPr>
          <p:cNvSpPr>
            <a:spLocks xmlns:a="http://schemas.openxmlformats.org/drawingml/2006/main" noGrp="1"/>
          </p:cNvSpPr>
          <p:nvPr/>
        </p:nvSpPr>
        <p:spPr>
          <a:xfrm xmlns:a="http://schemas.openxmlformats.org/drawingml/2006/main">
            <a:off x="5810250" y="4895850"/>
            <a:ext cx="2838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A9BBCB"/>
                </a:solidFill>
                <a:latin typeface="Liberation Sans"/>
                <a:ea typeface="Liberation Sans"/>
                <a:cs typeface="Liberation Sans"/>
              </a:defRPr>
            </a:defPPr>
          </a:lstStyle>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Not-null checks</a:t>
            </a:r>
          </a:p>
        </p:txBody>
      </p:sp>
      <p:sp>
        <p:nvSpPr>
          <p:cNvPr id="34" name="shape-214">
            <a:extLst xmlns:a="http://schemas.openxmlformats.org/drawingml/2006/main">
              <a:ext uri="{FF2B5EF4-FFF2-40B4-BE49-F238E27FC236}">
                <a16:creationId xmlns:a16="http://schemas.microsoft.com/office/drawing/2014/main" id="{A90B5325-AA73-47B6-AF8E-F0CCA14C9D77}"/>
              </a:ext>
            </a:extLst>
          </p:cNvPr>
          <p:cNvSpPr>
            <a:spLocks xmlns:a="http://schemas.openxmlformats.org/drawingml/2006/main" noGrp="1"/>
          </p:cNvSpPr>
          <p:nvPr/>
        </p:nvSpPr>
        <p:spPr>
          <a:xfrm xmlns:a="http://schemas.openxmlformats.org/drawingml/2006/main">
            <a:off x="8810625" y="4895850"/>
            <a:ext cx="2838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A9BBCB"/>
                </a:solidFill>
                <a:latin typeface="Liberation Sans"/>
                <a:ea typeface="Liberation Sans"/>
                <a:cs typeface="Liberation Sans"/>
              </a:defRPr>
            </a:defPPr>
          </a:lstStyle>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Unique key checks</a:t>
            </a:r>
          </a:p>
        </p:txBody>
      </p:sp>
      <p:sp>
        <p:nvSpPr>
          <p:cNvPr id="35" name="shape-215">
            <a:extLst xmlns:a="http://schemas.openxmlformats.org/drawingml/2006/main">
              <a:ext uri="{FF2B5EF4-FFF2-40B4-BE49-F238E27FC236}">
                <a16:creationId xmlns:a16="http://schemas.microsoft.com/office/drawing/2014/main" id="{9C738551-5616-4094-98CA-B468F02AB2C2}"/>
              </a:ext>
            </a:extLst>
          </p:cNvPr>
          <p:cNvSpPr>
            <a:spLocks xmlns:a="http://schemas.openxmlformats.org/drawingml/2006/main" noGrp="1"/>
          </p:cNvSpPr>
          <p:nvPr/>
        </p:nvSpPr>
        <p:spPr>
          <a:xfrm xmlns:a="http://schemas.openxmlformats.org/drawingml/2006/main">
            <a:off x="5810250" y="5391150"/>
            <a:ext cx="2838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A9BBCB"/>
                </a:solidFill>
                <a:latin typeface="Liberation Sans"/>
                <a:ea typeface="Liberation Sans"/>
                <a:cs typeface="Liberation Sans"/>
              </a:defRPr>
            </a:defPPr>
          </a:lstStyle>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Accepted value checks</a:t>
            </a:r>
          </a:p>
        </p:txBody>
      </p:sp>
      <p:sp>
        <p:nvSpPr>
          <p:cNvPr id="36" name="shape-216">
            <a:extLst xmlns:a="http://schemas.openxmlformats.org/drawingml/2006/main">
              <a:ext uri="{FF2B5EF4-FFF2-40B4-BE49-F238E27FC236}">
                <a16:creationId xmlns:a16="http://schemas.microsoft.com/office/drawing/2014/main" id="{2478EBC9-E36E-48B0-8453-A862589DA575}"/>
              </a:ext>
            </a:extLst>
          </p:cNvPr>
          <p:cNvSpPr>
            <a:spLocks xmlns:a="http://schemas.openxmlformats.org/drawingml/2006/main" noGrp="1"/>
          </p:cNvSpPr>
          <p:nvPr/>
        </p:nvSpPr>
        <p:spPr>
          <a:xfrm xmlns:a="http://schemas.openxmlformats.org/drawingml/2006/main">
            <a:off x="8810625" y="5391150"/>
            <a:ext cx="2838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A9BBCB"/>
                </a:solidFill>
                <a:latin typeface="Liberation Sans"/>
                <a:ea typeface="Liberation Sans"/>
                <a:cs typeface="Liberation Sans"/>
              </a:defRPr>
            </a:defPPr>
          </a:lstStyle>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KPI range validation</a:t>
            </a:r>
          </a:p>
        </p:txBody>
      </p:sp>
    </p:spTree>
    <p:extLst>
      <p:ext uri="{BB962C8B-B14F-4D97-AF65-F5344CB8AC3E}">
        <p14:creationId xmlns:p14="http://schemas.microsoft.com/office/powerpoint/2010/main" val="685057475"/>
      </p:ext>
    </p:extLst>
  </p:cSld>
</p:sld>
</file>

<file path=ppt/slides/slide8.xml><?xml version="1.0" encoding="utf-8"?>
<p:sld xmlns:p="http://schemas.openxmlformats.org/presentationml/2006/main">
  <p:cSld>
    <p:bg>
      <p:bgPr>
        <a:solidFill xmlns:a="http://schemas.openxmlformats.org/drawingml/2006/main">
          <a:srgbClr val="091522"/>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CA3CF358-E9C2-4D08-8449-8DBBA8189CBE}"/>
              </a:ext>
            </a:extLst>
          </p:cNvPr>
          <p:cNvCxnSpPr>
            <a:stCxn xmlns:a="http://schemas.openxmlformats.org/drawingml/2006/main" id="16" idx="3"/>
            <a:endCxn xmlns:a="http://schemas.openxmlformats.org/drawingml/2006/main" id="19" idx="1"/>
          </p:cNvCxnSpPr>
          <p:nvPr/>
        </p:nvCxnSpPr>
        <p:spPr>
          <a:xfrm xmlns:a="http://schemas.openxmlformats.org/drawingml/2006/main">
            <a:off x="9353550" y="3262313"/>
            <a:ext cx="285750" cy="0"/>
          </a:xfrm>
          <a:prstGeom xmlns:a="http://schemas.openxmlformats.org/drawingml/2006/main" prst="straightConnector1">
            <a:avLst/>
          </a:prstGeom>
          <a:ln xmlns:a="http://schemas.openxmlformats.org/drawingml/2006/main" w="19050">
            <a:solidFill>
              <a:srgbClr val="39DBB0"/>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A2F967B0-9BB0-4F93-BEEC-46CDFA139B3D}"/>
              </a:ext>
            </a:extLst>
          </p:cNvPr>
          <p:cNvCxnSpPr>
            <a:stCxn xmlns:a="http://schemas.openxmlformats.org/drawingml/2006/main" id="13" idx="3"/>
            <a:endCxn xmlns:a="http://schemas.openxmlformats.org/drawingml/2006/main" id="16" idx="1"/>
          </p:cNvCxnSpPr>
          <p:nvPr/>
        </p:nvCxnSpPr>
        <p:spPr>
          <a:xfrm xmlns:a="http://schemas.openxmlformats.org/drawingml/2006/main">
            <a:off x="7086600" y="3262313"/>
            <a:ext cx="285750" cy="0"/>
          </a:xfrm>
          <a:prstGeom xmlns:a="http://schemas.openxmlformats.org/drawingml/2006/main" prst="straightConnector1">
            <a:avLst/>
          </a:prstGeom>
          <a:ln xmlns:a="http://schemas.openxmlformats.org/drawingml/2006/main" w="19050">
            <a:solidFill>
              <a:srgbClr val="39DBB0"/>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D1E214FC-A9C7-4C66-B3A3-B8C47318AB9A}"/>
              </a:ext>
            </a:extLst>
          </p:cNvPr>
          <p:cNvCxnSpPr>
            <a:stCxn xmlns:a="http://schemas.openxmlformats.org/drawingml/2006/main" id="10" idx="3"/>
            <a:endCxn xmlns:a="http://schemas.openxmlformats.org/drawingml/2006/main" id="13" idx="1"/>
          </p:cNvCxnSpPr>
          <p:nvPr/>
        </p:nvCxnSpPr>
        <p:spPr>
          <a:xfrm xmlns:a="http://schemas.openxmlformats.org/drawingml/2006/main">
            <a:off x="4819650" y="3262313"/>
            <a:ext cx="285750" cy="0"/>
          </a:xfrm>
          <a:prstGeom xmlns:a="http://schemas.openxmlformats.org/drawingml/2006/main" prst="straightConnector1">
            <a:avLst/>
          </a:prstGeom>
          <a:ln xmlns:a="http://schemas.openxmlformats.org/drawingml/2006/main" w="19050">
            <a:solidFill>
              <a:srgbClr val="39DBB0"/>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E63F2E5E-F992-4341-9993-4A99C4D39B65}"/>
              </a:ext>
            </a:extLst>
          </p:cNvPr>
          <p:cNvCxnSpPr>
            <a:stCxn xmlns:a="http://schemas.openxmlformats.org/drawingml/2006/main" id="7" idx="3"/>
            <a:endCxn xmlns:a="http://schemas.openxmlformats.org/drawingml/2006/main" id="10" idx="1"/>
          </p:cNvCxnSpPr>
          <p:nvPr/>
        </p:nvCxnSpPr>
        <p:spPr>
          <a:xfrm xmlns:a="http://schemas.openxmlformats.org/drawingml/2006/main">
            <a:off x="2552700" y="3262313"/>
            <a:ext cx="285750" cy="0"/>
          </a:xfrm>
          <a:prstGeom xmlns:a="http://schemas.openxmlformats.org/drawingml/2006/main" prst="straightConnector1">
            <a:avLst/>
          </a:prstGeom>
          <a:ln xmlns:a="http://schemas.openxmlformats.org/drawingml/2006/main" w="19050">
            <a:solidFill>
              <a:srgbClr val="39DBB0"/>
            </a:solidFill>
            <a:prstDash val="solid"/>
            <a:tailEnd type="triangle" w="sm" len="sm"/>
          </a:ln>
        </p:spPr>
      </p:cxnSp>
      <p:sp>
        <p:nvSpPr>
          <p:cNvPr id="32" name="shape-217">
            <a:extLst xmlns:a="http://schemas.openxmlformats.org/drawingml/2006/main">
              <a:ext uri="{FF2B5EF4-FFF2-40B4-BE49-F238E27FC236}">
                <a16:creationId xmlns:a16="http://schemas.microsoft.com/office/drawing/2014/main" id="{9C528E4D-2B0B-4251-9255-DC429120361A}"/>
              </a:ext>
            </a:extLst>
          </p:cNvPr>
          <p:cNvSpPr>
            <a:spLocks xmlns:a="http://schemas.openxmlformats.org/drawingml/2006/main" noGrp="1"/>
          </p:cNvSpPr>
          <p:nvPr/>
        </p:nvSpPr>
        <p:spPr>
          <a:xfrm xmlns:a="http://schemas.openxmlformats.org/drawingml/2006/main">
            <a:off x="571500" y="333375"/>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48DCE7"/>
                </a:solidFill>
                <a:latin typeface="Liberation Sans"/>
                <a:ea typeface="Liberation Sans"/>
                <a:cs typeface="Liberation Sans"/>
              </a:defRPr>
            </a:defPPr>
          </a:lstStyle>
          <a:p xmlns:a="http://schemas.openxmlformats.org/drawingml/2006/main">
            <a:pPr algn="l">
              <a:defRPr sz="1125" b="1">
                <a:solidFill>
                  <a:srgbClr val="48DCE7"/>
                </a:solidFill>
                <a:latin typeface="Liberation Sans"/>
                <a:ea typeface="Liberation Sans"/>
                <a:cs typeface="Liberation Sans"/>
              </a:defRPr>
            </a:pPr>
            <a:r>
              <a:rPr sz="1125" b="1">
                <a:solidFill>
                  <a:srgbClr val="48DCE7"/>
                </a:solidFill>
                <a:latin typeface="Liberation Sans"/>
                <a:ea typeface="Liberation Sans"/>
                <a:cs typeface="Liberation Sans"/>
              </a:rPr>
              <a:t>ORCHESTRATION</a:t>
            </a:r>
          </a:p>
        </p:txBody>
      </p:sp>
      <p:sp>
        <p:nvSpPr>
          <p:cNvPr id="2" name="shape-218">
            <a:extLst xmlns:a="http://schemas.openxmlformats.org/drawingml/2006/main">
              <a:ext uri="{FF2B5EF4-FFF2-40B4-BE49-F238E27FC236}">
                <a16:creationId xmlns:a16="http://schemas.microsoft.com/office/drawing/2014/main" id="{E3E0AF7B-1065-4F7D-A958-36FC9AA894F1}"/>
              </a:ext>
            </a:extLst>
          </p:cNvPr>
          <p:cNvSpPr>
            <a:spLocks xmlns:a="http://schemas.openxmlformats.org/drawingml/2006/main" noGrp="1"/>
          </p:cNvSpPr>
          <p:nvPr/>
        </p:nvSpPr>
        <p:spPr>
          <a:xfrm xmlns:a="http://schemas.openxmlformats.org/drawingml/2006/main">
            <a:off x="571500" y="704850"/>
            <a:ext cx="110490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3F7FB"/>
                </a:solidFill>
                <a:latin typeface="Liberation Sans"/>
                <a:ea typeface="Liberation Sans"/>
                <a:cs typeface="Liberation Sans"/>
              </a:defRPr>
            </a:defPPr>
          </a:lstStyle>
          <a:p xmlns:a="http://schemas.openxmlformats.org/drawingml/2006/main">
            <a:pPr algn="l">
              <a:defRPr sz="3225" b="1">
                <a:solidFill>
                  <a:srgbClr val="F3F7FB"/>
                </a:solidFill>
                <a:latin typeface="Liberation Sans"/>
                <a:ea typeface="Liberation Sans"/>
                <a:cs typeface="Liberation Sans"/>
              </a:defRPr>
            </a:pPr>
            <a:r>
              <a:rPr sz="3225" b="1">
                <a:solidFill>
                  <a:srgbClr val="F3F7FB"/>
                </a:solidFill>
                <a:latin typeface="Liberation Sans"/>
                <a:ea typeface="Liberation Sans"/>
                <a:cs typeface="Liberation Sans"/>
              </a:rPr>
              <a:t>Apache Airflow — Automated Pipeline Orchestration</a:t>
            </a:r>
          </a:p>
        </p:txBody>
      </p:sp>
      <p:sp>
        <p:nvSpPr>
          <p:cNvPr id="3" name="line-219">
            <a:extLst xmlns:a="http://schemas.openxmlformats.org/drawingml/2006/main">
              <a:ext uri="{FF2B5EF4-FFF2-40B4-BE49-F238E27FC236}">
                <a16:creationId xmlns:a16="http://schemas.microsoft.com/office/drawing/2014/main" id="{94B80FCD-9643-4A85-A463-F728C9A0241C}"/>
              </a:ext>
            </a:extLst>
          </p:cNvPr>
          <p:cNvSpPr>
            <a:spLocks xmlns:a="http://schemas.openxmlformats.org/drawingml/2006/main" noGrp="1"/>
          </p:cNvSpPr>
          <p:nvPr/>
        </p:nvSpPr>
        <p:spPr>
          <a:xfrm xmlns:a="http://schemas.openxmlformats.org/drawingml/2006/main">
            <a:off x="571500" y="6353175"/>
            <a:ext cx="11049000"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4" name="shape-220">
            <a:extLst xmlns:a="http://schemas.openxmlformats.org/drawingml/2006/main">
              <a:ext uri="{FF2B5EF4-FFF2-40B4-BE49-F238E27FC236}">
                <a16:creationId xmlns:a16="http://schemas.microsoft.com/office/drawing/2014/main" id="{CB3DFC5B-DA65-4A9B-93EB-7FA24C70ADF2}"/>
              </a:ext>
            </a:extLst>
          </p:cNvPr>
          <p:cNvSpPr>
            <a:spLocks xmlns:a="http://schemas.openxmlformats.org/drawingml/2006/main" noGrp="1"/>
          </p:cNvSpPr>
          <p:nvPr/>
        </p:nvSpPr>
        <p:spPr>
          <a:xfrm xmlns:a="http://schemas.openxmlformats.org/drawingml/2006/main">
            <a:off x="5715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A9BBCB"/>
                </a:solidFill>
                <a:latin typeface="Liberation Sans"/>
                <a:ea typeface="Liberation Sans"/>
                <a:cs typeface="Liberation Sans"/>
              </a:defRPr>
            </a:defPPr>
          </a:lstStyle>
          <a:p xmlns:a="http://schemas.openxmlformats.org/drawingml/2006/main">
            <a:pPr algn="l">
              <a:defRPr sz="900" b="0">
                <a:solidFill>
                  <a:srgbClr val="A9BBCB"/>
                </a:solidFill>
                <a:latin typeface="Liberation Sans"/>
                <a:ea typeface="Liberation Sans"/>
                <a:cs typeface="Liberation Sans"/>
              </a:defRPr>
            </a:pPr>
            <a:r>
              <a:rPr sz="900" b="0">
                <a:solidFill>
                  <a:srgbClr val="A9BBCB"/>
                </a:solidFill>
                <a:latin typeface="Liberation Sans"/>
                <a:ea typeface="Liberation Sans"/>
                <a:cs typeface="Liberation Sans"/>
              </a:rPr>
              <a:t>SYNTHETIC DATA · PORTFOLIO PROJECT</a:t>
            </a:r>
          </a:p>
        </p:txBody>
      </p:sp>
      <p:sp>
        <p:nvSpPr>
          <p:cNvPr id="5" name="shape-221">
            <a:extLst xmlns:a="http://schemas.openxmlformats.org/drawingml/2006/main">
              <a:ext uri="{FF2B5EF4-FFF2-40B4-BE49-F238E27FC236}">
                <a16:creationId xmlns:a16="http://schemas.microsoft.com/office/drawing/2014/main" id="{45E4E0DC-6A37-4922-B5C5-ADA1B11E6240}"/>
              </a:ext>
            </a:extLst>
          </p:cNvPr>
          <p:cNvSpPr>
            <a:spLocks xmlns:a="http://schemas.openxmlformats.org/drawingml/2006/main" noGrp="1"/>
          </p:cNvSpPr>
          <p:nvPr/>
        </p:nvSpPr>
        <p:spPr>
          <a:xfrm xmlns:a="http://schemas.openxmlformats.org/drawingml/2006/main">
            <a:off x="11144250" y="646747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9BBCB"/>
                </a:solidFill>
                <a:latin typeface="Liberation Sans"/>
                <a:ea typeface="Liberation Sans"/>
                <a:cs typeface="Liberation Sans"/>
              </a:defRPr>
            </a:defPPr>
          </a:lstStyle>
          <a:p xmlns:a="http://schemas.openxmlformats.org/drawingml/2006/main">
            <a:pPr algn="r">
              <a:defRPr sz="1275" b="0">
                <a:solidFill>
                  <a:srgbClr val="A9BBCB"/>
                </a:solidFill>
                <a:latin typeface="Liberation Sans"/>
                <a:ea typeface="Liberation Sans"/>
                <a:cs typeface="Liberation Sans"/>
              </a:defRPr>
            </a:pPr>
            <a:r>
              <a:rPr sz="1275" b="0">
                <a:solidFill>
                  <a:srgbClr val="A9BBCB"/>
                </a:solidFill>
                <a:latin typeface="Liberation Sans"/>
                <a:ea typeface="Liberation Sans"/>
                <a:cs typeface="Liberation Sans"/>
              </a:rPr>
              <a:t>08</a:t>
            </a:r>
          </a:p>
        </p:txBody>
      </p:sp>
      <p:sp>
        <p:nvSpPr>
          <p:cNvPr id="6" name="shape-222">
            <a:extLst xmlns:a="http://schemas.openxmlformats.org/drawingml/2006/main">
              <a:ext uri="{FF2B5EF4-FFF2-40B4-BE49-F238E27FC236}">
                <a16:creationId xmlns:a16="http://schemas.microsoft.com/office/drawing/2014/main" id="{D7B203E4-7B3E-4537-B9FD-3E7410E5D278}"/>
              </a:ext>
            </a:extLst>
          </p:cNvPr>
          <p:cNvSpPr>
            <a:spLocks xmlns:a="http://schemas.openxmlformats.org/drawingml/2006/main" noGrp="1"/>
          </p:cNvSpPr>
          <p:nvPr/>
        </p:nvSpPr>
        <p:spPr>
          <a:xfrm xmlns:a="http://schemas.openxmlformats.org/drawingml/2006/main">
            <a:off x="571500" y="1724025"/>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1">
                <a:solidFill>
                  <a:srgbClr val="39DBB0"/>
                </a:solidFill>
                <a:latin typeface="Liberation Sans"/>
                <a:ea typeface="Liberation Sans"/>
                <a:cs typeface="Liberation Sans"/>
              </a:defRPr>
            </a:defPPr>
          </a:lstStyle>
          <a:p xmlns:a="http://schemas.openxmlformats.org/drawingml/2006/main">
            <a:pPr algn="l">
              <a:defRPr sz="3075" b="1">
                <a:solidFill>
                  <a:srgbClr val="39DBB0"/>
                </a:solidFill>
                <a:latin typeface="Liberation Sans"/>
                <a:ea typeface="Liberation Sans"/>
                <a:cs typeface="Liberation Sans"/>
              </a:defRPr>
            </a:pPr>
            <a:r>
              <a:rPr sz="3075" b="1">
                <a:solidFill>
                  <a:srgbClr val="39DBB0"/>
                </a:solidFill>
                <a:latin typeface="Liberation Sans"/>
                <a:ea typeface="Liberation Sans"/>
                <a:cs typeface="Liberation Sans"/>
              </a:rPr>
              <a:t>5 tasks succeeded</a:t>
            </a:r>
          </a:p>
        </p:txBody>
      </p:sp>
      <p:sp>
        <p:nvSpPr>
          <p:cNvPr id="7" name="shape-223">
            <a:extLst xmlns:a="http://schemas.openxmlformats.org/drawingml/2006/main">
              <a:ext uri="{FF2B5EF4-FFF2-40B4-BE49-F238E27FC236}">
                <a16:creationId xmlns:a16="http://schemas.microsoft.com/office/drawing/2014/main" id="{54E936D8-FF37-4ADD-9ECF-C87BA221B247}"/>
              </a:ext>
            </a:extLst>
          </p:cNvPr>
          <p:cNvSpPr>
            <a:spLocks xmlns:a="http://schemas.openxmlformats.org/drawingml/2006/main" noGrp="1"/>
          </p:cNvSpPr>
          <p:nvPr/>
        </p:nvSpPr>
        <p:spPr>
          <a:xfrm xmlns:a="http://schemas.openxmlformats.org/drawingml/2006/main">
            <a:off x="571500" y="2600325"/>
            <a:ext cx="1981200" cy="1323975"/>
          </a:xfrm>
          <a:prstGeom xmlns:a="http://schemas.openxmlformats.org/drawingml/2006/main" prst="roundRect">
            <a:avLst>
              <a:gd name="adj" fmla="val 8633"/>
            </a:avLst>
          </a:prstGeom>
          <a:solidFill xmlns:a="http://schemas.openxmlformats.org/drawingml/2006/main">
            <a:srgbClr val="10352E"/>
          </a:solidFill>
          <a:ln xmlns:a="http://schemas.openxmlformats.org/drawingml/2006/main" w="9525">
            <a:solidFill>
              <a:srgbClr val="39DBB0"/>
            </a:solidFill>
            <a:prstDash val="solid"/>
          </a:ln>
        </p:spPr>
      </p:sp>
      <p:sp>
        <p:nvSpPr>
          <p:cNvPr id="8" name="shape-224">
            <a:extLst xmlns:a="http://schemas.openxmlformats.org/drawingml/2006/main">
              <a:ext uri="{FF2B5EF4-FFF2-40B4-BE49-F238E27FC236}">
                <a16:creationId xmlns:a16="http://schemas.microsoft.com/office/drawing/2014/main" id="{4BE21409-A4BE-4A96-BC39-080612734657}"/>
              </a:ext>
            </a:extLst>
          </p:cNvPr>
          <p:cNvSpPr>
            <a:spLocks xmlns:a="http://schemas.openxmlformats.org/drawingml/2006/main" noGrp="1"/>
          </p:cNvSpPr>
          <p:nvPr/>
        </p:nvSpPr>
        <p:spPr>
          <a:xfrm xmlns:a="http://schemas.openxmlformats.org/drawingml/2006/main">
            <a:off x="714375" y="27622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1">
                <a:solidFill>
                  <a:srgbClr val="39DBB0"/>
                </a:solidFill>
                <a:latin typeface="Liberation Sans"/>
                <a:ea typeface="Liberation Sans"/>
                <a:cs typeface="Liberation Sans"/>
              </a:defRPr>
            </a:defPPr>
          </a:lstStyle>
          <a:p xmlns:a="http://schemas.openxmlformats.org/drawingml/2006/main">
            <a:pPr algn="ctr">
              <a:defRPr sz="1275" b="1">
                <a:solidFill>
                  <a:srgbClr val="39DBB0"/>
                </a:solidFill>
                <a:latin typeface="Liberation Sans"/>
                <a:ea typeface="Liberation Sans"/>
                <a:cs typeface="Liberation Sans"/>
              </a:defRPr>
            </a:pPr>
            <a:r>
              <a:rPr sz="1275" b="1">
                <a:solidFill>
                  <a:srgbClr val="39DBB0"/>
                </a:solidFill>
                <a:latin typeface="Liberation Sans"/>
                <a:ea typeface="Liberation Sans"/>
                <a:cs typeface="Liberation Sans"/>
              </a:rPr>
              <a:t>SUCCESS</a:t>
            </a:r>
          </a:p>
        </p:txBody>
      </p:sp>
      <p:sp>
        <p:nvSpPr>
          <p:cNvPr id="9" name="shape-225">
            <a:extLst xmlns:a="http://schemas.openxmlformats.org/drawingml/2006/main">
              <a:ext uri="{FF2B5EF4-FFF2-40B4-BE49-F238E27FC236}">
                <a16:creationId xmlns:a16="http://schemas.microsoft.com/office/drawing/2014/main" id="{99630DCE-B5BA-49A5-BCBE-3A9CD179CE62}"/>
              </a:ext>
            </a:extLst>
          </p:cNvPr>
          <p:cNvSpPr>
            <a:spLocks xmlns:a="http://schemas.openxmlformats.org/drawingml/2006/main" noGrp="1"/>
          </p:cNvSpPr>
          <p:nvPr/>
        </p:nvSpPr>
        <p:spPr>
          <a:xfrm xmlns:a="http://schemas.openxmlformats.org/drawingml/2006/main">
            <a:off x="714375" y="3124200"/>
            <a:ext cx="1695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F3F7FB"/>
                </a:solidFill>
                <a:latin typeface="Liberation Sans"/>
                <a:ea typeface="Liberation Sans"/>
                <a:cs typeface="Liberation Sans"/>
              </a:defRPr>
            </a:defPPr>
          </a:lstStyle>
          <a:p xmlns:a="http://schemas.openxmlformats.org/drawingml/2006/main">
            <a:pPr algn="ctr">
              <a:defRPr sz="1950" b="1">
                <a:solidFill>
                  <a:srgbClr val="F3F7FB"/>
                </a:solidFill>
                <a:latin typeface="Liberation Sans"/>
                <a:ea typeface="Liberation Sans"/>
                <a:cs typeface="Liberation Sans"/>
              </a:defRPr>
            </a:pPr>
            <a:r>
              <a:rPr sz="1950" b="1">
                <a:solidFill>
                  <a:srgbClr val="F3F7FB"/>
                </a:solidFill>
                <a:latin typeface="Liberation Sans"/>
                <a:ea typeface="Liberation Sans"/>
                <a:cs typeface="Liberation Sans"/>
              </a:rPr>
              <a:t>START</a:t>
            </a:r>
          </a:p>
        </p:txBody>
      </p:sp>
      <p:sp>
        <p:nvSpPr>
          <p:cNvPr id="10" name="shape-226">
            <a:extLst xmlns:a="http://schemas.openxmlformats.org/drawingml/2006/main">
              <a:ext uri="{FF2B5EF4-FFF2-40B4-BE49-F238E27FC236}">
                <a16:creationId xmlns:a16="http://schemas.microsoft.com/office/drawing/2014/main" id="{F6658D42-04B3-4E47-85D7-1FF6FFE635A6}"/>
              </a:ext>
            </a:extLst>
          </p:cNvPr>
          <p:cNvSpPr>
            <a:spLocks xmlns:a="http://schemas.openxmlformats.org/drawingml/2006/main" noGrp="1"/>
          </p:cNvSpPr>
          <p:nvPr/>
        </p:nvSpPr>
        <p:spPr>
          <a:xfrm xmlns:a="http://schemas.openxmlformats.org/drawingml/2006/main">
            <a:off x="2838450" y="2600325"/>
            <a:ext cx="1981200" cy="1323975"/>
          </a:xfrm>
          <a:prstGeom xmlns:a="http://schemas.openxmlformats.org/drawingml/2006/main" prst="roundRect">
            <a:avLst>
              <a:gd name="adj" fmla="val 8633"/>
            </a:avLst>
          </a:prstGeom>
          <a:solidFill xmlns:a="http://schemas.openxmlformats.org/drawingml/2006/main">
            <a:srgbClr val="10352E"/>
          </a:solidFill>
          <a:ln xmlns:a="http://schemas.openxmlformats.org/drawingml/2006/main" w="9525">
            <a:solidFill>
              <a:srgbClr val="39DBB0"/>
            </a:solidFill>
            <a:prstDash val="solid"/>
          </a:ln>
        </p:spPr>
      </p:sp>
      <p:sp>
        <p:nvSpPr>
          <p:cNvPr id="11" name="shape-227">
            <a:extLst xmlns:a="http://schemas.openxmlformats.org/drawingml/2006/main">
              <a:ext uri="{FF2B5EF4-FFF2-40B4-BE49-F238E27FC236}">
                <a16:creationId xmlns:a16="http://schemas.microsoft.com/office/drawing/2014/main" id="{660DCA5A-8B39-47A1-B88D-20391279F4A3}"/>
              </a:ext>
            </a:extLst>
          </p:cNvPr>
          <p:cNvSpPr>
            <a:spLocks xmlns:a="http://schemas.openxmlformats.org/drawingml/2006/main" noGrp="1"/>
          </p:cNvSpPr>
          <p:nvPr/>
        </p:nvSpPr>
        <p:spPr>
          <a:xfrm xmlns:a="http://schemas.openxmlformats.org/drawingml/2006/main">
            <a:off x="2981325" y="27622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1">
                <a:solidFill>
                  <a:srgbClr val="39DBB0"/>
                </a:solidFill>
                <a:latin typeface="Liberation Sans"/>
                <a:ea typeface="Liberation Sans"/>
                <a:cs typeface="Liberation Sans"/>
              </a:defRPr>
            </a:defPPr>
          </a:lstStyle>
          <a:p xmlns:a="http://schemas.openxmlformats.org/drawingml/2006/main">
            <a:pPr algn="ctr">
              <a:defRPr sz="1275" b="1">
                <a:solidFill>
                  <a:srgbClr val="39DBB0"/>
                </a:solidFill>
                <a:latin typeface="Liberation Sans"/>
                <a:ea typeface="Liberation Sans"/>
                <a:cs typeface="Liberation Sans"/>
              </a:defRPr>
            </a:pPr>
            <a:r>
              <a:rPr sz="1275" b="1">
                <a:solidFill>
                  <a:srgbClr val="39DBB0"/>
                </a:solidFill>
                <a:latin typeface="Liberation Sans"/>
                <a:ea typeface="Liberation Sans"/>
                <a:cs typeface="Liberation Sans"/>
              </a:rPr>
              <a:t>SUCCESS</a:t>
            </a:r>
          </a:p>
        </p:txBody>
      </p:sp>
      <p:sp>
        <p:nvSpPr>
          <p:cNvPr id="12" name="shape-228">
            <a:extLst xmlns:a="http://schemas.openxmlformats.org/drawingml/2006/main">
              <a:ext uri="{FF2B5EF4-FFF2-40B4-BE49-F238E27FC236}">
                <a16:creationId xmlns:a16="http://schemas.microsoft.com/office/drawing/2014/main" id="{D8A594AD-466B-4F4F-BEB3-1F3471E444C4}"/>
              </a:ext>
            </a:extLst>
          </p:cNvPr>
          <p:cNvSpPr>
            <a:spLocks xmlns:a="http://schemas.openxmlformats.org/drawingml/2006/main" noGrp="1"/>
          </p:cNvSpPr>
          <p:nvPr/>
        </p:nvSpPr>
        <p:spPr>
          <a:xfrm xmlns:a="http://schemas.openxmlformats.org/drawingml/2006/main">
            <a:off x="2981325" y="3124200"/>
            <a:ext cx="1695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F3F7FB"/>
                </a:solidFill>
                <a:latin typeface="Liberation Sans"/>
                <a:ea typeface="Liberation Sans"/>
                <a:cs typeface="Liberation Sans"/>
              </a:defRPr>
            </a:defPPr>
          </a:lstStyle>
          <a:p xmlns:a="http://schemas.openxmlformats.org/drawingml/2006/main">
            <a:pPr algn="ctr">
              <a:defRPr sz="1950" b="1">
                <a:solidFill>
                  <a:srgbClr val="F3F7FB"/>
                </a:solidFill>
                <a:latin typeface="Liberation Sans"/>
                <a:ea typeface="Liberation Sans"/>
                <a:cs typeface="Liberation Sans"/>
              </a:defRPr>
            </a:pPr>
            <a:r>
              <a:rPr sz="1950" b="1">
                <a:solidFill>
                  <a:srgbClr val="F3F7FB"/>
                </a:solidFill>
                <a:latin typeface="Liberation Sans"/>
                <a:ea typeface="Liberation Sans"/>
                <a:cs typeface="Liberation Sans"/>
              </a:rPr>
              <a:t>RUN PYTHON</a:t>
            </a:r>
          </a:p>
          <a:p xmlns:a="http://schemas.openxmlformats.org/drawingml/2006/main">
            <a:pPr algn="ctr">
              <a:defRPr sz="1950" b="1">
                <a:solidFill>
                  <a:srgbClr val="F3F7FB"/>
                </a:solidFill>
                <a:latin typeface="Liberation Sans"/>
                <a:ea typeface="Liberation Sans"/>
                <a:cs typeface="Liberation Sans"/>
              </a:defRPr>
            </a:pPr>
            <a:r>
              <a:rPr sz="1950" b="1">
                <a:solidFill>
                  <a:srgbClr val="F3F7FB"/>
                </a:solidFill>
                <a:latin typeface="Liberation Sans"/>
                <a:ea typeface="Liberation Sans"/>
                <a:cs typeface="Liberation Sans"/>
              </a:rPr>
              <a:t>ETL</a:t>
            </a:r>
          </a:p>
        </p:txBody>
      </p:sp>
      <p:sp>
        <p:nvSpPr>
          <p:cNvPr id="13" name="shape-229">
            <a:extLst xmlns:a="http://schemas.openxmlformats.org/drawingml/2006/main">
              <a:ext uri="{FF2B5EF4-FFF2-40B4-BE49-F238E27FC236}">
                <a16:creationId xmlns:a16="http://schemas.microsoft.com/office/drawing/2014/main" id="{CDC23603-8267-4FA0-8064-E856437A1567}"/>
              </a:ext>
            </a:extLst>
          </p:cNvPr>
          <p:cNvSpPr>
            <a:spLocks xmlns:a="http://schemas.openxmlformats.org/drawingml/2006/main" noGrp="1"/>
          </p:cNvSpPr>
          <p:nvPr/>
        </p:nvSpPr>
        <p:spPr>
          <a:xfrm xmlns:a="http://schemas.openxmlformats.org/drawingml/2006/main">
            <a:off x="5105400" y="2600325"/>
            <a:ext cx="1981200" cy="1323975"/>
          </a:xfrm>
          <a:prstGeom xmlns:a="http://schemas.openxmlformats.org/drawingml/2006/main" prst="roundRect">
            <a:avLst>
              <a:gd name="adj" fmla="val 8633"/>
            </a:avLst>
          </a:prstGeom>
          <a:solidFill xmlns:a="http://schemas.openxmlformats.org/drawingml/2006/main">
            <a:srgbClr val="10352E"/>
          </a:solidFill>
          <a:ln xmlns:a="http://schemas.openxmlformats.org/drawingml/2006/main" w="9525">
            <a:solidFill>
              <a:srgbClr val="39DBB0"/>
            </a:solidFill>
            <a:prstDash val="solid"/>
          </a:ln>
        </p:spPr>
      </p:sp>
      <p:sp>
        <p:nvSpPr>
          <p:cNvPr id="14" name="shape-230">
            <a:extLst xmlns:a="http://schemas.openxmlformats.org/drawingml/2006/main">
              <a:ext uri="{FF2B5EF4-FFF2-40B4-BE49-F238E27FC236}">
                <a16:creationId xmlns:a16="http://schemas.microsoft.com/office/drawing/2014/main" id="{615E3A0A-19C5-4489-AA86-1A61D109C871}"/>
              </a:ext>
            </a:extLst>
          </p:cNvPr>
          <p:cNvSpPr>
            <a:spLocks xmlns:a="http://schemas.openxmlformats.org/drawingml/2006/main" noGrp="1"/>
          </p:cNvSpPr>
          <p:nvPr/>
        </p:nvSpPr>
        <p:spPr>
          <a:xfrm xmlns:a="http://schemas.openxmlformats.org/drawingml/2006/main">
            <a:off x="5248275" y="27622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1">
                <a:solidFill>
                  <a:srgbClr val="39DBB0"/>
                </a:solidFill>
                <a:latin typeface="Liberation Sans"/>
                <a:ea typeface="Liberation Sans"/>
                <a:cs typeface="Liberation Sans"/>
              </a:defRPr>
            </a:defPPr>
          </a:lstStyle>
          <a:p xmlns:a="http://schemas.openxmlformats.org/drawingml/2006/main">
            <a:pPr algn="ctr">
              <a:defRPr sz="1275" b="1">
                <a:solidFill>
                  <a:srgbClr val="39DBB0"/>
                </a:solidFill>
                <a:latin typeface="Liberation Sans"/>
                <a:ea typeface="Liberation Sans"/>
                <a:cs typeface="Liberation Sans"/>
              </a:defRPr>
            </a:pPr>
            <a:r>
              <a:rPr sz="1275" b="1">
                <a:solidFill>
                  <a:srgbClr val="39DBB0"/>
                </a:solidFill>
                <a:latin typeface="Liberation Sans"/>
                <a:ea typeface="Liberation Sans"/>
                <a:cs typeface="Liberation Sans"/>
              </a:rPr>
              <a:t>SUCCESS</a:t>
            </a:r>
          </a:p>
        </p:txBody>
      </p:sp>
      <p:sp>
        <p:nvSpPr>
          <p:cNvPr id="15" name="shape-231">
            <a:extLst xmlns:a="http://schemas.openxmlformats.org/drawingml/2006/main">
              <a:ext uri="{FF2B5EF4-FFF2-40B4-BE49-F238E27FC236}">
                <a16:creationId xmlns:a16="http://schemas.microsoft.com/office/drawing/2014/main" id="{0E19EABC-68BB-4E3E-B5C9-57DBE5F7A8C9}"/>
              </a:ext>
            </a:extLst>
          </p:cNvPr>
          <p:cNvSpPr>
            <a:spLocks xmlns:a="http://schemas.openxmlformats.org/drawingml/2006/main" noGrp="1"/>
          </p:cNvSpPr>
          <p:nvPr/>
        </p:nvSpPr>
        <p:spPr>
          <a:xfrm xmlns:a="http://schemas.openxmlformats.org/drawingml/2006/main">
            <a:off x="5248275" y="3124200"/>
            <a:ext cx="1695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F3F7FB"/>
                </a:solidFill>
                <a:latin typeface="Liberation Sans"/>
                <a:ea typeface="Liberation Sans"/>
                <a:cs typeface="Liberation Sans"/>
              </a:defRPr>
            </a:defPPr>
          </a:lstStyle>
          <a:p xmlns:a="http://schemas.openxmlformats.org/drawingml/2006/main">
            <a:pPr algn="ctr">
              <a:defRPr sz="1950" b="1">
                <a:solidFill>
                  <a:srgbClr val="F3F7FB"/>
                </a:solidFill>
                <a:latin typeface="Liberation Sans"/>
                <a:ea typeface="Liberation Sans"/>
                <a:cs typeface="Liberation Sans"/>
              </a:defRPr>
            </a:pPr>
            <a:r>
              <a:rPr sz="1950" b="1">
                <a:solidFill>
                  <a:srgbClr val="F3F7FB"/>
                </a:solidFill>
                <a:latin typeface="Liberation Sans"/>
                <a:ea typeface="Liberation Sans"/>
                <a:cs typeface="Liberation Sans"/>
              </a:rPr>
              <a:t>RUN DBT</a:t>
            </a:r>
          </a:p>
        </p:txBody>
      </p:sp>
      <p:sp>
        <p:nvSpPr>
          <p:cNvPr id="16" name="shape-232">
            <a:extLst xmlns:a="http://schemas.openxmlformats.org/drawingml/2006/main">
              <a:ext uri="{FF2B5EF4-FFF2-40B4-BE49-F238E27FC236}">
                <a16:creationId xmlns:a16="http://schemas.microsoft.com/office/drawing/2014/main" id="{8B2A3501-EA4A-49EE-84BD-2A986A920FDF}"/>
              </a:ext>
            </a:extLst>
          </p:cNvPr>
          <p:cNvSpPr>
            <a:spLocks xmlns:a="http://schemas.openxmlformats.org/drawingml/2006/main" noGrp="1"/>
          </p:cNvSpPr>
          <p:nvPr/>
        </p:nvSpPr>
        <p:spPr>
          <a:xfrm xmlns:a="http://schemas.openxmlformats.org/drawingml/2006/main">
            <a:off x="7372350" y="2600325"/>
            <a:ext cx="1981200" cy="1323975"/>
          </a:xfrm>
          <a:prstGeom xmlns:a="http://schemas.openxmlformats.org/drawingml/2006/main" prst="roundRect">
            <a:avLst>
              <a:gd name="adj" fmla="val 8633"/>
            </a:avLst>
          </a:prstGeom>
          <a:solidFill xmlns:a="http://schemas.openxmlformats.org/drawingml/2006/main">
            <a:srgbClr val="10352E"/>
          </a:solidFill>
          <a:ln xmlns:a="http://schemas.openxmlformats.org/drawingml/2006/main" w="9525">
            <a:solidFill>
              <a:srgbClr val="39DBB0"/>
            </a:solidFill>
            <a:prstDash val="solid"/>
          </a:ln>
        </p:spPr>
      </p:sp>
      <p:sp>
        <p:nvSpPr>
          <p:cNvPr id="17" name="shape-233">
            <a:extLst xmlns:a="http://schemas.openxmlformats.org/drawingml/2006/main">
              <a:ext uri="{FF2B5EF4-FFF2-40B4-BE49-F238E27FC236}">
                <a16:creationId xmlns:a16="http://schemas.microsoft.com/office/drawing/2014/main" id="{715EEA2C-8C2F-4BF8-94FB-BA71305ED5AA}"/>
              </a:ext>
            </a:extLst>
          </p:cNvPr>
          <p:cNvSpPr>
            <a:spLocks xmlns:a="http://schemas.openxmlformats.org/drawingml/2006/main" noGrp="1"/>
          </p:cNvSpPr>
          <p:nvPr/>
        </p:nvSpPr>
        <p:spPr>
          <a:xfrm xmlns:a="http://schemas.openxmlformats.org/drawingml/2006/main">
            <a:off x="7515225" y="27622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1">
                <a:solidFill>
                  <a:srgbClr val="39DBB0"/>
                </a:solidFill>
                <a:latin typeface="Liberation Sans"/>
                <a:ea typeface="Liberation Sans"/>
                <a:cs typeface="Liberation Sans"/>
              </a:defRPr>
            </a:defPPr>
          </a:lstStyle>
          <a:p xmlns:a="http://schemas.openxmlformats.org/drawingml/2006/main">
            <a:pPr algn="ctr">
              <a:defRPr sz="1275" b="1">
                <a:solidFill>
                  <a:srgbClr val="39DBB0"/>
                </a:solidFill>
                <a:latin typeface="Liberation Sans"/>
                <a:ea typeface="Liberation Sans"/>
                <a:cs typeface="Liberation Sans"/>
              </a:defRPr>
            </a:pPr>
            <a:r>
              <a:rPr sz="1275" b="1">
                <a:solidFill>
                  <a:srgbClr val="39DBB0"/>
                </a:solidFill>
                <a:latin typeface="Liberation Sans"/>
                <a:ea typeface="Liberation Sans"/>
                <a:cs typeface="Liberation Sans"/>
              </a:rPr>
              <a:t>SUCCESS</a:t>
            </a:r>
          </a:p>
        </p:txBody>
      </p:sp>
      <p:sp>
        <p:nvSpPr>
          <p:cNvPr id="18" name="shape-234">
            <a:extLst xmlns:a="http://schemas.openxmlformats.org/drawingml/2006/main">
              <a:ext uri="{FF2B5EF4-FFF2-40B4-BE49-F238E27FC236}">
                <a16:creationId xmlns:a16="http://schemas.microsoft.com/office/drawing/2014/main" id="{FC06F14F-7983-475A-8A8D-4A0226C292C0}"/>
              </a:ext>
            </a:extLst>
          </p:cNvPr>
          <p:cNvSpPr>
            <a:spLocks xmlns:a="http://schemas.openxmlformats.org/drawingml/2006/main" noGrp="1"/>
          </p:cNvSpPr>
          <p:nvPr/>
        </p:nvSpPr>
        <p:spPr>
          <a:xfrm xmlns:a="http://schemas.openxmlformats.org/drawingml/2006/main">
            <a:off x="7515225" y="3124200"/>
            <a:ext cx="1695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F3F7FB"/>
                </a:solidFill>
                <a:latin typeface="Liberation Sans"/>
                <a:ea typeface="Liberation Sans"/>
                <a:cs typeface="Liberation Sans"/>
              </a:defRPr>
            </a:defPPr>
          </a:lstStyle>
          <a:p xmlns:a="http://schemas.openxmlformats.org/drawingml/2006/main">
            <a:pPr algn="ctr">
              <a:defRPr sz="1950" b="1">
                <a:solidFill>
                  <a:srgbClr val="F3F7FB"/>
                </a:solidFill>
                <a:latin typeface="Liberation Sans"/>
                <a:ea typeface="Liberation Sans"/>
                <a:cs typeface="Liberation Sans"/>
              </a:defRPr>
            </a:pPr>
            <a:r>
              <a:rPr sz="1950" b="1">
                <a:solidFill>
                  <a:srgbClr val="F3F7FB"/>
                </a:solidFill>
                <a:latin typeface="Liberation Sans"/>
                <a:ea typeface="Liberation Sans"/>
                <a:cs typeface="Liberation Sans"/>
              </a:rPr>
              <a:t>TEST DBT</a:t>
            </a:r>
          </a:p>
        </p:txBody>
      </p:sp>
      <p:sp>
        <p:nvSpPr>
          <p:cNvPr id="19" name="shape-235">
            <a:extLst xmlns:a="http://schemas.openxmlformats.org/drawingml/2006/main">
              <a:ext uri="{FF2B5EF4-FFF2-40B4-BE49-F238E27FC236}">
                <a16:creationId xmlns:a16="http://schemas.microsoft.com/office/drawing/2014/main" id="{41624DC3-9E0A-4910-B6AF-46A2049AE602}"/>
              </a:ext>
            </a:extLst>
          </p:cNvPr>
          <p:cNvSpPr>
            <a:spLocks xmlns:a="http://schemas.openxmlformats.org/drawingml/2006/main" noGrp="1"/>
          </p:cNvSpPr>
          <p:nvPr/>
        </p:nvSpPr>
        <p:spPr>
          <a:xfrm xmlns:a="http://schemas.openxmlformats.org/drawingml/2006/main">
            <a:off x="9639300" y="2600325"/>
            <a:ext cx="1981200" cy="1323975"/>
          </a:xfrm>
          <a:prstGeom xmlns:a="http://schemas.openxmlformats.org/drawingml/2006/main" prst="roundRect">
            <a:avLst>
              <a:gd name="adj" fmla="val 8633"/>
            </a:avLst>
          </a:prstGeom>
          <a:solidFill xmlns:a="http://schemas.openxmlformats.org/drawingml/2006/main">
            <a:srgbClr val="10352E"/>
          </a:solidFill>
          <a:ln xmlns:a="http://schemas.openxmlformats.org/drawingml/2006/main" w="9525">
            <a:solidFill>
              <a:srgbClr val="39DBB0"/>
            </a:solidFill>
            <a:prstDash val="solid"/>
          </a:ln>
        </p:spPr>
      </p:sp>
      <p:sp>
        <p:nvSpPr>
          <p:cNvPr id="20" name="shape-236">
            <a:extLst xmlns:a="http://schemas.openxmlformats.org/drawingml/2006/main">
              <a:ext uri="{FF2B5EF4-FFF2-40B4-BE49-F238E27FC236}">
                <a16:creationId xmlns:a16="http://schemas.microsoft.com/office/drawing/2014/main" id="{99917B57-842A-4AA7-9290-5262EA1C71A0}"/>
              </a:ext>
            </a:extLst>
          </p:cNvPr>
          <p:cNvSpPr>
            <a:spLocks xmlns:a="http://schemas.openxmlformats.org/drawingml/2006/main" noGrp="1"/>
          </p:cNvSpPr>
          <p:nvPr/>
        </p:nvSpPr>
        <p:spPr>
          <a:xfrm xmlns:a="http://schemas.openxmlformats.org/drawingml/2006/main">
            <a:off x="9782175" y="27622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1">
                <a:solidFill>
                  <a:srgbClr val="39DBB0"/>
                </a:solidFill>
                <a:latin typeface="Liberation Sans"/>
                <a:ea typeface="Liberation Sans"/>
                <a:cs typeface="Liberation Sans"/>
              </a:defRPr>
            </a:defPPr>
          </a:lstStyle>
          <a:p xmlns:a="http://schemas.openxmlformats.org/drawingml/2006/main">
            <a:pPr algn="ctr">
              <a:defRPr sz="1275" b="1">
                <a:solidFill>
                  <a:srgbClr val="39DBB0"/>
                </a:solidFill>
                <a:latin typeface="Liberation Sans"/>
                <a:ea typeface="Liberation Sans"/>
                <a:cs typeface="Liberation Sans"/>
              </a:defRPr>
            </a:pPr>
            <a:r>
              <a:rPr sz="1275" b="1">
                <a:solidFill>
                  <a:srgbClr val="39DBB0"/>
                </a:solidFill>
                <a:latin typeface="Liberation Sans"/>
                <a:ea typeface="Liberation Sans"/>
                <a:cs typeface="Liberation Sans"/>
              </a:rPr>
              <a:t>SUCCESS</a:t>
            </a:r>
          </a:p>
        </p:txBody>
      </p:sp>
      <p:sp>
        <p:nvSpPr>
          <p:cNvPr id="21" name="shape-237">
            <a:extLst xmlns:a="http://schemas.openxmlformats.org/drawingml/2006/main">
              <a:ext uri="{FF2B5EF4-FFF2-40B4-BE49-F238E27FC236}">
                <a16:creationId xmlns:a16="http://schemas.microsoft.com/office/drawing/2014/main" id="{46A24C84-7061-4964-AFB8-DCF9335AABD0}"/>
              </a:ext>
            </a:extLst>
          </p:cNvPr>
          <p:cNvSpPr>
            <a:spLocks xmlns:a="http://schemas.openxmlformats.org/drawingml/2006/main" noGrp="1"/>
          </p:cNvSpPr>
          <p:nvPr/>
        </p:nvSpPr>
        <p:spPr>
          <a:xfrm xmlns:a="http://schemas.openxmlformats.org/drawingml/2006/main">
            <a:off x="9782175" y="3124200"/>
            <a:ext cx="1695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F3F7FB"/>
                </a:solidFill>
                <a:latin typeface="Liberation Sans"/>
                <a:ea typeface="Liberation Sans"/>
                <a:cs typeface="Liberation Sans"/>
              </a:defRPr>
            </a:defPPr>
          </a:lstStyle>
          <a:p xmlns:a="http://schemas.openxmlformats.org/drawingml/2006/main">
            <a:pPr algn="ctr">
              <a:defRPr sz="1950" b="1">
                <a:solidFill>
                  <a:srgbClr val="F3F7FB"/>
                </a:solidFill>
                <a:latin typeface="Liberation Sans"/>
                <a:ea typeface="Liberation Sans"/>
                <a:cs typeface="Liberation Sans"/>
              </a:defRPr>
            </a:pPr>
            <a:r>
              <a:rPr sz="1950" b="1">
                <a:solidFill>
                  <a:srgbClr val="F3F7FB"/>
                </a:solidFill>
                <a:latin typeface="Liberation Sans"/>
                <a:ea typeface="Liberation Sans"/>
                <a:cs typeface="Liberation Sans"/>
              </a:rPr>
              <a:t>END</a:t>
            </a:r>
          </a:p>
        </p:txBody>
      </p:sp>
      <p:sp>
        <p:nvSpPr>
          <p:cNvPr id="26" name="shape-238">
            <a:extLst xmlns:a="http://schemas.openxmlformats.org/drawingml/2006/main">
              <a:ext uri="{FF2B5EF4-FFF2-40B4-BE49-F238E27FC236}">
                <a16:creationId xmlns:a16="http://schemas.microsoft.com/office/drawing/2014/main" id="{EF25DA07-4982-46CC-ADFC-AFCE31C482EA}"/>
              </a:ext>
            </a:extLst>
          </p:cNvPr>
          <p:cNvSpPr>
            <a:spLocks xmlns:a="http://schemas.openxmlformats.org/drawingml/2006/main" noGrp="1"/>
          </p:cNvSpPr>
          <p:nvPr/>
        </p:nvSpPr>
        <p:spPr>
          <a:xfrm xmlns:a="http://schemas.openxmlformats.org/drawingml/2006/main">
            <a:off x="571500" y="4314825"/>
            <a:ext cx="11049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F3F7FB"/>
                </a:solidFill>
                <a:latin typeface="Liberation Sans"/>
                <a:ea typeface="Liberation Sans"/>
                <a:cs typeface="Liberation Sans"/>
              </a:defRPr>
            </a:defPPr>
          </a:lstStyle>
          <a:p xmlns:a="http://schemas.openxmlformats.org/drawingml/2006/main">
            <a:pPr algn="l">
              <a:defRPr sz="2325" b="1">
                <a:solidFill>
                  <a:srgbClr val="F3F7FB"/>
                </a:solidFill>
                <a:latin typeface="Liberation Sans"/>
                <a:ea typeface="Liberation Sans"/>
                <a:cs typeface="Liberation Sans"/>
              </a:defRPr>
            </a:pPr>
            <a:r>
              <a:rPr sz="2325" b="1">
                <a:solidFill>
                  <a:srgbClr val="F3F7FB"/>
                </a:solidFill>
                <a:latin typeface="Liberation Sans"/>
                <a:ea typeface="Liberation Sans"/>
                <a:cs typeface="Liberation Sans"/>
              </a:rPr>
              <a:t>Downstream tasks run only after upstream stages succeed</a:t>
            </a:r>
          </a:p>
        </p:txBody>
      </p:sp>
      <p:sp>
        <p:nvSpPr>
          <p:cNvPr id="27" name="shape-239">
            <a:extLst xmlns:a="http://schemas.openxmlformats.org/drawingml/2006/main">
              <a:ext uri="{FF2B5EF4-FFF2-40B4-BE49-F238E27FC236}">
                <a16:creationId xmlns:a16="http://schemas.microsoft.com/office/drawing/2014/main" id="{0742C546-6DD5-4321-A784-FC4BBAD3EAC9}"/>
              </a:ext>
            </a:extLst>
          </p:cNvPr>
          <p:cNvSpPr>
            <a:spLocks xmlns:a="http://schemas.openxmlformats.org/drawingml/2006/main" noGrp="1"/>
          </p:cNvSpPr>
          <p:nvPr/>
        </p:nvSpPr>
        <p:spPr>
          <a:xfrm xmlns:a="http://schemas.openxmlformats.org/drawingml/2006/main">
            <a:off x="571500" y="4943475"/>
            <a:ext cx="5381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A9BBCB"/>
                </a:solidFill>
                <a:latin typeface="Liberation Sans"/>
                <a:ea typeface="Liberation Sans"/>
                <a:cs typeface="Liberation Sans"/>
              </a:defRPr>
            </a:defPPr>
          </a:lstStyle>
          <a:p xmlns:a="http://schemas.openxmlformats.org/drawingml/2006/main">
            <a:pPr algn="l">
              <a:defRPr sz="1800" b="0">
                <a:solidFill>
                  <a:srgbClr val="A9BBCB"/>
                </a:solidFill>
                <a:latin typeface="Liberation Sans"/>
                <a:ea typeface="Liberation Sans"/>
                <a:cs typeface="Liberation Sans"/>
              </a:defRPr>
            </a:pPr>
            <a:r>
              <a:rPr sz="1800" b="0">
                <a:solidFill>
                  <a:srgbClr val="A9BBCB"/>
                </a:solidFill>
                <a:latin typeface="Liberation Sans"/>
                <a:ea typeface="Liberation Sans"/>
                <a:cs typeface="Liberation Sans"/>
              </a:rPr>
              <a:t>Dependency management</a:t>
            </a:r>
          </a:p>
        </p:txBody>
      </p:sp>
      <p:sp>
        <p:nvSpPr>
          <p:cNvPr id="28" name="shape-240">
            <a:extLst xmlns:a="http://schemas.openxmlformats.org/drawingml/2006/main">
              <a:ext uri="{FF2B5EF4-FFF2-40B4-BE49-F238E27FC236}">
                <a16:creationId xmlns:a16="http://schemas.microsoft.com/office/drawing/2014/main" id="{36691869-13AC-44A4-B59E-750042D8F685}"/>
              </a:ext>
            </a:extLst>
          </p:cNvPr>
          <p:cNvSpPr>
            <a:spLocks xmlns:a="http://schemas.openxmlformats.org/drawingml/2006/main" noGrp="1"/>
          </p:cNvSpPr>
          <p:nvPr/>
        </p:nvSpPr>
        <p:spPr>
          <a:xfrm xmlns:a="http://schemas.openxmlformats.org/drawingml/2006/main">
            <a:off x="6229350" y="4943475"/>
            <a:ext cx="5381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A9BBCB"/>
                </a:solidFill>
                <a:latin typeface="Liberation Sans"/>
                <a:ea typeface="Liberation Sans"/>
                <a:cs typeface="Liberation Sans"/>
              </a:defRPr>
            </a:defPPr>
          </a:lstStyle>
          <a:p xmlns:a="http://schemas.openxmlformats.org/drawingml/2006/main">
            <a:pPr algn="l">
              <a:defRPr sz="1800" b="0">
                <a:solidFill>
                  <a:srgbClr val="A9BBCB"/>
                </a:solidFill>
                <a:latin typeface="Liberation Sans"/>
                <a:ea typeface="Liberation Sans"/>
                <a:cs typeface="Liberation Sans"/>
              </a:defRPr>
            </a:pPr>
            <a:r>
              <a:rPr sz="1800" b="0">
                <a:solidFill>
                  <a:srgbClr val="A9BBCB"/>
                </a:solidFill>
                <a:latin typeface="Liberation Sans"/>
                <a:ea typeface="Liberation Sans"/>
                <a:cs typeface="Liberation Sans"/>
              </a:rPr>
              <a:t>Automated workflow execution</a:t>
            </a:r>
          </a:p>
        </p:txBody>
      </p:sp>
      <p:sp>
        <p:nvSpPr>
          <p:cNvPr id="29" name="shape-241">
            <a:extLst xmlns:a="http://schemas.openxmlformats.org/drawingml/2006/main">
              <a:ext uri="{FF2B5EF4-FFF2-40B4-BE49-F238E27FC236}">
                <a16:creationId xmlns:a16="http://schemas.microsoft.com/office/drawing/2014/main" id="{78DEA163-9EA7-46FD-BE17-96843BA40121}"/>
              </a:ext>
            </a:extLst>
          </p:cNvPr>
          <p:cNvSpPr>
            <a:spLocks xmlns:a="http://schemas.openxmlformats.org/drawingml/2006/main" noGrp="1"/>
          </p:cNvSpPr>
          <p:nvPr/>
        </p:nvSpPr>
        <p:spPr>
          <a:xfrm xmlns:a="http://schemas.openxmlformats.org/drawingml/2006/main">
            <a:off x="571500" y="5372100"/>
            <a:ext cx="5381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A9BBCB"/>
                </a:solidFill>
                <a:latin typeface="Liberation Sans"/>
                <a:ea typeface="Liberation Sans"/>
                <a:cs typeface="Liberation Sans"/>
              </a:defRPr>
            </a:defPPr>
          </a:lstStyle>
          <a:p xmlns:a="http://schemas.openxmlformats.org/drawingml/2006/main">
            <a:pPr algn="l">
              <a:defRPr sz="1800" b="0">
                <a:solidFill>
                  <a:srgbClr val="A9BBCB"/>
                </a:solidFill>
                <a:latin typeface="Liberation Sans"/>
                <a:ea typeface="Liberation Sans"/>
                <a:cs typeface="Liberation Sans"/>
              </a:defRPr>
            </a:pPr>
            <a:r>
              <a:rPr sz="1800" b="0">
                <a:solidFill>
                  <a:srgbClr val="A9BBCB"/>
                </a:solidFill>
                <a:latin typeface="Liberation Sans"/>
                <a:ea typeface="Liberation Sans"/>
                <a:cs typeface="Liberation Sans"/>
              </a:rPr>
              <a:t>Failure visibility</a:t>
            </a:r>
          </a:p>
        </p:txBody>
      </p:sp>
      <p:sp>
        <p:nvSpPr>
          <p:cNvPr id="30" name="shape-242">
            <a:extLst xmlns:a="http://schemas.openxmlformats.org/drawingml/2006/main">
              <a:ext uri="{FF2B5EF4-FFF2-40B4-BE49-F238E27FC236}">
                <a16:creationId xmlns:a16="http://schemas.microsoft.com/office/drawing/2014/main" id="{9F7590E9-4C1F-426F-89B4-D7171495ADB4}"/>
              </a:ext>
            </a:extLst>
          </p:cNvPr>
          <p:cNvSpPr>
            <a:spLocks xmlns:a="http://schemas.openxmlformats.org/drawingml/2006/main" noGrp="1"/>
          </p:cNvSpPr>
          <p:nvPr/>
        </p:nvSpPr>
        <p:spPr>
          <a:xfrm xmlns:a="http://schemas.openxmlformats.org/drawingml/2006/main">
            <a:off x="6229350" y="5372100"/>
            <a:ext cx="5381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A9BBCB"/>
                </a:solidFill>
                <a:latin typeface="Liberation Sans"/>
                <a:ea typeface="Liberation Sans"/>
                <a:cs typeface="Liberation Sans"/>
              </a:defRPr>
            </a:defPPr>
          </a:lstStyle>
          <a:p xmlns:a="http://schemas.openxmlformats.org/drawingml/2006/main">
            <a:pPr algn="l">
              <a:defRPr sz="1800" b="0">
                <a:solidFill>
                  <a:srgbClr val="A9BBCB"/>
                </a:solidFill>
                <a:latin typeface="Liberation Sans"/>
                <a:ea typeface="Liberation Sans"/>
                <a:cs typeface="Liberation Sans"/>
              </a:defRPr>
            </a:pPr>
            <a:r>
              <a:rPr sz="1800" b="0">
                <a:solidFill>
                  <a:srgbClr val="A9BBCB"/>
                </a:solidFill>
                <a:latin typeface="Liberation Sans"/>
                <a:ea typeface="Liberation Sans"/>
                <a:cs typeface="Liberation Sans"/>
              </a:rPr>
              <a:t>Reproducible execution</a:t>
            </a:r>
          </a:p>
        </p:txBody>
      </p:sp>
      <p:sp>
        <p:nvSpPr>
          <p:cNvPr id="31" name="shape-243">
            <a:extLst xmlns:a="http://schemas.openxmlformats.org/drawingml/2006/main">
              <a:ext uri="{FF2B5EF4-FFF2-40B4-BE49-F238E27FC236}">
                <a16:creationId xmlns:a16="http://schemas.microsoft.com/office/drawing/2014/main" id="{04C68D88-75BD-44C3-87E7-586D8D04124F}"/>
              </a:ext>
            </a:extLst>
          </p:cNvPr>
          <p:cNvSpPr>
            <a:spLocks xmlns:a="http://schemas.openxmlformats.org/drawingml/2006/main" noGrp="1"/>
          </p:cNvSpPr>
          <p:nvPr/>
        </p:nvSpPr>
        <p:spPr>
          <a:xfrm xmlns:a="http://schemas.openxmlformats.org/drawingml/2006/main">
            <a:off x="571500" y="5867400"/>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FFBF69"/>
                </a:solidFill>
                <a:latin typeface="Liberation Sans"/>
                <a:ea typeface="Liberation Sans"/>
                <a:cs typeface="Liberation Sans"/>
              </a:defRPr>
            </a:defPPr>
          </a:lstStyle>
          <a:p xmlns:a="http://schemas.openxmlformats.org/drawingml/2006/main">
            <a:pPr algn="l">
              <a:defRPr sz="1425" b="0">
                <a:solidFill>
                  <a:srgbClr val="FFBF69"/>
                </a:solidFill>
                <a:latin typeface="Liberation Sans"/>
                <a:ea typeface="Liberation Sans"/>
                <a:cs typeface="Liberation Sans"/>
              </a:defRPr>
            </a:pPr>
            <a:r>
              <a:rPr sz="1425" b="0">
                <a:solidFill>
                  <a:srgbClr val="FFBF69"/>
                </a:solidFill>
                <a:latin typeface="Liberation Sans"/>
                <a:ea typeface="Liberation Sans"/>
                <a:cs typeface="Liberation Sans"/>
              </a:rPr>
              <a:t>Current execution: manual trigger (schedule=None). Scheduling, retries and alerts are future work.</a:t>
            </a:r>
          </a:p>
        </p:txBody>
      </p:sp>
    </p:spTree>
    <p:extLst>
      <p:ext uri="{BB962C8B-B14F-4D97-AF65-F5344CB8AC3E}">
        <p14:creationId xmlns:p14="http://schemas.microsoft.com/office/powerpoint/2010/main" val="2049502298"/>
      </p:ext>
    </p:extLst>
  </p:cSld>
</p:sld>
</file>

<file path=ppt/slides/slide9.xml><?xml version="1.0" encoding="utf-8"?>
<p:sld xmlns:p="http://schemas.openxmlformats.org/presentationml/2006/main">
  <p:cSld>
    <p:bg>
      <p:bgPr>
        <a:solidFill xmlns:a="http://schemas.openxmlformats.org/drawingml/2006/main">
          <a:srgbClr val="091522"/>
        </a:solidFill>
      </p:bgPr>
    </p:bg>
    <p:spTree>
      <p:nvGrpSpPr>
        <p:cNvPr id="1" name=""/>
        <p:cNvGrpSpPr/>
        <p:nvPr/>
      </p:nvGrpSpPr>
      <p:grpSpPr>
        <a:xfrm xmlns:a="http://schemas.openxmlformats.org/drawingml/2006/main"/>
      </p:grpSpPr>
      <p:sp>
        <p:nvSpPr>
          <p:cNvPr id="32" name="shape-244">
            <a:extLst xmlns:a="http://schemas.openxmlformats.org/drawingml/2006/main">
              <a:ext uri="{FF2B5EF4-FFF2-40B4-BE49-F238E27FC236}">
                <a16:creationId xmlns:a16="http://schemas.microsoft.com/office/drawing/2014/main" id="{BDE44AB5-3973-4352-960D-4F9577A5BC31}"/>
              </a:ext>
            </a:extLst>
          </p:cNvPr>
          <p:cNvSpPr>
            <a:spLocks xmlns:a="http://schemas.openxmlformats.org/drawingml/2006/main" noGrp="1"/>
          </p:cNvSpPr>
          <p:nvPr/>
        </p:nvSpPr>
        <p:spPr>
          <a:xfrm xmlns:a="http://schemas.openxmlformats.org/drawingml/2006/main">
            <a:off x="571500" y="333375"/>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48DCE7"/>
                </a:solidFill>
                <a:latin typeface="Liberation Sans"/>
                <a:ea typeface="Liberation Sans"/>
                <a:cs typeface="Liberation Sans"/>
              </a:defRPr>
            </a:defPPr>
          </a:lstStyle>
          <a:p xmlns:a="http://schemas.openxmlformats.org/drawingml/2006/main">
            <a:pPr algn="l">
              <a:defRPr sz="1125" b="1">
                <a:solidFill>
                  <a:srgbClr val="48DCE7"/>
                </a:solidFill>
                <a:latin typeface="Liberation Sans"/>
                <a:ea typeface="Liberation Sans"/>
                <a:cs typeface="Liberation Sans"/>
              </a:defRPr>
            </a:pPr>
            <a:r>
              <a:rPr sz="1125" b="1">
                <a:solidFill>
                  <a:srgbClr val="48DCE7"/>
                </a:solidFill>
                <a:latin typeface="Liberation Sans"/>
                <a:ea typeface="Liberation Sans"/>
                <a:cs typeface="Liberation Sans"/>
              </a:rPr>
              <a:t>BUSINESS INTELLIGENCE</a:t>
            </a:r>
          </a:p>
        </p:txBody>
      </p:sp>
      <p:sp>
        <p:nvSpPr>
          <p:cNvPr id="2" name="shape-245">
            <a:extLst xmlns:a="http://schemas.openxmlformats.org/drawingml/2006/main">
              <a:ext uri="{FF2B5EF4-FFF2-40B4-BE49-F238E27FC236}">
                <a16:creationId xmlns:a16="http://schemas.microsoft.com/office/drawing/2014/main" id="{4D693CA1-00F1-482C-9D2B-2A4C43D593A6}"/>
              </a:ext>
            </a:extLst>
          </p:cNvPr>
          <p:cNvSpPr>
            <a:spLocks xmlns:a="http://schemas.openxmlformats.org/drawingml/2006/main" noGrp="1"/>
          </p:cNvSpPr>
          <p:nvPr/>
        </p:nvSpPr>
        <p:spPr>
          <a:xfrm xmlns:a="http://schemas.openxmlformats.org/drawingml/2006/main">
            <a:off x="571500" y="704850"/>
            <a:ext cx="110490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3F7FB"/>
                </a:solidFill>
                <a:latin typeface="Liberation Sans"/>
                <a:ea typeface="Liberation Sans"/>
                <a:cs typeface="Liberation Sans"/>
              </a:defRPr>
            </a:defPPr>
          </a:lstStyle>
          <a:p xmlns:a="http://schemas.openxmlformats.org/drawingml/2006/main">
            <a:pPr algn="l">
              <a:defRPr sz="3225" b="1">
                <a:solidFill>
                  <a:srgbClr val="F3F7FB"/>
                </a:solidFill>
                <a:latin typeface="Liberation Sans"/>
                <a:ea typeface="Liberation Sans"/>
                <a:cs typeface="Liberation Sans"/>
              </a:defRPr>
            </a:pPr>
            <a:r>
              <a:rPr sz="3225" b="1">
                <a:solidFill>
                  <a:srgbClr val="F3F7FB"/>
                </a:solidFill>
                <a:latin typeface="Liberation Sans"/>
                <a:ea typeface="Liberation Sans"/>
                <a:cs typeface="Liberation Sans"/>
              </a:rPr>
              <a:t>Power BI — Turning Pipeline Output into Decisions</a:t>
            </a:r>
          </a:p>
        </p:txBody>
      </p:sp>
      <p:sp>
        <p:nvSpPr>
          <p:cNvPr id="3" name="line-246">
            <a:extLst xmlns:a="http://schemas.openxmlformats.org/drawingml/2006/main">
              <a:ext uri="{FF2B5EF4-FFF2-40B4-BE49-F238E27FC236}">
                <a16:creationId xmlns:a16="http://schemas.microsoft.com/office/drawing/2014/main" id="{83619F03-209F-4CC6-A56B-6697F2478AE0}"/>
              </a:ext>
            </a:extLst>
          </p:cNvPr>
          <p:cNvSpPr>
            <a:spLocks xmlns:a="http://schemas.openxmlformats.org/drawingml/2006/main" noGrp="1"/>
          </p:cNvSpPr>
          <p:nvPr/>
        </p:nvSpPr>
        <p:spPr>
          <a:xfrm xmlns:a="http://schemas.openxmlformats.org/drawingml/2006/main">
            <a:off x="571500" y="6353175"/>
            <a:ext cx="11049000"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4" name="shape-247">
            <a:extLst xmlns:a="http://schemas.openxmlformats.org/drawingml/2006/main">
              <a:ext uri="{FF2B5EF4-FFF2-40B4-BE49-F238E27FC236}">
                <a16:creationId xmlns:a16="http://schemas.microsoft.com/office/drawing/2014/main" id="{9B14B729-02BA-4938-9931-FDC1D6CAA779}"/>
              </a:ext>
            </a:extLst>
          </p:cNvPr>
          <p:cNvSpPr>
            <a:spLocks xmlns:a="http://schemas.openxmlformats.org/drawingml/2006/main" noGrp="1"/>
          </p:cNvSpPr>
          <p:nvPr/>
        </p:nvSpPr>
        <p:spPr>
          <a:xfrm xmlns:a="http://schemas.openxmlformats.org/drawingml/2006/main">
            <a:off x="5715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A9BBCB"/>
                </a:solidFill>
                <a:latin typeface="Liberation Sans"/>
                <a:ea typeface="Liberation Sans"/>
                <a:cs typeface="Liberation Sans"/>
              </a:defRPr>
            </a:defPPr>
          </a:lstStyle>
          <a:p xmlns:a="http://schemas.openxmlformats.org/drawingml/2006/main">
            <a:pPr algn="l">
              <a:defRPr sz="900" b="0">
                <a:solidFill>
                  <a:srgbClr val="A9BBCB"/>
                </a:solidFill>
                <a:latin typeface="Liberation Sans"/>
                <a:ea typeface="Liberation Sans"/>
                <a:cs typeface="Liberation Sans"/>
              </a:defRPr>
            </a:pPr>
            <a:r>
              <a:rPr sz="900" b="0">
                <a:solidFill>
                  <a:srgbClr val="A9BBCB"/>
                </a:solidFill>
                <a:latin typeface="Liberation Sans"/>
                <a:ea typeface="Liberation Sans"/>
                <a:cs typeface="Liberation Sans"/>
              </a:rPr>
              <a:t>SYNTHETIC DATA · PORTFOLIO PROJECT</a:t>
            </a:r>
          </a:p>
        </p:txBody>
      </p:sp>
      <p:sp>
        <p:nvSpPr>
          <p:cNvPr id="5" name="shape-248">
            <a:extLst xmlns:a="http://schemas.openxmlformats.org/drawingml/2006/main">
              <a:ext uri="{FF2B5EF4-FFF2-40B4-BE49-F238E27FC236}">
                <a16:creationId xmlns:a16="http://schemas.microsoft.com/office/drawing/2014/main" id="{092F6C7E-3B95-4A43-8EE9-7DB1950922C9}"/>
              </a:ext>
            </a:extLst>
          </p:cNvPr>
          <p:cNvSpPr>
            <a:spLocks xmlns:a="http://schemas.openxmlformats.org/drawingml/2006/main" noGrp="1"/>
          </p:cNvSpPr>
          <p:nvPr/>
        </p:nvSpPr>
        <p:spPr>
          <a:xfrm xmlns:a="http://schemas.openxmlformats.org/drawingml/2006/main">
            <a:off x="11144250" y="646747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9BBCB"/>
                </a:solidFill>
                <a:latin typeface="Liberation Sans"/>
                <a:ea typeface="Liberation Sans"/>
                <a:cs typeface="Liberation Sans"/>
              </a:defRPr>
            </a:defPPr>
          </a:lstStyle>
          <a:p xmlns:a="http://schemas.openxmlformats.org/drawingml/2006/main">
            <a:pPr algn="r">
              <a:defRPr sz="1275" b="0">
                <a:solidFill>
                  <a:srgbClr val="A9BBCB"/>
                </a:solidFill>
                <a:latin typeface="Liberation Sans"/>
                <a:ea typeface="Liberation Sans"/>
                <a:cs typeface="Liberation Sans"/>
              </a:defRPr>
            </a:pPr>
            <a:r>
              <a:rPr sz="1275" b="0">
                <a:solidFill>
                  <a:srgbClr val="A9BBCB"/>
                </a:solidFill>
                <a:latin typeface="Liberation Sans"/>
                <a:ea typeface="Liberation Sans"/>
                <a:cs typeface="Liberation Sans"/>
              </a:rPr>
              <a:t>09</a:t>
            </a:r>
          </a:p>
        </p:txBody>
      </p:sp>
      <p:sp>
        <p:nvSpPr>
          <p:cNvPr id="6" name="shape-249">
            <a:extLst xmlns:a="http://schemas.openxmlformats.org/drawingml/2006/main">
              <a:ext uri="{FF2B5EF4-FFF2-40B4-BE49-F238E27FC236}">
                <a16:creationId xmlns:a16="http://schemas.microsoft.com/office/drawing/2014/main" id="{281DE07A-8CD7-471F-B08C-27344401B56F}"/>
              </a:ext>
            </a:extLst>
          </p:cNvPr>
          <p:cNvSpPr>
            <a:spLocks xmlns:a="http://schemas.openxmlformats.org/drawingml/2006/main" noGrp="1"/>
          </p:cNvSpPr>
          <p:nvPr/>
        </p:nvSpPr>
        <p:spPr>
          <a:xfrm xmlns:a="http://schemas.openxmlformats.org/drawingml/2006/main">
            <a:off x="571500" y="1733550"/>
            <a:ext cx="2562225" cy="1638300"/>
          </a:xfrm>
          <a:prstGeom xmlns:a="http://schemas.openxmlformats.org/drawingml/2006/main" prst="roundRect">
            <a:avLst>
              <a:gd name="adj" fmla="val 6977"/>
            </a:avLst>
          </a:prstGeom>
          <a:solidFill xmlns:a="http://schemas.openxmlformats.org/drawingml/2006/main">
            <a:srgbClr val="122536"/>
          </a:solidFill>
          <a:ln xmlns:a="http://schemas.openxmlformats.org/drawingml/2006/main" w="9525">
            <a:solidFill>
              <a:srgbClr val="2A4052"/>
            </a:solidFill>
            <a:prstDash val="solid"/>
          </a:ln>
        </p:spPr>
      </p:sp>
      <p:sp>
        <p:nvSpPr>
          <p:cNvPr id="7" name="shape-250">
            <a:extLst xmlns:a="http://schemas.openxmlformats.org/drawingml/2006/main">
              <a:ext uri="{FF2B5EF4-FFF2-40B4-BE49-F238E27FC236}">
                <a16:creationId xmlns:a16="http://schemas.microsoft.com/office/drawing/2014/main" id="{EBAF6CBE-1604-4F13-94EF-9732355F400D}"/>
              </a:ext>
            </a:extLst>
          </p:cNvPr>
          <p:cNvSpPr>
            <a:spLocks xmlns:a="http://schemas.openxmlformats.org/drawingml/2006/main" noGrp="1"/>
          </p:cNvSpPr>
          <p:nvPr/>
        </p:nvSpPr>
        <p:spPr>
          <a:xfrm xmlns:a="http://schemas.openxmlformats.org/drawingml/2006/main">
            <a:off x="790575" y="2076450"/>
            <a:ext cx="21240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48DCE7"/>
                </a:solidFill>
                <a:latin typeface="Liberation Sans"/>
                <a:ea typeface="Liberation Sans"/>
                <a:cs typeface="Liberation Sans"/>
              </a:defRPr>
            </a:defPPr>
          </a:lstStyle>
          <a:p xmlns:a="http://schemas.openxmlformats.org/drawingml/2006/main">
            <a:pPr algn="l">
              <a:defRPr sz="3600" b="1">
                <a:solidFill>
                  <a:srgbClr val="48DCE7"/>
                </a:solidFill>
                <a:latin typeface="Liberation Sans"/>
                <a:ea typeface="Liberation Sans"/>
                <a:cs typeface="Liberation Sans"/>
              </a:defRPr>
            </a:pPr>
            <a:r>
              <a:rPr sz="3600" b="1">
                <a:solidFill>
                  <a:srgbClr val="48DCE7"/>
                </a:solidFill>
                <a:latin typeface="Liberation Sans"/>
                <a:ea typeface="Liberation Sans"/>
                <a:cs typeface="Liberation Sans"/>
              </a:rPr>
              <a:t>60K</a:t>
            </a:r>
          </a:p>
        </p:txBody>
      </p:sp>
      <p:sp>
        <p:nvSpPr>
          <p:cNvPr id="8" name="shape-251">
            <a:extLst xmlns:a="http://schemas.openxmlformats.org/drawingml/2006/main">
              <a:ext uri="{FF2B5EF4-FFF2-40B4-BE49-F238E27FC236}">
                <a16:creationId xmlns:a16="http://schemas.microsoft.com/office/drawing/2014/main" id="{12756CB1-A7DA-4F6A-86FE-B2AD45CCA3D3}"/>
              </a:ext>
            </a:extLst>
          </p:cNvPr>
          <p:cNvSpPr>
            <a:spLocks xmlns:a="http://schemas.openxmlformats.org/drawingml/2006/main" noGrp="1"/>
          </p:cNvSpPr>
          <p:nvPr/>
        </p:nvSpPr>
        <p:spPr>
          <a:xfrm xmlns:a="http://schemas.openxmlformats.org/drawingml/2006/main">
            <a:off x="790575" y="2752725"/>
            <a:ext cx="21240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F3F7FB"/>
                </a:solidFill>
                <a:latin typeface="Liberation Sans"/>
                <a:ea typeface="Liberation Sans"/>
                <a:cs typeface="Liberation Sans"/>
              </a:defRPr>
            </a:defPPr>
          </a:lstStyle>
          <a:p xmlns:a="http://schemas.openxmlformats.org/drawingml/2006/main">
            <a:pPr algn="l">
              <a:defRPr sz="1650" b="0">
                <a:solidFill>
                  <a:srgbClr val="F3F7FB"/>
                </a:solidFill>
                <a:latin typeface="Liberation Sans"/>
                <a:ea typeface="Liberation Sans"/>
                <a:cs typeface="Liberation Sans"/>
              </a:defRPr>
            </a:pPr>
            <a:r>
              <a:rPr sz="1650" b="0">
                <a:solidFill>
                  <a:srgbClr val="F3F7FB"/>
                </a:solidFill>
                <a:latin typeface="Liberation Sans"/>
                <a:ea typeface="Liberation Sans"/>
                <a:cs typeface="Liberation Sans"/>
              </a:rPr>
              <a:t>Total Orders</a:t>
            </a:r>
          </a:p>
        </p:txBody>
      </p:sp>
      <p:sp>
        <p:nvSpPr>
          <p:cNvPr id="9" name="shape-252">
            <a:extLst xmlns:a="http://schemas.openxmlformats.org/drawingml/2006/main">
              <a:ext uri="{FF2B5EF4-FFF2-40B4-BE49-F238E27FC236}">
                <a16:creationId xmlns:a16="http://schemas.microsoft.com/office/drawing/2014/main" id="{A8F49D54-9D28-40CB-A95C-F95071020859}"/>
              </a:ext>
            </a:extLst>
          </p:cNvPr>
          <p:cNvSpPr>
            <a:spLocks xmlns:a="http://schemas.openxmlformats.org/drawingml/2006/main" noGrp="1"/>
          </p:cNvSpPr>
          <p:nvPr/>
        </p:nvSpPr>
        <p:spPr>
          <a:xfrm xmlns:a="http://schemas.openxmlformats.org/drawingml/2006/main">
            <a:off x="3400425" y="1733550"/>
            <a:ext cx="2562225" cy="1638300"/>
          </a:xfrm>
          <a:prstGeom xmlns:a="http://schemas.openxmlformats.org/drawingml/2006/main" prst="roundRect">
            <a:avLst>
              <a:gd name="adj" fmla="val 6977"/>
            </a:avLst>
          </a:prstGeom>
          <a:solidFill xmlns:a="http://schemas.openxmlformats.org/drawingml/2006/main">
            <a:srgbClr val="122536"/>
          </a:solidFill>
          <a:ln xmlns:a="http://schemas.openxmlformats.org/drawingml/2006/main" w="9525">
            <a:solidFill>
              <a:srgbClr val="2A4052"/>
            </a:solidFill>
            <a:prstDash val="solid"/>
          </a:ln>
        </p:spPr>
      </p:sp>
      <p:sp>
        <p:nvSpPr>
          <p:cNvPr id="10" name="shape-253">
            <a:extLst xmlns:a="http://schemas.openxmlformats.org/drawingml/2006/main">
              <a:ext uri="{FF2B5EF4-FFF2-40B4-BE49-F238E27FC236}">
                <a16:creationId xmlns:a16="http://schemas.microsoft.com/office/drawing/2014/main" id="{AE320400-2B2D-4728-B6FD-C31E6A1E7BF9}"/>
              </a:ext>
            </a:extLst>
          </p:cNvPr>
          <p:cNvSpPr>
            <a:spLocks xmlns:a="http://schemas.openxmlformats.org/drawingml/2006/main" noGrp="1"/>
          </p:cNvSpPr>
          <p:nvPr/>
        </p:nvSpPr>
        <p:spPr>
          <a:xfrm xmlns:a="http://schemas.openxmlformats.org/drawingml/2006/main">
            <a:off x="3619500" y="2076450"/>
            <a:ext cx="21240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39DBB0"/>
                </a:solidFill>
                <a:latin typeface="Liberation Sans"/>
                <a:ea typeface="Liberation Sans"/>
                <a:cs typeface="Liberation Sans"/>
              </a:defRPr>
            </a:defPPr>
          </a:lstStyle>
          <a:p xmlns:a="http://schemas.openxmlformats.org/drawingml/2006/main">
            <a:pPr algn="l">
              <a:defRPr sz="3600" b="1">
                <a:solidFill>
                  <a:srgbClr val="39DBB0"/>
                </a:solidFill>
                <a:latin typeface="Liberation Sans"/>
                <a:ea typeface="Liberation Sans"/>
                <a:cs typeface="Liberation Sans"/>
              </a:defRPr>
            </a:pPr>
            <a:r>
              <a:rPr sz="3600" b="1">
                <a:solidFill>
                  <a:srgbClr val="39DBB0"/>
                </a:solidFill>
                <a:latin typeface="Liberation Sans"/>
                <a:ea typeface="Liberation Sans"/>
                <a:cs typeface="Liberation Sans"/>
              </a:rPr>
              <a:t>92.42%</a:t>
            </a:r>
          </a:p>
        </p:txBody>
      </p:sp>
      <p:sp>
        <p:nvSpPr>
          <p:cNvPr id="11" name="shape-254">
            <a:extLst xmlns:a="http://schemas.openxmlformats.org/drawingml/2006/main">
              <a:ext uri="{FF2B5EF4-FFF2-40B4-BE49-F238E27FC236}">
                <a16:creationId xmlns:a16="http://schemas.microsoft.com/office/drawing/2014/main" id="{DA2EA63F-B237-42F5-84BD-BB5023635C2B}"/>
              </a:ext>
            </a:extLst>
          </p:cNvPr>
          <p:cNvSpPr>
            <a:spLocks xmlns:a="http://schemas.openxmlformats.org/drawingml/2006/main" noGrp="1"/>
          </p:cNvSpPr>
          <p:nvPr/>
        </p:nvSpPr>
        <p:spPr>
          <a:xfrm xmlns:a="http://schemas.openxmlformats.org/drawingml/2006/main">
            <a:off x="3619500" y="2752725"/>
            <a:ext cx="21240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F3F7FB"/>
                </a:solidFill>
                <a:latin typeface="Liberation Sans"/>
                <a:ea typeface="Liberation Sans"/>
                <a:cs typeface="Liberation Sans"/>
              </a:defRPr>
            </a:defPPr>
          </a:lstStyle>
          <a:p xmlns:a="http://schemas.openxmlformats.org/drawingml/2006/main">
            <a:pPr algn="l">
              <a:defRPr sz="1650" b="0">
                <a:solidFill>
                  <a:srgbClr val="F3F7FB"/>
                </a:solidFill>
                <a:latin typeface="Liberation Sans"/>
                <a:ea typeface="Liberation Sans"/>
                <a:cs typeface="Liberation Sans"/>
              </a:defRPr>
            </a:pPr>
            <a:r>
              <a:rPr sz="1650" b="0">
                <a:solidFill>
                  <a:srgbClr val="F3F7FB"/>
                </a:solidFill>
                <a:latin typeface="Liberation Sans"/>
                <a:ea typeface="Liberation Sans"/>
                <a:cs typeface="Liberation Sans"/>
              </a:rPr>
              <a:t>Delivery Success Rate</a:t>
            </a:r>
          </a:p>
        </p:txBody>
      </p:sp>
      <p:sp>
        <p:nvSpPr>
          <p:cNvPr id="12" name="shape-255">
            <a:extLst xmlns:a="http://schemas.openxmlformats.org/drawingml/2006/main">
              <a:ext uri="{FF2B5EF4-FFF2-40B4-BE49-F238E27FC236}">
                <a16:creationId xmlns:a16="http://schemas.microsoft.com/office/drawing/2014/main" id="{D3CE2C9D-9C03-4031-A40E-6E71DE93F9C7}"/>
              </a:ext>
            </a:extLst>
          </p:cNvPr>
          <p:cNvSpPr>
            <a:spLocks xmlns:a="http://schemas.openxmlformats.org/drawingml/2006/main" noGrp="1"/>
          </p:cNvSpPr>
          <p:nvPr/>
        </p:nvSpPr>
        <p:spPr>
          <a:xfrm xmlns:a="http://schemas.openxmlformats.org/drawingml/2006/main">
            <a:off x="6229350" y="1733550"/>
            <a:ext cx="2562225" cy="1638300"/>
          </a:xfrm>
          <a:prstGeom xmlns:a="http://schemas.openxmlformats.org/drawingml/2006/main" prst="roundRect">
            <a:avLst>
              <a:gd name="adj" fmla="val 6977"/>
            </a:avLst>
          </a:prstGeom>
          <a:solidFill xmlns:a="http://schemas.openxmlformats.org/drawingml/2006/main">
            <a:srgbClr val="122536"/>
          </a:solidFill>
          <a:ln xmlns:a="http://schemas.openxmlformats.org/drawingml/2006/main" w="9525">
            <a:solidFill>
              <a:srgbClr val="2A4052"/>
            </a:solidFill>
            <a:prstDash val="solid"/>
          </a:ln>
        </p:spPr>
      </p:sp>
      <p:sp>
        <p:nvSpPr>
          <p:cNvPr id="13" name="shape-256">
            <a:extLst xmlns:a="http://schemas.openxmlformats.org/drawingml/2006/main">
              <a:ext uri="{FF2B5EF4-FFF2-40B4-BE49-F238E27FC236}">
                <a16:creationId xmlns:a16="http://schemas.microsoft.com/office/drawing/2014/main" id="{D5178512-0F14-4918-BAF3-2915B23A4486}"/>
              </a:ext>
            </a:extLst>
          </p:cNvPr>
          <p:cNvSpPr>
            <a:spLocks xmlns:a="http://schemas.openxmlformats.org/drawingml/2006/main" noGrp="1"/>
          </p:cNvSpPr>
          <p:nvPr/>
        </p:nvSpPr>
        <p:spPr>
          <a:xfrm xmlns:a="http://schemas.openxmlformats.org/drawingml/2006/main">
            <a:off x="6448425" y="2076450"/>
            <a:ext cx="21240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FFBF69"/>
                </a:solidFill>
                <a:latin typeface="Liberation Sans"/>
                <a:ea typeface="Liberation Sans"/>
                <a:cs typeface="Liberation Sans"/>
              </a:defRPr>
            </a:defPPr>
          </a:lstStyle>
          <a:p xmlns:a="http://schemas.openxmlformats.org/drawingml/2006/main">
            <a:pPr algn="l">
              <a:defRPr sz="3600" b="1">
                <a:solidFill>
                  <a:srgbClr val="FFBF69"/>
                </a:solidFill>
                <a:latin typeface="Liberation Sans"/>
                <a:ea typeface="Liberation Sans"/>
                <a:cs typeface="Liberation Sans"/>
              </a:defRPr>
            </a:pPr>
            <a:r>
              <a:rPr sz="3600" b="1">
                <a:solidFill>
                  <a:srgbClr val="FFBF69"/>
                </a:solidFill>
                <a:latin typeface="Liberation Sans"/>
                <a:ea typeface="Liberation Sans"/>
                <a:cs typeface="Liberation Sans"/>
              </a:rPr>
              <a:t>75.82%</a:t>
            </a:r>
          </a:p>
        </p:txBody>
      </p:sp>
      <p:sp>
        <p:nvSpPr>
          <p:cNvPr id="14" name="shape-257">
            <a:extLst xmlns:a="http://schemas.openxmlformats.org/drawingml/2006/main">
              <a:ext uri="{FF2B5EF4-FFF2-40B4-BE49-F238E27FC236}">
                <a16:creationId xmlns:a16="http://schemas.microsoft.com/office/drawing/2014/main" id="{EFF5D648-08D9-412B-BB82-A3608AFA681A}"/>
              </a:ext>
            </a:extLst>
          </p:cNvPr>
          <p:cNvSpPr>
            <a:spLocks xmlns:a="http://schemas.openxmlformats.org/drawingml/2006/main" noGrp="1"/>
          </p:cNvSpPr>
          <p:nvPr/>
        </p:nvSpPr>
        <p:spPr>
          <a:xfrm xmlns:a="http://schemas.openxmlformats.org/drawingml/2006/main">
            <a:off x="6448425" y="2752725"/>
            <a:ext cx="21240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F3F7FB"/>
                </a:solidFill>
                <a:latin typeface="Liberation Sans"/>
                <a:ea typeface="Liberation Sans"/>
                <a:cs typeface="Liberation Sans"/>
              </a:defRPr>
            </a:defPPr>
          </a:lstStyle>
          <a:p xmlns:a="http://schemas.openxmlformats.org/drawingml/2006/main">
            <a:pPr algn="l">
              <a:defRPr sz="1650" b="0">
                <a:solidFill>
                  <a:srgbClr val="F3F7FB"/>
                </a:solidFill>
                <a:latin typeface="Liberation Sans"/>
                <a:ea typeface="Liberation Sans"/>
                <a:cs typeface="Liberation Sans"/>
              </a:defRPr>
            </a:pPr>
            <a:r>
              <a:rPr sz="1650" b="0">
                <a:solidFill>
                  <a:srgbClr val="F3F7FB"/>
                </a:solidFill>
                <a:latin typeface="Liberation Sans"/>
                <a:ea typeface="Liberation Sans"/>
                <a:cs typeface="Liberation Sans"/>
              </a:rPr>
              <a:t>SLA Compliance</a:t>
            </a:r>
          </a:p>
        </p:txBody>
      </p:sp>
      <p:sp>
        <p:nvSpPr>
          <p:cNvPr id="15" name="shape-258">
            <a:extLst xmlns:a="http://schemas.openxmlformats.org/drawingml/2006/main">
              <a:ext uri="{FF2B5EF4-FFF2-40B4-BE49-F238E27FC236}">
                <a16:creationId xmlns:a16="http://schemas.microsoft.com/office/drawing/2014/main" id="{CC8ABADB-1D34-478D-9245-6609A1291F50}"/>
              </a:ext>
            </a:extLst>
          </p:cNvPr>
          <p:cNvSpPr>
            <a:spLocks xmlns:a="http://schemas.openxmlformats.org/drawingml/2006/main" noGrp="1"/>
          </p:cNvSpPr>
          <p:nvPr/>
        </p:nvSpPr>
        <p:spPr>
          <a:xfrm xmlns:a="http://schemas.openxmlformats.org/drawingml/2006/main">
            <a:off x="9058275" y="1733550"/>
            <a:ext cx="2562225" cy="1638300"/>
          </a:xfrm>
          <a:prstGeom xmlns:a="http://schemas.openxmlformats.org/drawingml/2006/main" prst="roundRect">
            <a:avLst>
              <a:gd name="adj" fmla="val 6977"/>
            </a:avLst>
          </a:prstGeom>
          <a:solidFill xmlns:a="http://schemas.openxmlformats.org/drawingml/2006/main">
            <a:srgbClr val="122536"/>
          </a:solidFill>
          <a:ln xmlns:a="http://schemas.openxmlformats.org/drawingml/2006/main" w="9525">
            <a:solidFill>
              <a:srgbClr val="2A4052"/>
            </a:solidFill>
            <a:prstDash val="solid"/>
          </a:ln>
        </p:spPr>
      </p:sp>
      <p:sp>
        <p:nvSpPr>
          <p:cNvPr id="16" name="shape-259">
            <a:extLst xmlns:a="http://schemas.openxmlformats.org/drawingml/2006/main">
              <a:ext uri="{FF2B5EF4-FFF2-40B4-BE49-F238E27FC236}">
                <a16:creationId xmlns:a16="http://schemas.microsoft.com/office/drawing/2014/main" id="{C8EB8B94-6C05-4A0F-9DD2-E51C5D2BFBC2}"/>
              </a:ext>
            </a:extLst>
          </p:cNvPr>
          <p:cNvSpPr>
            <a:spLocks xmlns:a="http://schemas.openxmlformats.org/drawingml/2006/main" noGrp="1"/>
          </p:cNvSpPr>
          <p:nvPr/>
        </p:nvSpPr>
        <p:spPr>
          <a:xfrm xmlns:a="http://schemas.openxmlformats.org/drawingml/2006/main">
            <a:off x="9277350" y="2076450"/>
            <a:ext cx="21240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72ACFF"/>
                </a:solidFill>
                <a:latin typeface="Liberation Sans"/>
                <a:ea typeface="Liberation Sans"/>
                <a:cs typeface="Liberation Sans"/>
              </a:defRPr>
            </a:defPPr>
          </a:lstStyle>
          <a:p xmlns:a="http://schemas.openxmlformats.org/drawingml/2006/main">
            <a:pPr algn="l">
              <a:defRPr sz="3600" b="1">
                <a:solidFill>
                  <a:srgbClr val="72ACFF"/>
                </a:solidFill>
                <a:latin typeface="Liberation Sans"/>
                <a:ea typeface="Liberation Sans"/>
                <a:cs typeface="Liberation Sans"/>
              </a:defRPr>
            </a:pPr>
            <a:r>
              <a:rPr sz="3600" b="1">
                <a:solidFill>
                  <a:srgbClr val="72ACFF"/>
                </a:solidFill>
                <a:latin typeface="Liberation Sans"/>
                <a:ea typeface="Liberation Sans"/>
                <a:cs typeface="Liberation Sans"/>
              </a:rPr>
              <a:t>44.15 hrs</a:t>
            </a:r>
          </a:p>
        </p:txBody>
      </p:sp>
      <p:sp>
        <p:nvSpPr>
          <p:cNvPr id="17" name="shape-260">
            <a:extLst xmlns:a="http://schemas.openxmlformats.org/drawingml/2006/main">
              <a:ext uri="{FF2B5EF4-FFF2-40B4-BE49-F238E27FC236}">
                <a16:creationId xmlns:a16="http://schemas.microsoft.com/office/drawing/2014/main" id="{D819F854-61EE-4B00-AC6C-A4FA19B0E2A2}"/>
              </a:ext>
            </a:extLst>
          </p:cNvPr>
          <p:cNvSpPr>
            <a:spLocks xmlns:a="http://schemas.openxmlformats.org/drawingml/2006/main" noGrp="1"/>
          </p:cNvSpPr>
          <p:nvPr/>
        </p:nvSpPr>
        <p:spPr>
          <a:xfrm xmlns:a="http://schemas.openxmlformats.org/drawingml/2006/main">
            <a:off x="9277350" y="2752725"/>
            <a:ext cx="21240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F3F7FB"/>
                </a:solidFill>
                <a:latin typeface="Liberation Sans"/>
                <a:ea typeface="Liberation Sans"/>
                <a:cs typeface="Liberation Sans"/>
              </a:defRPr>
            </a:defPPr>
          </a:lstStyle>
          <a:p xmlns:a="http://schemas.openxmlformats.org/drawingml/2006/main">
            <a:pPr algn="l">
              <a:defRPr sz="1650" b="0">
                <a:solidFill>
                  <a:srgbClr val="F3F7FB"/>
                </a:solidFill>
                <a:latin typeface="Liberation Sans"/>
                <a:ea typeface="Liberation Sans"/>
                <a:cs typeface="Liberation Sans"/>
              </a:defRPr>
            </a:pPr>
            <a:r>
              <a:rPr sz="1650" b="0">
                <a:solidFill>
                  <a:srgbClr val="F3F7FB"/>
                </a:solidFill>
                <a:latin typeface="Liberation Sans"/>
                <a:ea typeface="Liberation Sans"/>
                <a:cs typeface="Liberation Sans"/>
              </a:rPr>
              <a:t>Average Delivery TAT</a:t>
            </a:r>
          </a:p>
        </p:txBody>
      </p:sp>
      <p:sp>
        <p:nvSpPr>
          <p:cNvPr id="18" name="shape-261">
            <a:extLst xmlns:a="http://schemas.openxmlformats.org/drawingml/2006/main">
              <a:ext uri="{FF2B5EF4-FFF2-40B4-BE49-F238E27FC236}">
                <a16:creationId xmlns:a16="http://schemas.microsoft.com/office/drawing/2014/main" id="{9811693C-E869-4450-BA30-7640CAC4CADE}"/>
              </a:ext>
            </a:extLst>
          </p:cNvPr>
          <p:cNvSpPr>
            <a:spLocks xmlns:a="http://schemas.openxmlformats.org/drawingml/2006/main" noGrp="1"/>
          </p:cNvSpPr>
          <p:nvPr/>
        </p:nvSpPr>
        <p:spPr>
          <a:xfrm xmlns:a="http://schemas.openxmlformats.org/drawingml/2006/main">
            <a:off x="571500" y="3790950"/>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F3F7FB"/>
                </a:solidFill>
                <a:latin typeface="Liberation Sans"/>
                <a:ea typeface="Liberation Sans"/>
                <a:cs typeface="Liberation Sans"/>
              </a:defRPr>
            </a:defPPr>
          </a:lstStyle>
          <a:p xmlns:a="http://schemas.openxmlformats.org/drawingml/2006/main">
            <a:pPr algn="l">
              <a:defRPr sz="2250" b="1">
                <a:solidFill>
                  <a:srgbClr val="F3F7FB"/>
                </a:solidFill>
                <a:latin typeface="Liberation Sans"/>
                <a:ea typeface="Liberation Sans"/>
                <a:cs typeface="Liberation Sans"/>
              </a:defRPr>
            </a:pPr>
            <a:r>
              <a:rPr sz="2250" b="1">
                <a:solidFill>
                  <a:srgbClr val="F3F7FB"/>
                </a:solidFill>
                <a:latin typeface="Liberation Sans"/>
                <a:ea typeface="Liberation Sans"/>
                <a:cs typeface="Liberation Sans"/>
              </a:rPr>
              <a:t>Executive dashboard coverage</a:t>
            </a:r>
          </a:p>
        </p:txBody>
      </p:sp>
      <p:sp>
        <p:nvSpPr>
          <p:cNvPr id="19" name="shape-262">
            <a:extLst xmlns:a="http://schemas.openxmlformats.org/drawingml/2006/main">
              <a:ext uri="{FF2B5EF4-FFF2-40B4-BE49-F238E27FC236}">
                <a16:creationId xmlns:a16="http://schemas.microsoft.com/office/drawing/2014/main" id="{7E0015B5-C8C4-4518-8E45-87EC67C11B63}"/>
              </a:ext>
            </a:extLst>
          </p:cNvPr>
          <p:cNvSpPr>
            <a:spLocks xmlns:a="http://schemas.openxmlformats.org/drawingml/2006/main" noGrp="1"/>
          </p:cNvSpPr>
          <p:nvPr/>
        </p:nvSpPr>
        <p:spPr>
          <a:xfrm xmlns:a="http://schemas.openxmlformats.org/drawingml/2006/main">
            <a:off x="571500" y="4267200"/>
            <a:ext cx="2562225" cy="1466850"/>
          </a:xfrm>
          <a:prstGeom xmlns:a="http://schemas.openxmlformats.org/drawingml/2006/main" prst="roundRect">
            <a:avLst>
              <a:gd name="adj" fmla="val 7792"/>
            </a:avLst>
          </a:prstGeom>
          <a:solidFill xmlns:a="http://schemas.openxmlformats.org/drawingml/2006/main">
            <a:srgbClr val="122536"/>
          </a:solidFill>
          <a:ln xmlns:a="http://schemas.openxmlformats.org/drawingml/2006/main" w="9525">
            <a:solidFill>
              <a:srgbClr val="2A4052"/>
            </a:solidFill>
            <a:prstDash val="solid"/>
          </a:ln>
        </p:spPr>
      </p:sp>
      <p:sp>
        <p:nvSpPr>
          <p:cNvPr id="20" name="shape-263">
            <a:extLst xmlns:a="http://schemas.openxmlformats.org/drawingml/2006/main">
              <a:ext uri="{FF2B5EF4-FFF2-40B4-BE49-F238E27FC236}">
                <a16:creationId xmlns:a16="http://schemas.microsoft.com/office/drawing/2014/main" id="{D78DE720-A79C-4DE0-9FE8-58B40BD9BD1C}"/>
              </a:ext>
            </a:extLst>
          </p:cNvPr>
          <p:cNvSpPr>
            <a:spLocks xmlns:a="http://schemas.openxmlformats.org/drawingml/2006/main" noGrp="1"/>
          </p:cNvSpPr>
          <p:nvPr/>
        </p:nvSpPr>
        <p:spPr>
          <a:xfrm xmlns:a="http://schemas.openxmlformats.org/drawingml/2006/main">
            <a:off x="742950" y="4410075"/>
            <a:ext cx="22193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48DCE7"/>
                </a:solidFill>
                <a:latin typeface="Liberation Sans"/>
                <a:ea typeface="Liberation Sans"/>
                <a:cs typeface="Liberation Sans"/>
              </a:defRPr>
            </a:defPPr>
          </a:lstStyle>
          <a:p xmlns:a="http://schemas.openxmlformats.org/drawingml/2006/main">
            <a:pPr algn="l">
              <a:defRPr sz="1875" b="1">
                <a:solidFill>
                  <a:srgbClr val="48DCE7"/>
                </a:solidFill>
                <a:latin typeface="Liberation Sans"/>
                <a:ea typeface="Liberation Sans"/>
                <a:cs typeface="Liberation Sans"/>
              </a:defRPr>
            </a:pPr>
            <a:r>
              <a:rPr sz="1875" b="1">
                <a:solidFill>
                  <a:srgbClr val="48DCE7"/>
                </a:solidFill>
                <a:latin typeface="Liberation Sans"/>
                <a:ea typeface="Liberation Sans"/>
                <a:cs typeface="Liberation Sans"/>
              </a:rPr>
              <a:t>Quarterly</a:t>
            </a:r>
          </a:p>
          <a:p xmlns:a="http://schemas.openxmlformats.org/drawingml/2006/main">
            <a:pPr algn="l">
              <a:defRPr sz="1875" b="1">
                <a:solidFill>
                  <a:srgbClr val="48DCE7"/>
                </a:solidFill>
                <a:latin typeface="Liberation Sans"/>
                <a:ea typeface="Liberation Sans"/>
                <a:cs typeface="Liberation Sans"/>
              </a:defRPr>
            </a:pPr>
            <a:r>
              <a:rPr sz="1875" b="1">
                <a:solidFill>
                  <a:srgbClr val="48DCE7"/>
                </a:solidFill>
                <a:latin typeface="Liberation Sans"/>
                <a:ea typeface="Liberation Sans"/>
                <a:cs typeface="Liberation Sans"/>
              </a:rPr>
              <a:t>Order Volume</a:t>
            </a:r>
          </a:p>
        </p:txBody>
      </p:sp>
      <p:sp>
        <p:nvSpPr>
          <p:cNvPr id="21" name="shape-264">
            <a:extLst xmlns:a="http://schemas.openxmlformats.org/drawingml/2006/main">
              <a:ext uri="{FF2B5EF4-FFF2-40B4-BE49-F238E27FC236}">
                <a16:creationId xmlns:a16="http://schemas.microsoft.com/office/drawing/2014/main" id="{E326DF2E-E27E-4F23-B8E5-6DC78E65FA21}"/>
              </a:ext>
            </a:extLst>
          </p:cNvPr>
          <p:cNvSpPr>
            <a:spLocks xmlns:a="http://schemas.openxmlformats.org/drawingml/2006/main" noGrp="1"/>
          </p:cNvSpPr>
          <p:nvPr/>
        </p:nvSpPr>
        <p:spPr>
          <a:xfrm xmlns:a="http://schemas.openxmlformats.org/drawingml/2006/main">
            <a:off x="742950" y="5133975"/>
            <a:ext cx="2219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A9BBCB"/>
                </a:solidFill>
                <a:latin typeface="Liberation Sans"/>
                <a:ea typeface="Liberation Sans"/>
                <a:cs typeface="Liberation Sans"/>
              </a:defRPr>
            </a:defPPr>
          </a:lstStyle>
          <a:p xmlns:a="http://schemas.openxmlformats.org/drawingml/2006/main">
            <a:pPr algn="l">
              <a:defRPr sz="1500" b="0">
                <a:solidFill>
                  <a:srgbClr val="A9BBCB"/>
                </a:solidFill>
                <a:latin typeface="Liberation Sans"/>
                <a:ea typeface="Liberation Sans"/>
                <a:cs typeface="Liberation Sans"/>
              </a:defRPr>
            </a:pPr>
            <a:r>
              <a:rPr sz="1500" b="0">
                <a:solidFill>
                  <a:srgbClr val="A9BBCB"/>
                </a:solidFill>
                <a:latin typeface="Liberation Sans"/>
                <a:ea typeface="Liberation Sans"/>
                <a:cs typeface="Liberation Sans"/>
              </a:rPr>
              <a:t>Monitor demand over time</a:t>
            </a:r>
          </a:p>
        </p:txBody>
      </p:sp>
      <p:sp>
        <p:nvSpPr>
          <p:cNvPr id="22" name="shape-265">
            <a:extLst xmlns:a="http://schemas.openxmlformats.org/drawingml/2006/main">
              <a:ext uri="{FF2B5EF4-FFF2-40B4-BE49-F238E27FC236}">
                <a16:creationId xmlns:a16="http://schemas.microsoft.com/office/drawing/2014/main" id="{17D0619D-E04D-4199-A8D3-8AA39A766FAC}"/>
              </a:ext>
            </a:extLst>
          </p:cNvPr>
          <p:cNvSpPr>
            <a:spLocks xmlns:a="http://schemas.openxmlformats.org/drawingml/2006/main" noGrp="1"/>
          </p:cNvSpPr>
          <p:nvPr/>
        </p:nvSpPr>
        <p:spPr>
          <a:xfrm xmlns:a="http://schemas.openxmlformats.org/drawingml/2006/main">
            <a:off x="3400425" y="4267200"/>
            <a:ext cx="2562225" cy="1466850"/>
          </a:xfrm>
          <a:prstGeom xmlns:a="http://schemas.openxmlformats.org/drawingml/2006/main" prst="roundRect">
            <a:avLst>
              <a:gd name="adj" fmla="val 7792"/>
            </a:avLst>
          </a:prstGeom>
          <a:solidFill xmlns:a="http://schemas.openxmlformats.org/drawingml/2006/main">
            <a:srgbClr val="122536"/>
          </a:solidFill>
          <a:ln xmlns:a="http://schemas.openxmlformats.org/drawingml/2006/main" w="9525">
            <a:solidFill>
              <a:srgbClr val="2A4052"/>
            </a:solidFill>
            <a:prstDash val="solid"/>
          </a:ln>
        </p:spPr>
      </p:sp>
      <p:sp>
        <p:nvSpPr>
          <p:cNvPr id="23" name="shape-266">
            <a:extLst xmlns:a="http://schemas.openxmlformats.org/drawingml/2006/main">
              <a:ext uri="{FF2B5EF4-FFF2-40B4-BE49-F238E27FC236}">
                <a16:creationId xmlns:a16="http://schemas.microsoft.com/office/drawing/2014/main" id="{59C7AF9A-9B2B-4373-B16F-FB7FD004FDBF}"/>
              </a:ext>
            </a:extLst>
          </p:cNvPr>
          <p:cNvSpPr>
            <a:spLocks xmlns:a="http://schemas.openxmlformats.org/drawingml/2006/main" noGrp="1"/>
          </p:cNvSpPr>
          <p:nvPr/>
        </p:nvSpPr>
        <p:spPr>
          <a:xfrm xmlns:a="http://schemas.openxmlformats.org/drawingml/2006/main">
            <a:off x="3571875" y="4410075"/>
            <a:ext cx="22193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48DCE7"/>
                </a:solidFill>
                <a:latin typeface="Liberation Sans"/>
                <a:ea typeface="Liberation Sans"/>
                <a:cs typeface="Liberation Sans"/>
              </a:defRPr>
            </a:defPPr>
          </a:lstStyle>
          <a:p xmlns:a="http://schemas.openxmlformats.org/drawingml/2006/main">
            <a:pPr algn="l">
              <a:defRPr sz="1875" b="1">
                <a:solidFill>
                  <a:srgbClr val="48DCE7"/>
                </a:solidFill>
                <a:latin typeface="Liberation Sans"/>
                <a:ea typeface="Liberation Sans"/>
                <a:cs typeface="Liberation Sans"/>
              </a:defRPr>
            </a:pPr>
            <a:r>
              <a:rPr sz="1875" b="1">
                <a:solidFill>
                  <a:srgbClr val="48DCE7"/>
                </a:solidFill>
                <a:latin typeface="Liberation Sans"/>
                <a:ea typeface="Liberation Sans"/>
                <a:cs typeface="Liberation Sans"/>
              </a:rPr>
              <a:t>Order Status</a:t>
            </a:r>
          </a:p>
          <a:p xmlns:a="http://schemas.openxmlformats.org/drawingml/2006/main">
            <a:pPr algn="l">
              <a:defRPr sz="1875" b="1">
                <a:solidFill>
                  <a:srgbClr val="48DCE7"/>
                </a:solidFill>
                <a:latin typeface="Liberation Sans"/>
                <a:ea typeface="Liberation Sans"/>
                <a:cs typeface="Liberation Sans"/>
              </a:defRPr>
            </a:pPr>
            <a:r>
              <a:rPr sz="1875" b="1">
                <a:solidFill>
                  <a:srgbClr val="48DCE7"/>
                </a:solidFill>
                <a:latin typeface="Liberation Sans"/>
                <a:ea typeface="Liberation Sans"/>
                <a:cs typeface="Liberation Sans"/>
              </a:rPr>
              <a:t>Distribution</a:t>
            </a:r>
          </a:p>
        </p:txBody>
      </p:sp>
      <p:sp>
        <p:nvSpPr>
          <p:cNvPr id="24" name="shape-267">
            <a:extLst xmlns:a="http://schemas.openxmlformats.org/drawingml/2006/main">
              <a:ext uri="{FF2B5EF4-FFF2-40B4-BE49-F238E27FC236}">
                <a16:creationId xmlns:a16="http://schemas.microsoft.com/office/drawing/2014/main" id="{E802A977-F636-4AF1-8242-BEA9D791F009}"/>
              </a:ext>
            </a:extLst>
          </p:cNvPr>
          <p:cNvSpPr>
            <a:spLocks xmlns:a="http://schemas.openxmlformats.org/drawingml/2006/main" noGrp="1"/>
          </p:cNvSpPr>
          <p:nvPr/>
        </p:nvSpPr>
        <p:spPr>
          <a:xfrm xmlns:a="http://schemas.openxmlformats.org/drawingml/2006/main">
            <a:off x="3571875" y="5133975"/>
            <a:ext cx="2219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A9BBCB"/>
                </a:solidFill>
                <a:latin typeface="Liberation Sans"/>
                <a:ea typeface="Liberation Sans"/>
                <a:cs typeface="Liberation Sans"/>
              </a:defRPr>
            </a:defPPr>
          </a:lstStyle>
          <a:p xmlns:a="http://schemas.openxmlformats.org/drawingml/2006/main">
            <a:pPr algn="l">
              <a:defRPr sz="1500" b="0">
                <a:solidFill>
                  <a:srgbClr val="A9BBCB"/>
                </a:solidFill>
                <a:latin typeface="Liberation Sans"/>
                <a:ea typeface="Liberation Sans"/>
                <a:cs typeface="Liberation Sans"/>
              </a:defRPr>
            </a:pPr>
            <a:r>
              <a:rPr sz="1500" b="0">
                <a:solidFill>
                  <a:srgbClr val="A9BBCB"/>
                </a:solidFill>
                <a:latin typeface="Liberation Sans"/>
                <a:ea typeface="Liberation Sans"/>
                <a:cs typeface="Liberation Sans"/>
              </a:rPr>
              <a:t>Review delivery outcomes</a:t>
            </a:r>
          </a:p>
        </p:txBody>
      </p:sp>
      <p:sp>
        <p:nvSpPr>
          <p:cNvPr id="25" name="shape-268">
            <a:extLst xmlns:a="http://schemas.openxmlformats.org/drawingml/2006/main">
              <a:ext uri="{FF2B5EF4-FFF2-40B4-BE49-F238E27FC236}">
                <a16:creationId xmlns:a16="http://schemas.microsoft.com/office/drawing/2014/main" id="{33F08BD5-69C7-451A-8739-90C4EFB2EBA7}"/>
              </a:ext>
            </a:extLst>
          </p:cNvPr>
          <p:cNvSpPr>
            <a:spLocks xmlns:a="http://schemas.openxmlformats.org/drawingml/2006/main" noGrp="1"/>
          </p:cNvSpPr>
          <p:nvPr/>
        </p:nvSpPr>
        <p:spPr>
          <a:xfrm xmlns:a="http://schemas.openxmlformats.org/drawingml/2006/main">
            <a:off x="6229350" y="4267200"/>
            <a:ext cx="2562225" cy="1466850"/>
          </a:xfrm>
          <a:prstGeom xmlns:a="http://schemas.openxmlformats.org/drawingml/2006/main" prst="roundRect">
            <a:avLst>
              <a:gd name="adj" fmla="val 7792"/>
            </a:avLst>
          </a:prstGeom>
          <a:solidFill xmlns:a="http://schemas.openxmlformats.org/drawingml/2006/main">
            <a:srgbClr val="122536"/>
          </a:solidFill>
          <a:ln xmlns:a="http://schemas.openxmlformats.org/drawingml/2006/main" w="9525">
            <a:solidFill>
              <a:srgbClr val="2A4052"/>
            </a:solidFill>
            <a:prstDash val="solid"/>
          </a:ln>
        </p:spPr>
      </p:sp>
      <p:sp>
        <p:nvSpPr>
          <p:cNvPr id="26" name="shape-269">
            <a:extLst xmlns:a="http://schemas.openxmlformats.org/drawingml/2006/main">
              <a:ext uri="{FF2B5EF4-FFF2-40B4-BE49-F238E27FC236}">
                <a16:creationId xmlns:a16="http://schemas.microsoft.com/office/drawing/2014/main" id="{C81EBCDA-CF17-4C29-A28E-D6324AB7D5CB}"/>
              </a:ext>
            </a:extLst>
          </p:cNvPr>
          <p:cNvSpPr>
            <a:spLocks xmlns:a="http://schemas.openxmlformats.org/drawingml/2006/main" noGrp="1"/>
          </p:cNvSpPr>
          <p:nvPr/>
        </p:nvSpPr>
        <p:spPr>
          <a:xfrm xmlns:a="http://schemas.openxmlformats.org/drawingml/2006/main">
            <a:off x="6400800" y="4410075"/>
            <a:ext cx="22193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48DCE7"/>
                </a:solidFill>
                <a:latin typeface="Liberation Sans"/>
                <a:ea typeface="Liberation Sans"/>
                <a:cs typeface="Liberation Sans"/>
              </a:defRPr>
            </a:defPPr>
          </a:lstStyle>
          <a:p xmlns:a="http://schemas.openxmlformats.org/drawingml/2006/main">
            <a:pPr algn="l">
              <a:defRPr sz="1875" b="1">
                <a:solidFill>
                  <a:srgbClr val="48DCE7"/>
                </a:solidFill>
                <a:latin typeface="Liberation Sans"/>
                <a:ea typeface="Liberation Sans"/>
                <a:cs typeface="Liberation Sans"/>
              </a:defRPr>
            </a:pPr>
            <a:r>
              <a:rPr sz="1875" b="1">
                <a:solidFill>
                  <a:srgbClr val="48DCE7"/>
                </a:solidFill>
                <a:latin typeface="Liberation Sans"/>
                <a:ea typeface="Liberation Sans"/>
                <a:cs typeface="Liberation Sans"/>
              </a:rPr>
              <a:t>Delivery Success</a:t>
            </a:r>
          </a:p>
          <a:p xmlns:a="http://schemas.openxmlformats.org/drawingml/2006/main">
            <a:pPr algn="l">
              <a:defRPr sz="1875" b="1">
                <a:solidFill>
                  <a:srgbClr val="48DCE7"/>
                </a:solidFill>
                <a:latin typeface="Liberation Sans"/>
                <a:ea typeface="Liberation Sans"/>
                <a:cs typeface="Liberation Sans"/>
              </a:defRPr>
            </a:pPr>
            <a:r>
              <a:rPr sz="1875" b="1">
                <a:solidFill>
                  <a:srgbClr val="48DCE7"/>
                </a:solidFill>
                <a:latin typeface="Liberation Sans"/>
                <a:ea typeface="Liberation Sans"/>
                <a:cs typeface="Liberation Sans"/>
              </a:rPr>
              <a:t>Rate by Hub</a:t>
            </a:r>
          </a:p>
        </p:txBody>
      </p:sp>
      <p:sp>
        <p:nvSpPr>
          <p:cNvPr id="27" name="shape-270">
            <a:extLst xmlns:a="http://schemas.openxmlformats.org/drawingml/2006/main">
              <a:ext uri="{FF2B5EF4-FFF2-40B4-BE49-F238E27FC236}">
                <a16:creationId xmlns:a16="http://schemas.microsoft.com/office/drawing/2014/main" id="{61114566-9B1E-4B17-AF05-1A15BA4AB016}"/>
              </a:ext>
            </a:extLst>
          </p:cNvPr>
          <p:cNvSpPr>
            <a:spLocks xmlns:a="http://schemas.openxmlformats.org/drawingml/2006/main" noGrp="1"/>
          </p:cNvSpPr>
          <p:nvPr/>
        </p:nvSpPr>
        <p:spPr>
          <a:xfrm xmlns:a="http://schemas.openxmlformats.org/drawingml/2006/main">
            <a:off x="6400800" y="5133975"/>
            <a:ext cx="2219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A9BBCB"/>
                </a:solidFill>
                <a:latin typeface="Liberation Sans"/>
                <a:ea typeface="Liberation Sans"/>
                <a:cs typeface="Liberation Sans"/>
              </a:defRPr>
            </a:defPPr>
          </a:lstStyle>
          <a:p xmlns:a="http://schemas.openxmlformats.org/drawingml/2006/main">
            <a:pPr algn="l">
              <a:defRPr sz="1500" b="0">
                <a:solidFill>
                  <a:srgbClr val="A9BBCB"/>
                </a:solidFill>
                <a:latin typeface="Liberation Sans"/>
                <a:ea typeface="Liberation Sans"/>
                <a:cs typeface="Liberation Sans"/>
              </a:defRPr>
            </a:pPr>
            <a:r>
              <a:rPr sz="1500" b="0">
                <a:solidFill>
                  <a:srgbClr val="A9BBCB"/>
                </a:solidFill>
                <a:latin typeface="Liberation Sans"/>
                <a:ea typeface="Liberation Sans"/>
                <a:cs typeface="Liberation Sans"/>
              </a:rPr>
              <a:t>Compare facility performance</a:t>
            </a:r>
          </a:p>
        </p:txBody>
      </p:sp>
      <p:sp>
        <p:nvSpPr>
          <p:cNvPr id="28" name="shape-271">
            <a:extLst xmlns:a="http://schemas.openxmlformats.org/drawingml/2006/main">
              <a:ext uri="{FF2B5EF4-FFF2-40B4-BE49-F238E27FC236}">
                <a16:creationId xmlns:a16="http://schemas.microsoft.com/office/drawing/2014/main" id="{DEEE02D8-8BAB-4C97-A956-3F4F53A7442F}"/>
              </a:ext>
            </a:extLst>
          </p:cNvPr>
          <p:cNvSpPr>
            <a:spLocks xmlns:a="http://schemas.openxmlformats.org/drawingml/2006/main" noGrp="1"/>
          </p:cNvSpPr>
          <p:nvPr/>
        </p:nvSpPr>
        <p:spPr>
          <a:xfrm xmlns:a="http://schemas.openxmlformats.org/drawingml/2006/main">
            <a:off x="9058275" y="4267200"/>
            <a:ext cx="2562225" cy="1466850"/>
          </a:xfrm>
          <a:prstGeom xmlns:a="http://schemas.openxmlformats.org/drawingml/2006/main" prst="roundRect">
            <a:avLst>
              <a:gd name="adj" fmla="val 7792"/>
            </a:avLst>
          </a:prstGeom>
          <a:solidFill xmlns:a="http://schemas.openxmlformats.org/drawingml/2006/main">
            <a:srgbClr val="122536"/>
          </a:solidFill>
          <a:ln xmlns:a="http://schemas.openxmlformats.org/drawingml/2006/main" w="9525">
            <a:solidFill>
              <a:srgbClr val="2A4052"/>
            </a:solidFill>
            <a:prstDash val="solid"/>
          </a:ln>
        </p:spPr>
      </p:sp>
      <p:sp>
        <p:nvSpPr>
          <p:cNvPr id="29" name="shape-272">
            <a:extLst xmlns:a="http://schemas.openxmlformats.org/drawingml/2006/main">
              <a:ext uri="{FF2B5EF4-FFF2-40B4-BE49-F238E27FC236}">
                <a16:creationId xmlns:a16="http://schemas.microsoft.com/office/drawing/2014/main" id="{D2B656B8-D0AD-4A3F-8805-38AB9813412F}"/>
              </a:ext>
            </a:extLst>
          </p:cNvPr>
          <p:cNvSpPr>
            <a:spLocks xmlns:a="http://schemas.openxmlformats.org/drawingml/2006/main" noGrp="1"/>
          </p:cNvSpPr>
          <p:nvPr/>
        </p:nvSpPr>
        <p:spPr>
          <a:xfrm xmlns:a="http://schemas.openxmlformats.org/drawingml/2006/main">
            <a:off x="9229725" y="4410075"/>
            <a:ext cx="22193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48DCE7"/>
                </a:solidFill>
                <a:latin typeface="Liberation Sans"/>
                <a:ea typeface="Liberation Sans"/>
                <a:cs typeface="Liberation Sans"/>
              </a:defRPr>
            </a:defPPr>
          </a:lstStyle>
          <a:p xmlns:a="http://schemas.openxmlformats.org/drawingml/2006/main">
            <a:pPr algn="l">
              <a:defRPr sz="1875" b="1">
                <a:solidFill>
                  <a:srgbClr val="48DCE7"/>
                </a:solidFill>
                <a:latin typeface="Liberation Sans"/>
                <a:ea typeface="Liberation Sans"/>
                <a:cs typeface="Liberation Sans"/>
              </a:defRPr>
            </a:pPr>
            <a:r>
              <a:rPr sz="1875" b="1">
                <a:solidFill>
                  <a:srgbClr val="48DCE7"/>
                </a:solidFill>
                <a:latin typeface="Liberation Sans"/>
                <a:ea typeface="Liberation Sans"/>
                <a:cs typeface="Liberation Sans"/>
              </a:rPr>
              <a:t>Top Courier</a:t>
            </a:r>
          </a:p>
          <a:p xmlns:a="http://schemas.openxmlformats.org/drawingml/2006/main">
            <a:pPr algn="l">
              <a:defRPr sz="1875" b="1">
                <a:solidFill>
                  <a:srgbClr val="48DCE7"/>
                </a:solidFill>
                <a:latin typeface="Liberation Sans"/>
                <a:ea typeface="Liberation Sans"/>
                <a:cs typeface="Liberation Sans"/>
              </a:defRPr>
            </a:pPr>
            <a:r>
              <a:rPr sz="1875" b="1">
                <a:solidFill>
                  <a:srgbClr val="48DCE7"/>
                </a:solidFill>
                <a:latin typeface="Liberation Sans"/>
                <a:ea typeface="Liberation Sans"/>
                <a:cs typeface="Liberation Sans"/>
              </a:rPr>
              <a:t>Performance</a:t>
            </a:r>
          </a:p>
        </p:txBody>
      </p:sp>
      <p:sp>
        <p:nvSpPr>
          <p:cNvPr id="30" name="shape-273">
            <a:extLst xmlns:a="http://schemas.openxmlformats.org/drawingml/2006/main">
              <a:ext uri="{FF2B5EF4-FFF2-40B4-BE49-F238E27FC236}">
                <a16:creationId xmlns:a16="http://schemas.microsoft.com/office/drawing/2014/main" id="{89591555-F059-4CE1-AF70-C76C8F2D36D8}"/>
              </a:ext>
            </a:extLst>
          </p:cNvPr>
          <p:cNvSpPr>
            <a:spLocks xmlns:a="http://schemas.openxmlformats.org/drawingml/2006/main" noGrp="1"/>
          </p:cNvSpPr>
          <p:nvPr/>
        </p:nvSpPr>
        <p:spPr>
          <a:xfrm xmlns:a="http://schemas.openxmlformats.org/drawingml/2006/main">
            <a:off x="9229725" y="5133975"/>
            <a:ext cx="2219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A9BBCB"/>
                </a:solidFill>
                <a:latin typeface="Liberation Sans"/>
                <a:ea typeface="Liberation Sans"/>
                <a:cs typeface="Liberation Sans"/>
              </a:defRPr>
            </a:defPPr>
          </a:lstStyle>
          <a:p xmlns:a="http://schemas.openxmlformats.org/drawingml/2006/main">
            <a:pPr algn="l">
              <a:defRPr sz="1500" b="0">
                <a:solidFill>
                  <a:srgbClr val="A9BBCB"/>
                </a:solidFill>
                <a:latin typeface="Liberation Sans"/>
                <a:ea typeface="Liberation Sans"/>
                <a:cs typeface="Liberation Sans"/>
              </a:defRPr>
            </a:pPr>
            <a:r>
              <a:rPr sz="1500" b="0">
                <a:solidFill>
                  <a:srgbClr val="A9BBCB"/>
                </a:solidFill>
                <a:latin typeface="Liberation Sans"/>
                <a:ea typeface="Liberation Sans"/>
                <a:cs typeface="Liberation Sans"/>
              </a:rPr>
              <a:t>Review courier performance</a:t>
            </a:r>
          </a:p>
        </p:txBody>
      </p:sp>
      <p:sp>
        <p:nvSpPr>
          <p:cNvPr id="31" name="shape-274">
            <a:extLst xmlns:a="http://schemas.openxmlformats.org/drawingml/2006/main">
              <a:ext uri="{FF2B5EF4-FFF2-40B4-BE49-F238E27FC236}">
                <a16:creationId xmlns:a16="http://schemas.microsoft.com/office/drawing/2014/main" id="{CD4C203C-71FA-4B46-AAFD-429185800862}"/>
              </a:ext>
            </a:extLst>
          </p:cNvPr>
          <p:cNvSpPr>
            <a:spLocks xmlns:a="http://schemas.openxmlformats.org/drawingml/2006/main" noGrp="1"/>
          </p:cNvSpPr>
          <p:nvPr/>
        </p:nvSpPr>
        <p:spPr>
          <a:xfrm xmlns:a="http://schemas.openxmlformats.org/drawingml/2006/main">
            <a:off x="571500" y="5876925"/>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F3F7FB"/>
                </a:solidFill>
                <a:latin typeface="Liberation Sans"/>
                <a:ea typeface="Liberation Sans"/>
                <a:cs typeface="Liberation Sans"/>
              </a:defRPr>
            </a:defPPr>
          </a:lstStyle>
          <a:p xmlns:a="http://schemas.openxmlformats.org/drawingml/2006/main">
            <a:pPr algn="l">
              <a:defRPr sz="1425" b="0">
                <a:solidFill>
                  <a:srgbClr val="F3F7FB"/>
                </a:solidFill>
                <a:latin typeface="Liberation Sans"/>
                <a:ea typeface="Liberation Sans"/>
                <a:cs typeface="Liberation Sans"/>
              </a:defRPr>
            </a:pPr>
            <a:r>
              <a:rPr sz="1425" b="0">
                <a:solidFill>
                  <a:srgbClr val="F3F7FB"/>
                </a:solidFill>
                <a:latin typeface="Liberation Sans"/>
                <a:ea typeface="Liberation Sans"/>
                <a:cs typeface="Liberation Sans"/>
              </a:rPr>
              <a:t>PostgreSQL analytics tables/views supply the single-page Power BI dashboard.</a:t>
            </a:r>
          </a:p>
        </p:txBody>
      </p:sp>
    </p:spTree>
    <p:extLst>
      <p:ext uri="{BB962C8B-B14F-4D97-AF65-F5344CB8AC3E}">
        <p14:creationId xmlns:p14="http://schemas.microsoft.com/office/powerpoint/2010/main" val="322740099"/>
      </p:ext>
    </p:extLst>
  </p:cSld>
</p:sld>
</file>

<file path=ppt/slides/slide10.xml><?xml version="1.0" encoding="utf-8"?>
<p:sld xmlns:p="http://schemas.openxmlformats.org/presentationml/2006/main">
  <p:cSld>
    <p:bg>
      <p:bgPr>
        <a:solidFill xmlns:a="http://schemas.openxmlformats.org/drawingml/2006/main">
          <a:srgbClr val="091522"/>
        </a:solidFill>
      </p:bgPr>
    </p:bg>
    <p:spTree>
      <p:nvGrpSpPr>
        <p:cNvPr id="1" name=""/>
        <p:cNvGrpSpPr/>
        <p:nvPr/>
      </p:nvGrpSpPr>
      <p:grpSpPr>
        <a:xfrm xmlns:a="http://schemas.openxmlformats.org/drawingml/2006/main"/>
      </p:grpSpPr>
      <p:sp>
        <p:nvSpPr>
          <p:cNvPr id="23" name="shape-275">
            <a:extLst xmlns:a="http://schemas.openxmlformats.org/drawingml/2006/main">
              <a:ext uri="{FF2B5EF4-FFF2-40B4-BE49-F238E27FC236}">
                <a16:creationId xmlns:a16="http://schemas.microsoft.com/office/drawing/2014/main" id="{8D70D522-708A-4D99-9D40-DED29FDD1B9B}"/>
              </a:ext>
            </a:extLst>
          </p:cNvPr>
          <p:cNvSpPr>
            <a:spLocks xmlns:a="http://schemas.openxmlformats.org/drawingml/2006/main" noGrp="1"/>
          </p:cNvSpPr>
          <p:nvPr/>
        </p:nvSpPr>
        <p:spPr>
          <a:xfrm xmlns:a="http://schemas.openxmlformats.org/drawingml/2006/main">
            <a:off x="571500" y="333375"/>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48DCE7"/>
                </a:solidFill>
                <a:latin typeface="Liberation Sans"/>
                <a:ea typeface="Liberation Sans"/>
                <a:cs typeface="Liberation Sans"/>
              </a:defRPr>
            </a:defPPr>
          </a:lstStyle>
          <a:p xmlns:a="http://schemas.openxmlformats.org/drawingml/2006/main">
            <a:pPr algn="l">
              <a:defRPr sz="1125" b="1">
                <a:solidFill>
                  <a:srgbClr val="48DCE7"/>
                </a:solidFill>
                <a:latin typeface="Liberation Sans"/>
                <a:ea typeface="Liberation Sans"/>
                <a:cs typeface="Liberation Sans"/>
              </a:defRPr>
            </a:pPr>
            <a:r>
              <a:rPr sz="1125" b="1">
                <a:solidFill>
                  <a:srgbClr val="48DCE7"/>
                </a:solidFill>
                <a:latin typeface="Liberation Sans"/>
                <a:ea typeface="Liberation Sans"/>
                <a:cs typeface="Liberation Sans"/>
              </a:rPr>
              <a:t>FINDINGS</a:t>
            </a:r>
          </a:p>
        </p:txBody>
      </p:sp>
      <p:sp>
        <p:nvSpPr>
          <p:cNvPr id="2" name="shape-276">
            <a:extLst xmlns:a="http://schemas.openxmlformats.org/drawingml/2006/main">
              <a:ext uri="{FF2B5EF4-FFF2-40B4-BE49-F238E27FC236}">
                <a16:creationId xmlns:a16="http://schemas.microsoft.com/office/drawing/2014/main" id="{46BFE255-30B7-4BE6-B501-650199D03578}"/>
              </a:ext>
            </a:extLst>
          </p:cNvPr>
          <p:cNvSpPr>
            <a:spLocks xmlns:a="http://schemas.openxmlformats.org/drawingml/2006/main" noGrp="1"/>
          </p:cNvSpPr>
          <p:nvPr/>
        </p:nvSpPr>
        <p:spPr>
          <a:xfrm xmlns:a="http://schemas.openxmlformats.org/drawingml/2006/main">
            <a:off x="571500" y="704850"/>
            <a:ext cx="110490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3F7FB"/>
                </a:solidFill>
                <a:latin typeface="Liberation Sans"/>
                <a:ea typeface="Liberation Sans"/>
                <a:cs typeface="Liberation Sans"/>
              </a:defRPr>
            </a:defPPr>
          </a:lstStyle>
          <a:p xmlns:a="http://schemas.openxmlformats.org/drawingml/2006/main">
            <a:pPr algn="l">
              <a:defRPr sz="3225" b="1">
                <a:solidFill>
                  <a:srgbClr val="F3F7FB"/>
                </a:solidFill>
                <a:latin typeface="Liberation Sans"/>
                <a:ea typeface="Liberation Sans"/>
                <a:cs typeface="Liberation Sans"/>
              </a:defRPr>
            </a:pPr>
            <a:r>
              <a:rPr sz="3225" b="1">
                <a:solidFill>
                  <a:srgbClr val="F3F7FB"/>
                </a:solidFill>
                <a:latin typeface="Liberation Sans"/>
                <a:ea typeface="Liberation Sans"/>
                <a:cs typeface="Liberation Sans"/>
              </a:rPr>
              <a:t>Operational Insights</a:t>
            </a:r>
          </a:p>
        </p:txBody>
      </p:sp>
      <p:sp>
        <p:nvSpPr>
          <p:cNvPr id="3" name="line-277">
            <a:extLst xmlns:a="http://schemas.openxmlformats.org/drawingml/2006/main">
              <a:ext uri="{FF2B5EF4-FFF2-40B4-BE49-F238E27FC236}">
                <a16:creationId xmlns:a16="http://schemas.microsoft.com/office/drawing/2014/main" id="{9CCE0867-ACAC-4E72-8B13-CE18600F7FA0}"/>
              </a:ext>
            </a:extLst>
          </p:cNvPr>
          <p:cNvSpPr>
            <a:spLocks xmlns:a="http://schemas.openxmlformats.org/drawingml/2006/main" noGrp="1"/>
          </p:cNvSpPr>
          <p:nvPr/>
        </p:nvSpPr>
        <p:spPr>
          <a:xfrm xmlns:a="http://schemas.openxmlformats.org/drawingml/2006/main">
            <a:off x="571500" y="6353175"/>
            <a:ext cx="11049000"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4" name="shape-278">
            <a:extLst xmlns:a="http://schemas.openxmlformats.org/drawingml/2006/main">
              <a:ext uri="{FF2B5EF4-FFF2-40B4-BE49-F238E27FC236}">
                <a16:creationId xmlns:a16="http://schemas.microsoft.com/office/drawing/2014/main" id="{004E52B5-F4BD-4C3E-870F-EA21A2671297}"/>
              </a:ext>
            </a:extLst>
          </p:cNvPr>
          <p:cNvSpPr>
            <a:spLocks xmlns:a="http://schemas.openxmlformats.org/drawingml/2006/main" noGrp="1"/>
          </p:cNvSpPr>
          <p:nvPr/>
        </p:nvSpPr>
        <p:spPr>
          <a:xfrm xmlns:a="http://schemas.openxmlformats.org/drawingml/2006/main">
            <a:off x="5715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A9BBCB"/>
                </a:solidFill>
                <a:latin typeface="Liberation Sans"/>
                <a:ea typeface="Liberation Sans"/>
                <a:cs typeface="Liberation Sans"/>
              </a:defRPr>
            </a:defPPr>
          </a:lstStyle>
          <a:p xmlns:a="http://schemas.openxmlformats.org/drawingml/2006/main">
            <a:pPr algn="l">
              <a:defRPr sz="900" b="0">
                <a:solidFill>
                  <a:srgbClr val="A9BBCB"/>
                </a:solidFill>
                <a:latin typeface="Liberation Sans"/>
                <a:ea typeface="Liberation Sans"/>
                <a:cs typeface="Liberation Sans"/>
              </a:defRPr>
            </a:pPr>
            <a:r>
              <a:rPr sz="900" b="0">
                <a:solidFill>
                  <a:srgbClr val="A9BBCB"/>
                </a:solidFill>
                <a:latin typeface="Liberation Sans"/>
                <a:ea typeface="Liberation Sans"/>
                <a:cs typeface="Liberation Sans"/>
              </a:rPr>
              <a:t>SYNTHETIC DATA · PORTFOLIO PROJECT</a:t>
            </a:r>
          </a:p>
        </p:txBody>
      </p:sp>
      <p:sp>
        <p:nvSpPr>
          <p:cNvPr id="5" name="shape-279">
            <a:extLst xmlns:a="http://schemas.openxmlformats.org/drawingml/2006/main">
              <a:ext uri="{FF2B5EF4-FFF2-40B4-BE49-F238E27FC236}">
                <a16:creationId xmlns:a16="http://schemas.microsoft.com/office/drawing/2014/main" id="{84D60796-71F5-4B2A-A512-AC7DE9EE99D6}"/>
              </a:ext>
            </a:extLst>
          </p:cNvPr>
          <p:cNvSpPr>
            <a:spLocks xmlns:a="http://schemas.openxmlformats.org/drawingml/2006/main" noGrp="1"/>
          </p:cNvSpPr>
          <p:nvPr/>
        </p:nvSpPr>
        <p:spPr>
          <a:xfrm xmlns:a="http://schemas.openxmlformats.org/drawingml/2006/main">
            <a:off x="11144250" y="646747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9BBCB"/>
                </a:solidFill>
                <a:latin typeface="Liberation Sans"/>
                <a:ea typeface="Liberation Sans"/>
                <a:cs typeface="Liberation Sans"/>
              </a:defRPr>
            </a:defPPr>
          </a:lstStyle>
          <a:p xmlns:a="http://schemas.openxmlformats.org/drawingml/2006/main">
            <a:pPr algn="r">
              <a:defRPr sz="1275" b="0">
                <a:solidFill>
                  <a:srgbClr val="A9BBCB"/>
                </a:solidFill>
                <a:latin typeface="Liberation Sans"/>
                <a:ea typeface="Liberation Sans"/>
                <a:cs typeface="Liberation Sans"/>
              </a:defRPr>
            </a:pPr>
            <a:r>
              <a:rPr sz="1275" b="0">
                <a:solidFill>
                  <a:srgbClr val="A9BBCB"/>
                </a:solidFill>
                <a:latin typeface="Liberation Sans"/>
                <a:ea typeface="Liberation Sans"/>
                <a:cs typeface="Liberation Sans"/>
              </a:rPr>
              <a:t>10</a:t>
            </a:r>
          </a:p>
        </p:txBody>
      </p:sp>
      <p:sp>
        <p:nvSpPr>
          <p:cNvPr id="6" name="shape-280">
            <a:extLst xmlns:a="http://schemas.openxmlformats.org/drawingml/2006/main">
              <a:ext uri="{FF2B5EF4-FFF2-40B4-BE49-F238E27FC236}">
                <a16:creationId xmlns:a16="http://schemas.microsoft.com/office/drawing/2014/main" id="{83AAA9D4-B8D1-4EED-801B-7A776B3182F9}"/>
              </a:ext>
            </a:extLst>
          </p:cNvPr>
          <p:cNvSpPr>
            <a:spLocks xmlns:a="http://schemas.openxmlformats.org/drawingml/2006/main" noGrp="1"/>
          </p:cNvSpPr>
          <p:nvPr/>
        </p:nvSpPr>
        <p:spPr>
          <a:xfrm xmlns:a="http://schemas.openxmlformats.org/drawingml/2006/main">
            <a:off x="571500" y="1743075"/>
            <a:ext cx="5391150" cy="1809750"/>
          </a:xfrm>
          <a:prstGeom xmlns:a="http://schemas.openxmlformats.org/drawingml/2006/main" prst="roundRect">
            <a:avLst>
              <a:gd name="adj" fmla="val 6316"/>
            </a:avLst>
          </a:prstGeom>
          <a:solidFill xmlns:a="http://schemas.openxmlformats.org/drawingml/2006/main">
            <a:srgbClr val="122536"/>
          </a:solidFill>
          <a:ln xmlns:a="http://schemas.openxmlformats.org/drawingml/2006/main" w="9525">
            <a:solidFill>
              <a:srgbClr val="2A4052"/>
            </a:solidFill>
            <a:prstDash val="solid"/>
          </a:ln>
        </p:spPr>
      </p:sp>
      <p:sp>
        <p:nvSpPr>
          <p:cNvPr id="7" name="shape-281">
            <a:extLst xmlns:a="http://schemas.openxmlformats.org/drawingml/2006/main">
              <a:ext uri="{FF2B5EF4-FFF2-40B4-BE49-F238E27FC236}">
                <a16:creationId xmlns:a16="http://schemas.microsoft.com/office/drawing/2014/main" id="{623984F9-485B-40DC-923D-E3225B89AEE9}"/>
              </a:ext>
            </a:extLst>
          </p:cNvPr>
          <p:cNvSpPr>
            <a:spLocks xmlns:a="http://schemas.openxmlformats.org/drawingml/2006/main" noGrp="1"/>
          </p:cNvSpPr>
          <p:nvPr/>
        </p:nvSpPr>
        <p:spPr>
          <a:xfrm xmlns:a="http://schemas.openxmlformats.org/drawingml/2006/main">
            <a:off x="790575" y="1895475"/>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F3F7FB"/>
                </a:solidFill>
                <a:latin typeface="Liberation Sans"/>
                <a:ea typeface="Liberation Sans"/>
                <a:cs typeface="Liberation Sans"/>
              </a:defRPr>
            </a:defPPr>
          </a:lstStyle>
          <a:p xmlns:a="http://schemas.openxmlformats.org/drawingml/2006/main">
            <a:pPr algn="l">
              <a:defRPr sz="1875" b="1">
                <a:solidFill>
                  <a:srgbClr val="F3F7FB"/>
                </a:solidFill>
                <a:latin typeface="Liberation Sans"/>
                <a:ea typeface="Liberation Sans"/>
                <a:cs typeface="Liberation Sans"/>
              </a:defRPr>
            </a:pPr>
            <a:r>
              <a:rPr sz="1875" b="1">
                <a:solidFill>
                  <a:srgbClr val="F3F7FB"/>
                </a:solidFill>
                <a:latin typeface="Liberation Sans"/>
                <a:ea typeface="Liberation Sans"/>
                <a:cs typeface="Liberation Sans"/>
              </a:rPr>
              <a:t>Delivery Success</a:t>
            </a:r>
          </a:p>
        </p:txBody>
      </p:sp>
      <p:sp>
        <p:nvSpPr>
          <p:cNvPr id="8" name="shape-282">
            <a:extLst xmlns:a="http://schemas.openxmlformats.org/drawingml/2006/main">
              <a:ext uri="{FF2B5EF4-FFF2-40B4-BE49-F238E27FC236}">
                <a16:creationId xmlns:a16="http://schemas.microsoft.com/office/drawing/2014/main" id="{EA147379-B669-4D25-A58C-36B3DA8155E3}"/>
              </a:ext>
            </a:extLst>
          </p:cNvPr>
          <p:cNvSpPr>
            <a:spLocks xmlns:a="http://schemas.openxmlformats.org/drawingml/2006/main" noGrp="1"/>
          </p:cNvSpPr>
          <p:nvPr/>
        </p:nvSpPr>
        <p:spPr>
          <a:xfrm xmlns:a="http://schemas.openxmlformats.org/drawingml/2006/main">
            <a:off x="790575" y="2286000"/>
            <a:ext cx="4953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a:solidFill>
                  <a:srgbClr val="39DBB0"/>
                </a:solidFill>
                <a:latin typeface="Liberation Sans"/>
                <a:ea typeface="Liberation Sans"/>
                <a:cs typeface="Liberation Sans"/>
              </a:defRPr>
            </a:defPPr>
          </a:lstStyle>
          <a:p xmlns:a="http://schemas.openxmlformats.org/drawingml/2006/main">
            <a:pPr algn="l">
              <a:defRPr sz="3150" b="1">
                <a:solidFill>
                  <a:srgbClr val="39DBB0"/>
                </a:solidFill>
                <a:latin typeface="Liberation Sans"/>
                <a:ea typeface="Liberation Sans"/>
                <a:cs typeface="Liberation Sans"/>
              </a:defRPr>
            </a:pPr>
            <a:r>
              <a:rPr sz="3150" b="1">
                <a:solidFill>
                  <a:srgbClr val="39DBB0"/>
                </a:solidFill>
                <a:latin typeface="Liberation Sans"/>
                <a:ea typeface="Liberation Sans"/>
                <a:cs typeface="Liberation Sans"/>
              </a:rPr>
              <a:t>92.42%</a:t>
            </a:r>
          </a:p>
        </p:txBody>
      </p:sp>
      <p:sp>
        <p:nvSpPr>
          <p:cNvPr id="9" name="shape-283">
            <a:extLst xmlns:a="http://schemas.openxmlformats.org/drawingml/2006/main">
              <a:ext uri="{FF2B5EF4-FFF2-40B4-BE49-F238E27FC236}">
                <a16:creationId xmlns:a16="http://schemas.microsoft.com/office/drawing/2014/main" id="{047BE9CA-0C88-486B-8ED9-7C565258FAC8}"/>
              </a:ext>
            </a:extLst>
          </p:cNvPr>
          <p:cNvSpPr>
            <a:spLocks xmlns:a="http://schemas.openxmlformats.org/drawingml/2006/main" noGrp="1"/>
          </p:cNvSpPr>
          <p:nvPr/>
        </p:nvSpPr>
        <p:spPr>
          <a:xfrm xmlns:a="http://schemas.openxmlformats.org/drawingml/2006/main">
            <a:off x="790575" y="2876550"/>
            <a:ext cx="4953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A9BBCB"/>
                </a:solidFill>
                <a:latin typeface="Liberation Sans"/>
                <a:ea typeface="Liberation Sans"/>
                <a:cs typeface="Liberation Sans"/>
              </a:defRPr>
            </a:defPPr>
          </a:lstStyle>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The majority of eligible orders</a:t>
            </a:r>
          </a:p>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were successfully delivered.</a:t>
            </a:r>
          </a:p>
        </p:txBody>
      </p:sp>
      <p:sp>
        <p:nvSpPr>
          <p:cNvPr id="10" name="shape-284">
            <a:extLst xmlns:a="http://schemas.openxmlformats.org/drawingml/2006/main">
              <a:ext uri="{FF2B5EF4-FFF2-40B4-BE49-F238E27FC236}">
                <a16:creationId xmlns:a16="http://schemas.microsoft.com/office/drawing/2014/main" id="{CDBD70CB-D2C6-4B44-972B-46C8E2F448F6}"/>
              </a:ext>
            </a:extLst>
          </p:cNvPr>
          <p:cNvSpPr>
            <a:spLocks xmlns:a="http://schemas.openxmlformats.org/drawingml/2006/main" noGrp="1"/>
          </p:cNvSpPr>
          <p:nvPr/>
        </p:nvSpPr>
        <p:spPr>
          <a:xfrm xmlns:a="http://schemas.openxmlformats.org/drawingml/2006/main">
            <a:off x="6229350" y="1743075"/>
            <a:ext cx="5391150" cy="1809750"/>
          </a:xfrm>
          <a:prstGeom xmlns:a="http://schemas.openxmlformats.org/drawingml/2006/main" prst="roundRect">
            <a:avLst>
              <a:gd name="adj" fmla="val 6316"/>
            </a:avLst>
          </a:prstGeom>
          <a:solidFill xmlns:a="http://schemas.openxmlformats.org/drawingml/2006/main">
            <a:srgbClr val="122536"/>
          </a:solidFill>
          <a:ln xmlns:a="http://schemas.openxmlformats.org/drawingml/2006/main" w="9525">
            <a:solidFill>
              <a:srgbClr val="2A4052"/>
            </a:solidFill>
            <a:prstDash val="solid"/>
          </a:ln>
        </p:spPr>
      </p:sp>
      <p:sp>
        <p:nvSpPr>
          <p:cNvPr id="11" name="shape-285">
            <a:extLst xmlns:a="http://schemas.openxmlformats.org/drawingml/2006/main">
              <a:ext uri="{FF2B5EF4-FFF2-40B4-BE49-F238E27FC236}">
                <a16:creationId xmlns:a16="http://schemas.microsoft.com/office/drawing/2014/main" id="{9EDE82D6-AE29-4268-894D-9EEC9460627C}"/>
              </a:ext>
            </a:extLst>
          </p:cNvPr>
          <p:cNvSpPr>
            <a:spLocks xmlns:a="http://schemas.openxmlformats.org/drawingml/2006/main" noGrp="1"/>
          </p:cNvSpPr>
          <p:nvPr/>
        </p:nvSpPr>
        <p:spPr>
          <a:xfrm xmlns:a="http://schemas.openxmlformats.org/drawingml/2006/main">
            <a:off x="6448425" y="1895475"/>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F3F7FB"/>
                </a:solidFill>
                <a:latin typeface="Liberation Sans"/>
                <a:ea typeface="Liberation Sans"/>
                <a:cs typeface="Liberation Sans"/>
              </a:defRPr>
            </a:defPPr>
          </a:lstStyle>
          <a:p xmlns:a="http://schemas.openxmlformats.org/drawingml/2006/main">
            <a:pPr algn="l">
              <a:defRPr sz="1875" b="1">
                <a:solidFill>
                  <a:srgbClr val="F3F7FB"/>
                </a:solidFill>
                <a:latin typeface="Liberation Sans"/>
                <a:ea typeface="Liberation Sans"/>
                <a:cs typeface="Liberation Sans"/>
              </a:defRPr>
            </a:pPr>
            <a:r>
              <a:rPr sz="1875" b="1">
                <a:solidFill>
                  <a:srgbClr val="F3F7FB"/>
                </a:solidFill>
                <a:latin typeface="Liberation Sans"/>
                <a:ea typeface="Liberation Sans"/>
                <a:cs typeface="Liberation Sans"/>
              </a:rPr>
              <a:t>SLA Performance</a:t>
            </a:r>
          </a:p>
        </p:txBody>
      </p:sp>
      <p:sp>
        <p:nvSpPr>
          <p:cNvPr id="12" name="shape-286">
            <a:extLst xmlns:a="http://schemas.openxmlformats.org/drawingml/2006/main">
              <a:ext uri="{FF2B5EF4-FFF2-40B4-BE49-F238E27FC236}">
                <a16:creationId xmlns:a16="http://schemas.microsoft.com/office/drawing/2014/main" id="{1DAC4B93-EEE7-4E83-880E-BA7920301A49}"/>
              </a:ext>
            </a:extLst>
          </p:cNvPr>
          <p:cNvSpPr>
            <a:spLocks xmlns:a="http://schemas.openxmlformats.org/drawingml/2006/main" noGrp="1"/>
          </p:cNvSpPr>
          <p:nvPr/>
        </p:nvSpPr>
        <p:spPr>
          <a:xfrm xmlns:a="http://schemas.openxmlformats.org/drawingml/2006/main">
            <a:off x="6448425" y="2286000"/>
            <a:ext cx="4953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a:solidFill>
                  <a:srgbClr val="FFBF69"/>
                </a:solidFill>
                <a:latin typeface="Liberation Sans"/>
                <a:ea typeface="Liberation Sans"/>
                <a:cs typeface="Liberation Sans"/>
              </a:defRPr>
            </a:defPPr>
          </a:lstStyle>
          <a:p xmlns:a="http://schemas.openxmlformats.org/drawingml/2006/main">
            <a:pPr algn="l">
              <a:defRPr sz="3150" b="1">
                <a:solidFill>
                  <a:srgbClr val="FFBF69"/>
                </a:solidFill>
                <a:latin typeface="Liberation Sans"/>
                <a:ea typeface="Liberation Sans"/>
                <a:cs typeface="Liberation Sans"/>
              </a:defRPr>
            </a:pPr>
            <a:r>
              <a:rPr sz="3150" b="1">
                <a:solidFill>
                  <a:srgbClr val="FFBF69"/>
                </a:solidFill>
                <a:latin typeface="Liberation Sans"/>
                <a:ea typeface="Liberation Sans"/>
                <a:cs typeface="Liberation Sans"/>
              </a:rPr>
              <a:t>75.82%</a:t>
            </a:r>
          </a:p>
        </p:txBody>
      </p:sp>
      <p:sp>
        <p:nvSpPr>
          <p:cNvPr id="13" name="shape-287">
            <a:extLst xmlns:a="http://schemas.openxmlformats.org/drawingml/2006/main">
              <a:ext uri="{FF2B5EF4-FFF2-40B4-BE49-F238E27FC236}">
                <a16:creationId xmlns:a16="http://schemas.microsoft.com/office/drawing/2014/main" id="{238206A1-CDBE-48FA-89C9-F1DE383A3C2B}"/>
              </a:ext>
            </a:extLst>
          </p:cNvPr>
          <p:cNvSpPr>
            <a:spLocks xmlns:a="http://schemas.openxmlformats.org/drawingml/2006/main" noGrp="1"/>
          </p:cNvSpPr>
          <p:nvPr/>
        </p:nvSpPr>
        <p:spPr>
          <a:xfrm xmlns:a="http://schemas.openxmlformats.org/drawingml/2006/main">
            <a:off x="6448425" y="2876550"/>
            <a:ext cx="4953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A9BBCB"/>
                </a:solidFill>
                <a:latin typeface="Liberation Sans"/>
                <a:ea typeface="Liberation Sans"/>
                <a:cs typeface="Liberation Sans"/>
              </a:defRPr>
            </a:defPPr>
          </a:lstStyle>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Timeliness remains an area</a:t>
            </a:r>
          </a:p>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for further investigation.</a:t>
            </a:r>
          </a:p>
        </p:txBody>
      </p:sp>
      <p:sp>
        <p:nvSpPr>
          <p:cNvPr id="14" name="shape-288">
            <a:extLst xmlns:a="http://schemas.openxmlformats.org/drawingml/2006/main">
              <a:ext uri="{FF2B5EF4-FFF2-40B4-BE49-F238E27FC236}">
                <a16:creationId xmlns:a16="http://schemas.microsoft.com/office/drawing/2014/main" id="{455C4FA2-8BBE-4A4A-8068-5FF59039C9DD}"/>
              </a:ext>
            </a:extLst>
          </p:cNvPr>
          <p:cNvSpPr>
            <a:spLocks xmlns:a="http://schemas.openxmlformats.org/drawingml/2006/main" noGrp="1"/>
          </p:cNvSpPr>
          <p:nvPr/>
        </p:nvSpPr>
        <p:spPr>
          <a:xfrm xmlns:a="http://schemas.openxmlformats.org/drawingml/2006/main">
            <a:off x="571500" y="3771900"/>
            <a:ext cx="5391150" cy="1809750"/>
          </a:xfrm>
          <a:prstGeom xmlns:a="http://schemas.openxmlformats.org/drawingml/2006/main" prst="roundRect">
            <a:avLst>
              <a:gd name="adj" fmla="val 6316"/>
            </a:avLst>
          </a:prstGeom>
          <a:solidFill xmlns:a="http://schemas.openxmlformats.org/drawingml/2006/main">
            <a:srgbClr val="122536"/>
          </a:solidFill>
          <a:ln xmlns:a="http://schemas.openxmlformats.org/drawingml/2006/main" w="9525">
            <a:solidFill>
              <a:srgbClr val="2A4052"/>
            </a:solidFill>
            <a:prstDash val="solid"/>
          </a:ln>
        </p:spPr>
      </p:sp>
      <p:sp>
        <p:nvSpPr>
          <p:cNvPr id="15" name="shape-289">
            <a:extLst xmlns:a="http://schemas.openxmlformats.org/drawingml/2006/main">
              <a:ext uri="{FF2B5EF4-FFF2-40B4-BE49-F238E27FC236}">
                <a16:creationId xmlns:a16="http://schemas.microsoft.com/office/drawing/2014/main" id="{E1AE1D38-2E65-447E-BA5F-09FFBF433A95}"/>
              </a:ext>
            </a:extLst>
          </p:cNvPr>
          <p:cNvSpPr>
            <a:spLocks xmlns:a="http://schemas.openxmlformats.org/drawingml/2006/main" noGrp="1"/>
          </p:cNvSpPr>
          <p:nvPr/>
        </p:nvSpPr>
        <p:spPr>
          <a:xfrm xmlns:a="http://schemas.openxmlformats.org/drawingml/2006/main">
            <a:off x="790575" y="392430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F3F7FB"/>
                </a:solidFill>
                <a:latin typeface="Liberation Sans"/>
                <a:ea typeface="Liberation Sans"/>
                <a:cs typeface="Liberation Sans"/>
              </a:defRPr>
            </a:defPPr>
          </a:lstStyle>
          <a:p xmlns:a="http://schemas.openxmlformats.org/drawingml/2006/main">
            <a:pPr algn="l">
              <a:defRPr sz="1875" b="1">
                <a:solidFill>
                  <a:srgbClr val="F3F7FB"/>
                </a:solidFill>
                <a:latin typeface="Liberation Sans"/>
                <a:ea typeface="Liberation Sans"/>
                <a:cs typeface="Liberation Sans"/>
              </a:defRPr>
            </a:pPr>
            <a:r>
              <a:rPr sz="1875" b="1">
                <a:solidFill>
                  <a:srgbClr val="F3F7FB"/>
                </a:solidFill>
                <a:latin typeface="Liberation Sans"/>
                <a:ea typeface="Liberation Sans"/>
                <a:cs typeface="Liberation Sans"/>
              </a:rPr>
              <a:t>Delivery Speed</a:t>
            </a:r>
          </a:p>
        </p:txBody>
      </p:sp>
      <p:sp>
        <p:nvSpPr>
          <p:cNvPr id="16" name="shape-290">
            <a:extLst xmlns:a="http://schemas.openxmlformats.org/drawingml/2006/main">
              <a:ext uri="{FF2B5EF4-FFF2-40B4-BE49-F238E27FC236}">
                <a16:creationId xmlns:a16="http://schemas.microsoft.com/office/drawing/2014/main" id="{DE79C77E-51B1-4987-9245-19E58F08697A}"/>
              </a:ext>
            </a:extLst>
          </p:cNvPr>
          <p:cNvSpPr>
            <a:spLocks xmlns:a="http://schemas.openxmlformats.org/drawingml/2006/main" noGrp="1"/>
          </p:cNvSpPr>
          <p:nvPr/>
        </p:nvSpPr>
        <p:spPr>
          <a:xfrm xmlns:a="http://schemas.openxmlformats.org/drawingml/2006/main">
            <a:off x="790575" y="4314825"/>
            <a:ext cx="4953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a:solidFill>
                  <a:srgbClr val="72ACFF"/>
                </a:solidFill>
                <a:latin typeface="Liberation Sans"/>
                <a:ea typeface="Liberation Sans"/>
                <a:cs typeface="Liberation Sans"/>
              </a:defRPr>
            </a:defPPr>
          </a:lstStyle>
          <a:p xmlns:a="http://schemas.openxmlformats.org/drawingml/2006/main">
            <a:pPr algn="l">
              <a:defRPr sz="3150" b="1">
                <a:solidFill>
                  <a:srgbClr val="72ACFF"/>
                </a:solidFill>
                <a:latin typeface="Liberation Sans"/>
                <a:ea typeface="Liberation Sans"/>
                <a:cs typeface="Liberation Sans"/>
              </a:defRPr>
            </a:pPr>
            <a:r>
              <a:rPr sz="3150" b="1">
                <a:solidFill>
                  <a:srgbClr val="72ACFF"/>
                </a:solidFill>
                <a:latin typeface="Liberation Sans"/>
                <a:ea typeface="Liberation Sans"/>
                <a:cs typeface="Liberation Sans"/>
              </a:rPr>
              <a:t>44.15 hrs</a:t>
            </a:r>
          </a:p>
        </p:txBody>
      </p:sp>
      <p:sp>
        <p:nvSpPr>
          <p:cNvPr id="17" name="shape-291">
            <a:extLst xmlns:a="http://schemas.openxmlformats.org/drawingml/2006/main">
              <a:ext uri="{FF2B5EF4-FFF2-40B4-BE49-F238E27FC236}">
                <a16:creationId xmlns:a16="http://schemas.microsoft.com/office/drawing/2014/main" id="{198E48BE-C677-4A30-A0A9-211DA5DD0C89}"/>
              </a:ext>
            </a:extLst>
          </p:cNvPr>
          <p:cNvSpPr>
            <a:spLocks xmlns:a="http://schemas.openxmlformats.org/drawingml/2006/main" noGrp="1"/>
          </p:cNvSpPr>
          <p:nvPr/>
        </p:nvSpPr>
        <p:spPr>
          <a:xfrm xmlns:a="http://schemas.openxmlformats.org/drawingml/2006/main">
            <a:off x="790575" y="4905375"/>
            <a:ext cx="4953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A9BBCB"/>
                </a:solidFill>
                <a:latin typeface="Liberation Sans"/>
                <a:ea typeface="Liberation Sans"/>
                <a:cs typeface="Liberation Sans"/>
              </a:defRPr>
            </a:defPPr>
          </a:lstStyle>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Average Delivery TAT</a:t>
            </a:r>
          </a:p>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across the modeled population.</a:t>
            </a:r>
          </a:p>
        </p:txBody>
      </p:sp>
      <p:sp>
        <p:nvSpPr>
          <p:cNvPr id="18" name="shape-292">
            <a:extLst xmlns:a="http://schemas.openxmlformats.org/drawingml/2006/main">
              <a:ext uri="{FF2B5EF4-FFF2-40B4-BE49-F238E27FC236}">
                <a16:creationId xmlns:a16="http://schemas.microsoft.com/office/drawing/2014/main" id="{E3FEB1C3-98FB-411E-B069-B00603359F5D}"/>
              </a:ext>
            </a:extLst>
          </p:cNvPr>
          <p:cNvSpPr>
            <a:spLocks xmlns:a="http://schemas.openxmlformats.org/drawingml/2006/main" noGrp="1"/>
          </p:cNvSpPr>
          <p:nvPr/>
        </p:nvSpPr>
        <p:spPr>
          <a:xfrm xmlns:a="http://schemas.openxmlformats.org/drawingml/2006/main">
            <a:off x="6229350" y="3771900"/>
            <a:ext cx="5391150" cy="1809750"/>
          </a:xfrm>
          <a:prstGeom xmlns:a="http://schemas.openxmlformats.org/drawingml/2006/main" prst="roundRect">
            <a:avLst>
              <a:gd name="adj" fmla="val 6316"/>
            </a:avLst>
          </a:prstGeom>
          <a:solidFill xmlns:a="http://schemas.openxmlformats.org/drawingml/2006/main">
            <a:srgbClr val="122536"/>
          </a:solidFill>
          <a:ln xmlns:a="http://schemas.openxmlformats.org/drawingml/2006/main" w="9525">
            <a:solidFill>
              <a:srgbClr val="2A4052"/>
            </a:solidFill>
            <a:prstDash val="solid"/>
          </a:ln>
        </p:spPr>
      </p:sp>
      <p:sp>
        <p:nvSpPr>
          <p:cNvPr id="19" name="shape-293">
            <a:extLst xmlns:a="http://schemas.openxmlformats.org/drawingml/2006/main">
              <a:ext uri="{FF2B5EF4-FFF2-40B4-BE49-F238E27FC236}">
                <a16:creationId xmlns:a16="http://schemas.microsoft.com/office/drawing/2014/main" id="{D28FB61D-43D5-48D7-A51D-9A4FFCD13C46}"/>
              </a:ext>
            </a:extLst>
          </p:cNvPr>
          <p:cNvSpPr>
            <a:spLocks xmlns:a="http://schemas.openxmlformats.org/drawingml/2006/main" noGrp="1"/>
          </p:cNvSpPr>
          <p:nvPr/>
        </p:nvSpPr>
        <p:spPr>
          <a:xfrm xmlns:a="http://schemas.openxmlformats.org/drawingml/2006/main">
            <a:off x="6448425" y="392430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F3F7FB"/>
                </a:solidFill>
                <a:latin typeface="Liberation Sans"/>
                <a:ea typeface="Liberation Sans"/>
                <a:cs typeface="Liberation Sans"/>
              </a:defRPr>
            </a:defPPr>
          </a:lstStyle>
          <a:p xmlns:a="http://schemas.openxmlformats.org/drawingml/2006/main">
            <a:pPr algn="l">
              <a:defRPr sz="1875" b="1">
                <a:solidFill>
                  <a:srgbClr val="F3F7FB"/>
                </a:solidFill>
                <a:latin typeface="Liberation Sans"/>
                <a:ea typeface="Liberation Sans"/>
                <a:cs typeface="Liberation Sans"/>
              </a:defRPr>
            </a:pPr>
            <a:r>
              <a:rPr sz="1875" b="1">
                <a:solidFill>
                  <a:srgbClr val="F3F7FB"/>
                </a:solidFill>
                <a:latin typeface="Liberation Sans"/>
                <a:ea typeface="Liberation Sans"/>
                <a:cs typeface="Liberation Sans"/>
              </a:rPr>
              <a:t>Order Outcomes</a:t>
            </a:r>
          </a:p>
        </p:txBody>
      </p:sp>
      <p:sp>
        <p:nvSpPr>
          <p:cNvPr id="20" name="shape-294">
            <a:extLst xmlns:a="http://schemas.openxmlformats.org/drawingml/2006/main">
              <a:ext uri="{FF2B5EF4-FFF2-40B4-BE49-F238E27FC236}">
                <a16:creationId xmlns:a16="http://schemas.microsoft.com/office/drawing/2014/main" id="{1DCE0531-1924-4982-B132-C396C11BD56B}"/>
              </a:ext>
            </a:extLst>
          </p:cNvPr>
          <p:cNvSpPr>
            <a:spLocks xmlns:a="http://schemas.openxmlformats.org/drawingml/2006/main" noGrp="1"/>
          </p:cNvSpPr>
          <p:nvPr/>
        </p:nvSpPr>
        <p:spPr>
          <a:xfrm xmlns:a="http://schemas.openxmlformats.org/drawingml/2006/main">
            <a:off x="6448425" y="4314825"/>
            <a:ext cx="4953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48DCE7"/>
                </a:solidFill>
                <a:latin typeface="Liberation Sans"/>
                <a:ea typeface="Liberation Sans"/>
                <a:cs typeface="Liberation Sans"/>
              </a:defRPr>
            </a:defPPr>
          </a:lstStyle>
          <a:p xmlns:a="http://schemas.openxmlformats.org/drawingml/2006/main">
            <a:pPr algn="l">
              <a:defRPr sz="2550" b="1">
                <a:solidFill>
                  <a:srgbClr val="48DCE7"/>
                </a:solidFill>
                <a:latin typeface="Liberation Sans"/>
                <a:ea typeface="Liberation Sans"/>
                <a:cs typeface="Liberation Sans"/>
              </a:defRPr>
            </a:pPr>
            <a:r>
              <a:rPr sz="2550" b="1">
                <a:solidFill>
                  <a:srgbClr val="48DCE7"/>
                </a:solidFill>
                <a:latin typeface="Liberation Sans"/>
                <a:ea typeface="Liberation Sans"/>
                <a:cs typeface="Liberation Sans"/>
              </a:rPr>
              <a:t>Delivered dominates</a:t>
            </a:r>
          </a:p>
        </p:txBody>
      </p:sp>
      <p:sp>
        <p:nvSpPr>
          <p:cNvPr id="21" name="shape-295">
            <a:extLst xmlns:a="http://schemas.openxmlformats.org/drawingml/2006/main">
              <a:ext uri="{FF2B5EF4-FFF2-40B4-BE49-F238E27FC236}">
                <a16:creationId xmlns:a16="http://schemas.microsoft.com/office/drawing/2014/main" id="{D7267B55-79A8-4AD7-AF00-49E49DD64945}"/>
              </a:ext>
            </a:extLst>
          </p:cNvPr>
          <p:cNvSpPr>
            <a:spLocks xmlns:a="http://schemas.openxmlformats.org/drawingml/2006/main" noGrp="1"/>
          </p:cNvSpPr>
          <p:nvPr/>
        </p:nvSpPr>
        <p:spPr>
          <a:xfrm xmlns:a="http://schemas.openxmlformats.org/drawingml/2006/main">
            <a:off x="6448425" y="4905375"/>
            <a:ext cx="4953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A9BBCB"/>
                </a:solidFill>
                <a:latin typeface="Liberation Sans"/>
                <a:ea typeface="Liberation Sans"/>
                <a:cs typeface="Liberation Sans"/>
              </a:defRPr>
            </a:defPPr>
          </a:lstStyle>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Smaller groups: returned, failed, cancelled,</a:t>
            </a:r>
          </a:p>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in transit or out for delivery.</a:t>
            </a:r>
          </a:p>
        </p:txBody>
      </p:sp>
      <p:sp>
        <p:nvSpPr>
          <p:cNvPr id="22" name="shape-296">
            <a:extLst xmlns:a="http://schemas.openxmlformats.org/drawingml/2006/main">
              <a:ext uri="{FF2B5EF4-FFF2-40B4-BE49-F238E27FC236}">
                <a16:creationId xmlns:a16="http://schemas.microsoft.com/office/drawing/2014/main" id="{1E751DBE-7E89-4A25-B620-CEE954DDC795}"/>
              </a:ext>
            </a:extLst>
          </p:cNvPr>
          <p:cNvSpPr>
            <a:spLocks xmlns:a="http://schemas.openxmlformats.org/drawingml/2006/main" noGrp="1"/>
          </p:cNvSpPr>
          <p:nvPr/>
        </p:nvSpPr>
        <p:spPr>
          <a:xfrm xmlns:a="http://schemas.openxmlformats.org/drawingml/2006/main">
            <a:off x="571500" y="5924550"/>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A9BBCB"/>
                </a:solidFill>
                <a:latin typeface="Liberation Sans"/>
                <a:ea typeface="Liberation Sans"/>
                <a:cs typeface="Liberation Sans"/>
              </a:defRPr>
            </a:defPPr>
          </a:lstStyle>
          <a:p xmlns:a="http://schemas.openxmlformats.org/drawingml/2006/main">
            <a:pPr algn="l">
              <a:defRPr sz="1425" b="0">
                <a:solidFill>
                  <a:srgbClr val="A9BBCB"/>
                </a:solidFill>
                <a:latin typeface="Liberation Sans"/>
                <a:ea typeface="Liberation Sans"/>
                <a:cs typeface="Liberation Sans"/>
              </a:defRPr>
            </a:pPr>
            <a:r>
              <a:rPr sz="1425" b="0">
                <a:solidFill>
                  <a:srgbClr val="A9BBCB"/>
                </a:solidFill>
                <a:latin typeface="Liberation Sans"/>
                <a:ea typeface="Liberation Sans"/>
                <a:cs typeface="Liberation Sans"/>
              </a:rPr>
              <a:t>Operational observations from synthetic data. KPI rates use project-defined eligible populations.</a:t>
            </a:r>
          </a:p>
        </p:txBody>
      </p:sp>
    </p:spTree>
    <p:extLst>
      <p:ext uri="{BB962C8B-B14F-4D97-AF65-F5344CB8AC3E}">
        <p14:creationId xmlns:p14="http://schemas.microsoft.com/office/powerpoint/2010/main" val="1199301980"/>
      </p:ext>
    </p:extLst>
  </p:cSld>
</p:sld>
</file>

<file path=ppt/slides/slide11.xml><?xml version="1.0" encoding="utf-8"?>
<p:sld xmlns:p="http://schemas.openxmlformats.org/presentationml/2006/main">
  <p:cSld>
    <p:bg>
      <p:bgPr>
        <a:solidFill xmlns:a="http://schemas.openxmlformats.org/drawingml/2006/main">
          <a:srgbClr val="091522"/>
        </a:solidFill>
      </p:bgPr>
    </p:bg>
    <p:spTree>
      <p:nvGrpSpPr>
        <p:cNvPr id="1" name=""/>
        <p:cNvGrpSpPr/>
        <p:nvPr/>
      </p:nvGrpSpPr>
      <p:grpSpPr>
        <a:xfrm xmlns:a="http://schemas.openxmlformats.org/drawingml/2006/main"/>
      </p:grpSpPr>
      <p:sp>
        <p:nvSpPr>
          <p:cNvPr id="8" name="shape-297">
            <a:extLst xmlns:a="http://schemas.openxmlformats.org/drawingml/2006/main">
              <a:ext uri="{FF2B5EF4-FFF2-40B4-BE49-F238E27FC236}">
                <a16:creationId xmlns:a16="http://schemas.microsoft.com/office/drawing/2014/main" id="{312F4EC6-6DF9-4D72-A5EC-18754B37C23A}"/>
              </a:ext>
            </a:extLst>
          </p:cNvPr>
          <p:cNvSpPr>
            <a:spLocks xmlns:a="http://schemas.openxmlformats.org/drawingml/2006/main" noGrp="1"/>
          </p:cNvSpPr>
          <p:nvPr/>
        </p:nvSpPr>
        <p:spPr>
          <a:xfrm xmlns:a="http://schemas.openxmlformats.org/drawingml/2006/main">
            <a:off x="571500" y="333375"/>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48DCE7"/>
                </a:solidFill>
                <a:latin typeface="Liberation Sans"/>
                <a:ea typeface="Liberation Sans"/>
                <a:cs typeface="Liberation Sans"/>
              </a:defRPr>
            </a:defPPr>
          </a:lstStyle>
          <a:p xmlns:a="http://schemas.openxmlformats.org/drawingml/2006/main">
            <a:pPr algn="l">
              <a:defRPr sz="1125" b="1">
                <a:solidFill>
                  <a:srgbClr val="48DCE7"/>
                </a:solidFill>
                <a:latin typeface="Liberation Sans"/>
                <a:ea typeface="Liberation Sans"/>
                <a:cs typeface="Liberation Sans"/>
              </a:defRPr>
            </a:pPr>
            <a:r>
              <a:rPr sz="1125" b="1">
                <a:solidFill>
                  <a:srgbClr val="48DCE7"/>
                </a:solidFill>
                <a:latin typeface="Liberation Sans"/>
                <a:ea typeface="Liberation Sans"/>
                <a:cs typeface="Liberation Sans"/>
              </a:rPr>
              <a:t>ENGINEERING RESILIENCE</a:t>
            </a:r>
          </a:p>
        </p:txBody>
      </p:sp>
      <p:sp>
        <p:nvSpPr>
          <p:cNvPr id="2" name="shape-298">
            <a:extLst xmlns:a="http://schemas.openxmlformats.org/drawingml/2006/main">
              <a:ext uri="{FF2B5EF4-FFF2-40B4-BE49-F238E27FC236}">
                <a16:creationId xmlns:a16="http://schemas.microsoft.com/office/drawing/2014/main" id="{E119B845-5229-400D-AB74-F1ABD213833B}"/>
              </a:ext>
            </a:extLst>
          </p:cNvPr>
          <p:cNvSpPr>
            <a:spLocks xmlns:a="http://schemas.openxmlformats.org/drawingml/2006/main" noGrp="1"/>
          </p:cNvSpPr>
          <p:nvPr/>
        </p:nvSpPr>
        <p:spPr>
          <a:xfrm xmlns:a="http://schemas.openxmlformats.org/drawingml/2006/main">
            <a:off x="571500" y="704850"/>
            <a:ext cx="110490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3F7FB"/>
                </a:solidFill>
                <a:latin typeface="Liberation Sans"/>
                <a:ea typeface="Liberation Sans"/>
                <a:cs typeface="Liberation Sans"/>
              </a:defRPr>
            </a:defPPr>
          </a:lstStyle>
          <a:p xmlns:a="http://schemas.openxmlformats.org/drawingml/2006/main">
            <a:pPr algn="l">
              <a:defRPr sz="3225" b="1">
                <a:solidFill>
                  <a:srgbClr val="F3F7FB"/>
                </a:solidFill>
                <a:latin typeface="Liberation Sans"/>
                <a:ea typeface="Liberation Sans"/>
                <a:cs typeface="Liberation Sans"/>
              </a:defRPr>
            </a:pPr>
            <a:r>
              <a:rPr sz="3225" b="1">
                <a:solidFill>
                  <a:srgbClr val="F3F7FB"/>
                </a:solidFill>
                <a:latin typeface="Liberation Sans"/>
                <a:ea typeface="Liberation Sans"/>
                <a:cs typeface="Liberation Sans"/>
              </a:rPr>
              <a:t>Key Engineering Challenges &amp; Resolutions</a:t>
            </a:r>
          </a:p>
        </p:txBody>
      </p:sp>
      <p:sp>
        <p:nvSpPr>
          <p:cNvPr id="3" name="line-299">
            <a:extLst xmlns:a="http://schemas.openxmlformats.org/drawingml/2006/main">
              <a:ext uri="{FF2B5EF4-FFF2-40B4-BE49-F238E27FC236}">
                <a16:creationId xmlns:a16="http://schemas.microsoft.com/office/drawing/2014/main" id="{A22C78EB-9685-461D-9F80-39F2CC0B4FA9}"/>
              </a:ext>
            </a:extLst>
          </p:cNvPr>
          <p:cNvSpPr>
            <a:spLocks xmlns:a="http://schemas.openxmlformats.org/drawingml/2006/main" noGrp="1"/>
          </p:cNvSpPr>
          <p:nvPr/>
        </p:nvSpPr>
        <p:spPr>
          <a:xfrm xmlns:a="http://schemas.openxmlformats.org/drawingml/2006/main">
            <a:off x="571500" y="6353175"/>
            <a:ext cx="11049000"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4" name="shape-300">
            <a:extLst xmlns:a="http://schemas.openxmlformats.org/drawingml/2006/main">
              <a:ext uri="{FF2B5EF4-FFF2-40B4-BE49-F238E27FC236}">
                <a16:creationId xmlns:a16="http://schemas.microsoft.com/office/drawing/2014/main" id="{E393F20D-CD6A-40FB-91D9-B9AF21655225}"/>
              </a:ext>
            </a:extLst>
          </p:cNvPr>
          <p:cNvSpPr>
            <a:spLocks xmlns:a="http://schemas.openxmlformats.org/drawingml/2006/main" noGrp="1"/>
          </p:cNvSpPr>
          <p:nvPr/>
        </p:nvSpPr>
        <p:spPr>
          <a:xfrm xmlns:a="http://schemas.openxmlformats.org/drawingml/2006/main">
            <a:off x="5715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A9BBCB"/>
                </a:solidFill>
                <a:latin typeface="Liberation Sans"/>
                <a:ea typeface="Liberation Sans"/>
                <a:cs typeface="Liberation Sans"/>
              </a:defRPr>
            </a:defPPr>
          </a:lstStyle>
          <a:p xmlns:a="http://schemas.openxmlformats.org/drawingml/2006/main">
            <a:pPr algn="l">
              <a:defRPr sz="900" b="0">
                <a:solidFill>
                  <a:srgbClr val="A9BBCB"/>
                </a:solidFill>
                <a:latin typeface="Liberation Sans"/>
                <a:ea typeface="Liberation Sans"/>
                <a:cs typeface="Liberation Sans"/>
              </a:defRPr>
            </a:pPr>
            <a:r>
              <a:rPr sz="900" b="0">
                <a:solidFill>
                  <a:srgbClr val="A9BBCB"/>
                </a:solidFill>
                <a:latin typeface="Liberation Sans"/>
                <a:ea typeface="Liberation Sans"/>
                <a:cs typeface="Liberation Sans"/>
              </a:rPr>
              <a:t>SYNTHETIC DATA · PORTFOLIO PROJECT</a:t>
            </a:r>
          </a:p>
        </p:txBody>
      </p:sp>
      <p:sp>
        <p:nvSpPr>
          <p:cNvPr id="5" name="shape-301">
            <a:extLst xmlns:a="http://schemas.openxmlformats.org/drawingml/2006/main">
              <a:ext uri="{FF2B5EF4-FFF2-40B4-BE49-F238E27FC236}">
                <a16:creationId xmlns:a16="http://schemas.microsoft.com/office/drawing/2014/main" id="{A8BBD44E-ACAF-41E6-BD53-524E9B2E5640}"/>
              </a:ext>
            </a:extLst>
          </p:cNvPr>
          <p:cNvSpPr>
            <a:spLocks xmlns:a="http://schemas.openxmlformats.org/drawingml/2006/main" noGrp="1"/>
          </p:cNvSpPr>
          <p:nvPr/>
        </p:nvSpPr>
        <p:spPr>
          <a:xfrm xmlns:a="http://schemas.openxmlformats.org/drawingml/2006/main">
            <a:off x="11144250" y="646747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9BBCB"/>
                </a:solidFill>
                <a:latin typeface="Liberation Sans"/>
                <a:ea typeface="Liberation Sans"/>
                <a:cs typeface="Liberation Sans"/>
              </a:defRPr>
            </a:defPPr>
          </a:lstStyle>
          <a:p xmlns:a="http://schemas.openxmlformats.org/drawingml/2006/main">
            <a:pPr algn="r">
              <a:defRPr sz="1275" b="0">
                <a:solidFill>
                  <a:srgbClr val="A9BBCB"/>
                </a:solidFill>
                <a:latin typeface="Liberation Sans"/>
                <a:ea typeface="Liberation Sans"/>
                <a:cs typeface="Liberation Sans"/>
              </a:defRPr>
            </a:pPr>
            <a:r>
              <a:rPr sz="1275" b="0">
                <a:solidFill>
                  <a:srgbClr val="A9BBCB"/>
                </a:solidFill>
                <a:latin typeface="Liberation Sans"/>
                <a:ea typeface="Liberation Sans"/>
                <a:cs typeface="Liberation Sans"/>
              </a:rPr>
              <a:t>11</a:t>
            </a:r>
          </a:p>
        </p:txBody>
      </p:sp>
      <p:graphicFrame>
        <p:nvGraphicFramePr>
          <p:cNvPr id="6" name="">
            <a:extLst xmlns:a="http://schemas.openxmlformats.org/drawingml/2006/main">
              <a:ext uri="{FF2B5EF4-FFF2-40B4-BE49-F238E27FC236}">
                <a16:creationId xmlns:a16="http://schemas.microsoft.com/office/drawing/2014/main" id="{E7062C65-FE9E-4033-8A11-F99833CC311A}"/>
              </a:ext>
            </a:extLst>
          </p:cNvPr>
          <p:cNvGraphicFramePr/>
          <p:nvPr/>
        </p:nvGraphicFramePr>
        <p:xfrm>
          <a:off xmlns:a="http://schemas.openxmlformats.org/drawingml/2006/main" x="571500" y="1685925"/>
          <a:ext xmlns:a="http://schemas.openxmlformats.org/drawingml/2006/main" cx="11049000" cy="4010025"/>
        </p:xfrm>
        <a:graphic xmlns:a="http://schemas.openxmlformats.org/drawingml/2006/main">
          <a:graphicData uri="http://schemas.openxmlformats.org/drawingml/2006/table">
            <a:tbl>
              <a:tblPr/>
              <a:tblGrid>
                <a:gridCol w="3476625"/>
                <a:gridCol w="7572375"/>
              </a:tblGrid>
              <a:tr h="466725">
                <a:tc>
                  <a:txBody>
                    <a:bodyPr wrap="square" lIns="171450" tIns="85725" rIns="142875" bIns="85725"/>
                    <a:lstStyle/>
                    <a:p>
                      <a:r>
                        <a:rPr sz="1800" b="1">
                          <a:solidFill>
                            <a:srgbClr val="48DCE7"/>
                          </a:solidFill>
                          <a:latin typeface="Liberation Sans"/>
                          <a:ea typeface="Liberation Sans"/>
                          <a:cs typeface="Liberation Sans"/>
                        </a:rPr>
                        <a:t>Challenge</a:t>
                      </a:r>
                    </a:p>
                  </a:txBody>
                  <a:tcPr marL="91440" marR="91440" marT="45720" marB="45720" anchor="ctr">
                    <a:lnL w="9525">
                      <a:solidFill>
                        <a:srgbClr val="2A4052"/>
                      </a:solidFill>
                      <a:prstDash val="solid"/>
                    </a:lnL>
                    <a:lnR w="9525">
                      <a:solidFill>
                        <a:srgbClr val="2A4052"/>
                      </a:solidFill>
                      <a:prstDash val="solid"/>
                    </a:lnR>
                    <a:lnT w="9525">
                      <a:solidFill>
                        <a:srgbClr val="2A4052"/>
                      </a:solidFill>
                      <a:prstDash val="solid"/>
                    </a:lnT>
                    <a:lnB w="9525">
                      <a:solidFill>
                        <a:srgbClr val="2A4052"/>
                      </a:solidFill>
                      <a:prstDash val="solid"/>
                    </a:lnB>
                    <a:solidFill>
                      <a:srgbClr val="1A3D4B"/>
                    </a:solidFill>
                  </a:tcPr>
                </a:tc>
                <a:tc>
                  <a:txBody>
                    <a:bodyPr wrap="square" lIns="171450" tIns="85725" rIns="142875" bIns="85725"/>
                    <a:lstStyle/>
                    <a:p>
                      <a:r>
                        <a:rPr sz="1800" b="1">
                          <a:solidFill>
                            <a:srgbClr val="48DCE7"/>
                          </a:solidFill>
                          <a:latin typeface="Liberation Sans"/>
                          <a:ea typeface="Liberation Sans"/>
                          <a:cs typeface="Liberation Sans"/>
                        </a:rPr>
                        <a:t>Resolution</a:t>
                      </a:r>
                    </a:p>
                  </a:txBody>
                  <a:tcPr marL="91440" marR="91440" marT="45720" marB="45720" anchor="ctr">
                    <a:lnR w="9525">
                      <a:solidFill>
                        <a:srgbClr val="2A4052"/>
                      </a:solidFill>
                      <a:prstDash val="solid"/>
                    </a:lnR>
                    <a:lnT w="9525">
                      <a:solidFill>
                        <a:srgbClr val="2A4052"/>
                      </a:solidFill>
                      <a:prstDash val="solid"/>
                    </a:lnT>
                    <a:lnB w="9525">
                      <a:solidFill>
                        <a:srgbClr val="2A4052"/>
                      </a:solidFill>
                      <a:prstDash val="solid"/>
                    </a:lnB>
                    <a:solidFill>
                      <a:srgbClr val="1A3D4B"/>
                    </a:solidFill>
                  </a:tcPr>
                </a:tc>
              </a:tr>
              <a:tr h="590550">
                <a:tc>
                  <a:txBody>
                    <a:bodyPr wrap="square" lIns="171450" tIns="85725" rIns="142875" bIns="85725"/>
                    <a:lstStyle/>
                    <a:p>
                      <a:r>
                        <a:rPr sz="1650" b="1">
                          <a:solidFill>
                            <a:srgbClr val="F3F7FB"/>
                          </a:solidFill>
                          <a:latin typeface="Liberation Sans"/>
                          <a:ea typeface="Liberation Sans"/>
                          <a:cs typeface="Liberation Sans"/>
                        </a:rPr>
                        <a:t>WSL environment instability</a:t>
                      </a:r>
                    </a:p>
                  </a:txBody>
                  <a:tcPr marL="91440" marR="91440" marT="45720" marB="45720" anchor="ctr">
                    <a:lnL w="9525">
                      <a:solidFill>
                        <a:srgbClr val="2A4052"/>
                      </a:solidFill>
                      <a:prstDash val="solid"/>
                    </a:lnL>
                    <a:lnR w="9525">
                      <a:solidFill>
                        <a:srgbClr val="2A4052"/>
                      </a:solidFill>
                      <a:prstDash val="solid"/>
                    </a:lnR>
                    <a:lnB w="9525">
                      <a:solidFill>
                        <a:srgbClr val="2A4052"/>
                      </a:solidFill>
                      <a:prstDash val="solid"/>
                    </a:lnB>
                    <a:solidFill>
                      <a:srgbClr val="122536"/>
                    </a:solidFill>
                  </a:tcPr>
                </a:tc>
                <a:tc>
                  <a:txBody>
                    <a:bodyPr wrap="square" lIns="171450" tIns="85725" rIns="142875" bIns="85725"/>
                    <a:lstStyle/>
                    <a:p>
                      <a:r>
                        <a:rPr sz="1650" b="0">
                          <a:solidFill>
                            <a:srgbClr val="F3F7FB"/>
                          </a:solidFill>
                          <a:latin typeface="Liberation Sans"/>
                          <a:ea typeface="Liberation Sans"/>
                          <a:cs typeface="Liberation Sans"/>
                        </a:rPr>
                        <a:t>Rebuilt a clean WSL/Ubuntu environment</a:t>
                      </a:r>
                    </a:p>
                  </a:txBody>
                  <a:tcPr marL="91440" marR="91440" marT="45720" marB="45720" anchor="ctr">
                    <a:lnR w="9525">
                      <a:solidFill>
                        <a:srgbClr val="2A4052"/>
                      </a:solidFill>
                      <a:prstDash val="solid"/>
                    </a:lnR>
                    <a:lnB w="9525">
                      <a:solidFill>
                        <a:srgbClr val="2A4052"/>
                      </a:solidFill>
                      <a:prstDash val="solid"/>
                    </a:lnB>
                    <a:solidFill>
                      <a:srgbClr val="122536"/>
                    </a:solidFill>
                  </a:tcPr>
                </a:tc>
              </a:tr>
              <a:tr h="590550">
                <a:tc>
                  <a:txBody>
                    <a:bodyPr wrap="square" lIns="171450" tIns="85725" rIns="142875" bIns="85725"/>
                    <a:lstStyle/>
                    <a:p>
                      <a:r>
                        <a:rPr sz="1650" b="1">
                          <a:solidFill>
                            <a:srgbClr val="F3F7FB"/>
                          </a:solidFill>
                          <a:latin typeface="Liberation Sans"/>
                          <a:ea typeface="Liberation Sans"/>
                          <a:cs typeface="Liberation Sans"/>
                        </a:rPr>
                        <a:t>Python environment corruption</a:t>
                      </a:r>
                    </a:p>
                  </a:txBody>
                  <a:tcPr marL="91440" marR="91440" marT="45720" marB="45720" anchor="ctr">
                    <a:lnL w="9525">
                      <a:solidFill>
                        <a:srgbClr val="2A4052"/>
                      </a:solidFill>
                      <a:prstDash val="solid"/>
                    </a:lnL>
                    <a:lnR w="9525">
                      <a:solidFill>
                        <a:srgbClr val="2A4052"/>
                      </a:solidFill>
                      <a:prstDash val="solid"/>
                    </a:lnR>
                    <a:lnB w="9525">
                      <a:solidFill>
                        <a:srgbClr val="2A4052"/>
                      </a:solidFill>
                      <a:prstDash val="solid"/>
                    </a:lnB>
                    <a:solidFill>
                      <a:srgbClr val="10212F"/>
                    </a:solidFill>
                  </a:tcPr>
                </a:tc>
                <a:tc>
                  <a:txBody>
                    <a:bodyPr wrap="square" lIns="171450" tIns="85725" rIns="142875" bIns="85725"/>
                    <a:lstStyle/>
                    <a:p>
                      <a:r>
                        <a:rPr sz="1650" b="0">
                          <a:solidFill>
                            <a:srgbClr val="F3F7FB"/>
                          </a:solidFill>
                          <a:latin typeface="Liberation Sans"/>
                          <a:ea typeface="Liberation Sans"/>
                          <a:cs typeface="Liberation Sans"/>
                        </a:rPr>
                        <a:t>Recreated Python and Airflow virtual environments</a:t>
                      </a:r>
                    </a:p>
                  </a:txBody>
                  <a:tcPr marL="91440" marR="91440" marT="45720" marB="45720" anchor="ctr">
                    <a:lnR w="9525">
                      <a:solidFill>
                        <a:srgbClr val="2A4052"/>
                      </a:solidFill>
                      <a:prstDash val="solid"/>
                    </a:lnR>
                    <a:lnB w="9525">
                      <a:solidFill>
                        <a:srgbClr val="2A4052"/>
                      </a:solidFill>
                      <a:prstDash val="solid"/>
                    </a:lnB>
                    <a:solidFill>
                      <a:srgbClr val="10212F"/>
                    </a:solidFill>
                  </a:tcPr>
                </a:tc>
              </a:tr>
              <a:tr h="590550">
                <a:tc>
                  <a:txBody>
                    <a:bodyPr wrap="square" lIns="171450" tIns="85725" rIns="142875" bIns="85725"/>
                    <a:lstStyle/>
                    <a:p>
                      <a:r>
                        <a:rPr sz="1650" b="1">
                          <a:solidFill>
                            <a:srgbClr val="F3F7FB"/>
                          </a:solidFill>
                          <a:latin typeface="Liberation Sans"/>
                          <a:ea typeface="Liberation Sans"/>
                          <a:cs typeface="Liberation Sans"/>
                        </a:rPr>
                        <a:t>PostgreSQL access from WSL</a:t>
                      </a:r>
                    </a:p>
                  </a:txBody>
                  <a:tcPr marL="91440" marR="91440" marT="45720" marB="45720" anchor="ctr">
                    <a:lnL w="9525">
                      <a:solidFill>
                        <a:srgbClr val="2A4052"/>
                      </a:solidFill>
                      <a:prstDash val="solid"/>
                    </a:lnL>
                    <a:lnR w="9525">
                      <a:solidFill>
                        <a:srgbClr val="2A4052"/>
                      </a:solidFill>
                      <a:prstDash val="solid"/>
                    </a:lnR>
                    <a:lnB w="9525">
                      <a:solidFill>
                        <a:srgbClr val="2A4052"/>
                      </a:solidFill>
                      <a:prstDash val="solid"/>
                    </a:lnB>
                    <a:solidFill>
                      <a:srgbClr val="122536"/>
                    </a:solidFill>
                  </a:tcPr>
                </a:tc>
                <a:tc>
                  <a:txBody>
                    <a:bodyPr wrap="square" lIns="171450" tIns="85725" rIns="142875" bIns="85725"/>
                    <a:lstStyle/>
                    <a:p>
                      <a:r>
                        <a:rPr sz="1650" b="0">
                          <a:solidFill>
                            <a:srgbClr val="F3F7FB"/>
                          </a:solidFill>
                          <a:latin typeface="Liberation Sans"/>
                          <a:ea typeface="Liberation Sans"/>
                          <a:cs typeface="Liberation Sans"/>
                        </a:rPr>
                        <a:t>Reconnected with environment variables and revalidated ETL</a:t>
                      </a:r>
                    </a:p>
                  </a:txBody>
                  <a:tcPr marL="91440" marR="91440" marT="45720" marB="45720" anchor="ctr">
                    <a:lnR w="9525">
                      <a:solidFill>
                        <a:srgbClr val="2A4052"/>
                      </a:solidFill>
                      <a:prstDash val="solid"/>
                    </a:lnR>
                    <a:lnB w="9525">
                      <a:solidFill>
                        <a:srgbClr val="2A4052"/>
                      </a:solidFill>
                      <a:prstDash val="solid"/>
                    </a:lnB>
                    <a:solidFill>
                      <a:srgbClr val="122536"/>
                    </a:solidFill>
                  </a:tcPr>
                </a:tc>
              </a:tr>
              <a:tr h="590550">
                <a:tc>
                  <a:txBody>
                    <a:bodyPr wrap="square" lIns="171450" tIns="85725" rIns="142875" bIns="85725"/>
                    <a:lstStyle/>
                    <a:p>
                      <a:r>
                        <a:rPr sz="1650" b="1">
                          <a:solidFill>
                            <a:srgbClr val="F3F7FB"/>
                          </a:solidFill>
                          <a:latin typeface="Liberation Sans"/>
                          <a:ea typeface="Liberation Sans"/>
                          <a:cs typeface="Liberation Sans"/>
                        </a:rPr>
                        <a:t>End-to-end recovery</a:t>
                      </a:r>
                    </a:p>
                  </a:txBody>
                  <a:tcPr marL="91440" marR="91440" marT="45720" marB="45720" anchor="ctr">
                    <a:lnL w="9525">
                      <a:solidFill>
                        <a:srgbClr val="2A4052"/>
                      </a:solidFill>
                      <a:prstDash val="solid"/>
                    </a:lnL>
                    <a:lnR w="9525">
                      <a:solidFill>
                        <a:srgbClr val="2A4052"/>
                      </a:solidFill>
                      <a:prstDash val="solid"/>
                    </a:lnR>
                    <a:lnB w="9525">
                      <a:solidFill>
                        <a:srgbClr val="2A4052"/>
                      </a:solidFill>
                      <a:prstDash val="solid"/>
                    </a:lnB>
                    <a:solidFill>
                      <a:srgbClr val="10212F"/>
                    </a:solidFill>
                  </a:tcPr>
                </a:tc>
                <a:tc>
                  <a:txBody>
                    <a:bodyPr wrap="square" lIns="171450" tIns="85725" rIns="142875" bIns="85725"/>
                    <a:lstStyle/>
                    <a:p>
                      <a:r>
                        <a:rPr sz="1650" b="0">
                          <a:solidFill>
                            <a:srgbClr val="F3F7FB"/>
                          </a:solidFill>
                          <a:latin typeface="Liberation Sans"/>
                          <a:ea typeface="Liberation Sans"/>
                          <a:cs typeface="Liberation Sans"/>
                        </a:rPr>
                        <a:t>Validated each stage before restoring orchestration</a:t>
                      </a:r>
                    </a:p>
                  </a:txBody>
                  <a:tcPr marL="91440" marR="91440" marT="45720" marB="45720" anchor="ctr">
                    <a:lnR w="9525">
                      <a:solidFill>
                        <a:srgbClr val="2A4052"/>
                      </a:solidFill>
                      <a:prstDash val="solid"/>
                    </a:lnR>
                    <a:lnB w="9525">
                      <a:solidFill>
                        <a:srgbClr val="2A4052"/>
                      </a:solidFill>
                      <a:prstDash val="solid"/>
                    </a:lnB>
                    <a:solidFill>
                      <a:srgbClr val="10212F"/>
                    </a:solidFill>
                  </a:tcPr>
                </a:tc>
              </a:tr>
              <a:tr h="590550">
                <a:tc>
                  <a:txBody>
                    <a:bodyPr wrap="square" lIns="171450" tIns="85725" rIns="142875" bIns="85725"/>
                    <a:lstStyle/>
                    <a:p>
                      <a:r>
                        <a:rPr sz="1650" b="1">
                          <a:solidFill>
                            <a:srgbClr val="F3F7FB"/>
                          </a:solidFill>
                          <a:latin typeface="Liberation Sans"/>
                          <a:ea typeface="Liberation Sans"/>
                          <a:cs typeface="Liberation Sans"/>
                        </a:rPr>
                        <a:t>Credential security</a:t>
                      </a:r>
                    </a:p>
                  </a:txBody>
                  <a:tcPr marL="91440" marR="91440" marT="45720" marB="45720" anchor="ctr">
                    <a:lnL w="9525">
                      <a:solidFill>
                        <a:srgbClr val="2A4052"/>
                      </a:solidFill>
                      <a:prstDash val="solid"/>
                    </a:lnL>
                    <a:lnR w="9525">
                      <a:solidFill>
                        <a:srgbClr val="2A4052"/>
                      </a:solidFill>
                      <a:prstDash val="solid"/>
                    </a:lnR>
                    <a:lnB w="9525">
                      <a:solidFill>
                        <a:srgbClr val="2A4052"/>
                      </a:solidFill>
                      <a:prstDash val="solid"/>
                    </a:lnB>
                    <a:solidFill>
                      <a:srgbClr val="122536"/>
                    </a:solidFill>
                  </a:tcPr>
                </a:tc>
                <a:tc>
                  <a:txBody>
                    <a:bodyPr wrap="square" lIns="171450" tIns="85725" rIns="142875" bIns="85725"/>
                    <a:lstStyle/>
                    <a:p>
                      <a:r>
                        <a:rPr sz="1650" b="0">
                          <a:solidFill>
                            <a:srgbClr val="F3F7FB"/>
                          </a:solidFill>
                          <a:latin typeface="Liberation Sans"/>
                          <a:ea typeface="Liberation Sans"/>
                          <a:cs typeface="Liberation Sans"/>
                        </a:rPr>
                        <a:t>Used .env, .env.example, environment variables and .gitignore</a:t>
                      </a:r>
                    </a:p>
                  </a:txBody>
                  <a:tcPr marL="91440" marR="91440" marT="45720" marB="45720" anchor="ctr">
                    <a:lnR w="9525">
                      <a:solidFill>
                        <a:srgbClr val="2A4052"/>
                      </a:solidFill>
                      <a:prstDash val="solid"/>
                    </a:lnR>
                    <a:lnB w="9525">
                      <a:solidFill>
                        <a:srgbClr val="2A4052"/>
                      </a:solidFill>
                      <a:prstDash val="solid"/>
                    </a:lnB>
                    <a:solidFill>
                      <a:srgbClr val="122536"/>
                    </a:solidFill>
                  </a:tcPr>
                </a:tc>
              </a:tr>
              <a:tr h="590550">
                <a:tc>
                  <a:txBody>
                    <a:bodyPr wrap="square" lIns="171450" tIns="85725" rIns="142875" bIns="85725"/>
                    <a:lstStyle/>
                    <a:p>
                      <a:r>
                        <a:rPr sz="1650" b="1">
                          <a:solidFill>
                            <a:srgbClr val="F3F7FB"/>
                          </a:solidFill>
                          <a:latin typeface="Liberation Sans"/>
                          <a:ea typeface="Liberation Sans"/>
                          <a:cs typeface="Liberation Sans"/>
                        </a:rPr>
                        <a:t>Project recovery</a:t>
                      </a:r>
                    </a:p>
                  </a:txBody>
                  <a:tcPr marL="91440" marR="91440" marT="45720" marB="45720" anchor="ctr">
                    <a:lnL w="9525">
                      <a:solidFill>
                        <a:srgbClr val="2A4052"/>
                      </a:solidFill>
                      <a:prstDash val="solid"/>
                    </a:lnL>
                    <a:lnR w="9525">
                      <a:solidFill>
                        <a:srgbClr val="2A4052"/>
                      </a:solidFill>
                      <a:prstDash val="solid"/>
                    </a:lnR>
                    <a:lnB w="9525">
                      <a:solidFill>
                        <a:srgbClr val="2A4052"/>
                      </a:solidFill>
                      <a:prstDash val="solid"/>
                    </a:lnB>
                    <a:solidFill>
                      <a:srgbClr val="10212F"/>
                    </a:solidFill>
                  </a:tcPr>
                </a:tc>
                <a:tc>
                  <a:txBody>
                    <a:bodyPr wrap="square" lIns="171450" tIns="85725" rIns="142875" bIns="85725"/>
                    <a:lstStyle/>
                    <a:p>
                      <a:r>
                        <a:rPr sz="1650" b="0">
                          <a:solidFill>
                            <a:srgbClr val="F3F7FB"/>
                          </a:solidFill>
                          <a:latin typeface="Liberation Sans"/>
                          <a:ea typeface="Liberation Sans"/>
                          <a:cs typeface="Liberation Sans"/>
                        </a:rPr>
                        <a:t>Restored source assets while excluding damaged environments</a:t>
                      </a:r>
                    </a:p>
                  </a:txBody>
                  <a:tcPr marL="91440" marR="91440" marT="45720" marB="45720" anchor="ctr">
                    <a:lnR w="9525">
                      <a:solidFill>
                        <a:srgbClr val="2A4052"/>
                      </a:solidFill>
                      <a:prstDash val="solid"/>
                    </a:lnR>
                    <a:lnB w="9525">
                      <a:solidFill>
                        <a:srgbClr val="2A4052"/>
                      </a:solidFill>
                      <a:prstDash val="solid"/>
                    </a:lnB>
                    <a:solidFill>
                      <a:srgbClr val="10212F"/>
                    </a:solidFill>
                  </a:tcPr>
                </a:tc>
              </a:tr>
            </a:tbl>
          </a:graphicData>
        </a:graphic>
      </p:graphicFrame>
      <p:sp>
        <p:nvSpPr>
          <p:cNvPr id="7" name="shape-302">
            <a:extLst xmlns:a="http://schemas.openxmlformats.org/drawingml/2006/main">
              <a:ext uri="{FF2B5EF4-FFF2-40B4-BE49-F238E27FC236}">
                <a16:creationId xmlns:a16="http://schemas.microsoft.com/office/drawing/2014/main" id="{604F00A1-A47C-45DA-A98D-1AD815FC61CC}"/>
              </a:ext>
            </a:extLst>
          </p:cNvPr>
          <p:cNvSpPr>
            <a:spLocks xmlns:a="http://schemas.openxmlformats.org/drawingml/2006/main" noGrp="1"/>
          </p:cNvSpPr>
          <p:nvPr/>
        </p:nvSpPr>
        <p:spPr>
          <a:xfrm xmlns:a="http://schemas.openxmlformats.org/drawingml/2006/main">
            <a:off x="571500" y="5895975"/>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F3F7FB"/>
                </a:solidFill>
                <a:latin typeface="Liberation Sans"/>
                <a:ea typeface="Liberation Sans"/>
                <a:cs typeface="Liberation Sans"/>
              </a:defRPr>
            </a:defPPr>
          </a:lstStyle>
          <a:p xmlns:a="http://schemas.openxmlformats.org/drawingml/2006/main">
            <a:pPr algn="l">
              <a:defRPr sz="1425" b="0">
                <a:solidFill>
                  <a:srgbClr val="F3F7FB"/>
                </a:solidFill>
                <a:latin typeface="Liberation Sans"/>
                <a:ea typeface="Liberation Sans"/>
                <a:cs typeface="Liberation Sans"/>
              </a:defRPr>
            </a:pPr>
            <a:r>
              <a:rPr sz="1425" b="0">
                <a:solidFill>
                  <a:srgbClr val="F3F7FB"/>
                </a:solidFill>
                <a:latin typeface="Liberation Sans"/>
                <a:ea typeface="Liberation Sans"/>
                <a:cs typeface="Liberation Sans"/>
              </a:rPr>
              <a:t>A disciplined recovery process preserved project assets and restored a verifiable pipeline.</a:t>
            </a:r>
          </a:p>
        </p:txBody>
      </p:sp>
    </p:spTree>
    <p:extLst>
      <p:ext uri="{BB962C8B-B14F-4D97-AF65-F5344CB8AC3E}">
        <p14:creationId xmlns:p14="http://schemas.microsoft.com/office/powerpoint/2010/main" val="1789930109"/>
      </p:ext>
    </p:extLst>
  </p:cSld>
</p:sld>
</file>

<file path=ppt/slides/slide12.xml><?xml version="1.0" encoding="utf-8"?>
<p:sld xmlns:p="http://schemas.openxmlformats.org/presentationml/2006/main">
  <p:cSld>
    <p:bg>
      <p:bgPr>
        <a:solidFill xmlns:a="http://schemas.openxmlformats.org/drawingml/2006/main">
          <a:srgbClr val="091522"/>
        </a:solidFill>
      </p:bgPr>
    </p:bg>
    <p:spTree>
      <p:nvGrpSpPr>
        <p:cNvPr id="1" name=""/>
        <p:cNvGrpSpPr/>
        <p:nvPr/>
      </p:nvGrpSpPr>
      <p:grpSpPr>
        <a:xfrm xmlns:a="http://schemas.openxmlformats.org/drawingml/2006/main"/>
      </p:grpSpPr>
      <p:sp>
        <p:nvSpPr>
          <p:cNvPr id="25" name="shape-303">
            <a:extLst xmlns:a="http://schemas.openxmlformats.org/drawingml/2006/main">
              <a:ext uri="{FF2B5EF4-FFF2-40B4-BE49-F238E27FC236}">
                <a16:creationId xmlns:a16="http://schemas.microsoft.com/office/drawing/2014/main" id="{292F8781-3A0E-458F-8920-E139B21C372A}"/>
              </a:ext>
            </a:extLst>
          </p:cNvPr>
          <p:cNvSpPr>
            <a:spLocks xmlns:a="http://schemas.openxmlformats.org/drawingml/2006/main" noGrp="1"/>
          </p:cNvSpPr>
          <p:nvPr/>
        </p:nvSpPr>
        <p:spPr>
          <a:xfrm xmlns:a="http://schemas.openxmlformats.org/drawingml/2006/main">
            <a:off x="571500" y="333375"/>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48DCE7"/>
                </a:solidFill>
                <a:latin typeface="Liberation Sans"/>
                <a:ea typeface="Liberation Sans"/>
                <a:cs typeface="Liberation Sans"/>
              </a:defRPr>
            </a:defPPr>
          </a:lstStyle>
          <a:p xmlns:a="http://schemas.openxmlformats.org/drawingml/2006/main">
            <a:pPr algn="l">
              <a:defRPr sz="1125" b="1">
                <a:solidFill>
                  <a:srgbClr val="48DCE7"/>
                </a:solidFill>
                <a:latin typeface="Liberation Sans"/>
                <a:ea typeface="Liberation Sans"/>
                <a:cs typeface="Liberation Sans"/>
              </a:defRPr>
            </a:pPr>
            <a:r>
              <a:rPr sz="1125" b="1">
                <a:solidFill>
                  <a:srgbClr val="48DCE7"/>
                </a:solidFill>
                <a:latin typeface="Liberation Sans"/>
                <a:ea typeface="Liberation Sans"/>
                <a:cs typeface="Liberation Sans"/>
              </a:rPr>
              <a:t>CAPABILITIES</a:t>
            </a:r>
          </a:p>
        </p:txBody>
      </p:sp>
      <p:sp>
        <p:nvSpPr>
          <p:cNvPr id="2" name="shape-304">
            <a:extLst xmlns:a="http://schemas.openxmlformats.org/drawingml/2006/main">
              <a:ext uri="{FF2B5EF4-FFF2-40B4-BE49-F238E27FC236}">
                <a16:creationId xmlns:a16="http://schemas.microsoft.com/office/drawing/2014/main" id="{EE1E1ACE-7861-479A-A976-39B4C58A01C2}"/>
              </a:ext>
            </a:extLst>
          </p:cNvPr>
          <p:cNvSpPr>
            <a:spLocks xmlns:a="http://schemas.openxmlformats.org/drawingml/2006/main" noGrp="1"/>
          </p:cNvSpPr>
          <p:nvPr/>
        </p:nvSpPr>
        <p:spPr>
          <a:xfrm xmlns:a="http://schemas.openxmlformats.org/drawingml/2006/main">
            <a:off x="571500" y="704850"/>
            <a:ext cx="110490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3F7FB"/>
                </a:solidFill>
                <a:latin typeface="Liberation Sans"/>
                <a:ea typeface="Liberation Sans"/>
                <a:cs typeface="Liberation Sans"/>
              </a:defRPr>
            </a:defPPr>
          </a:lstStyle>
          <a:p xmlns:a="http://schemas.openxmlformats.org/drawingml/2006/main">
            <a:pPr algn="l">
              <a:defRPr sz="3225" b="1">
                <a:solidFill>
                  <a:srgbClr val="F3F7FB"/>
                </a:solidFill>
                <a:latin typeface="Liberation Sans"/>
                <a:ea typeface="Liberation Sans"/>
                <a:cs typeface="Liberation Sans"/>
              </a:defRPr>
            </a:pPr>
            <a:r>
              <a:rPr sz="3225" b="1">
                <a:solidFill>
                  <a:srgbClr val="F3F7FB"/>
                </a:solidFill>
                <a:latin typeface="Liberation Sans"/>
                <a:ea typeface="Liberation Sans"/>
                <a:cs typeface="Liberation Sans"/>
              </a:rPr>
              <a:t>Technical Skills Demonstrated</a:t>
            </a:r>
          </a:p>
        </p:txBody>
      </p:sp>
      <p:sp>
        <p:nvSpPr>
          <p:cNvPr id="3" name="line-305">
            <a:extLst xmlns:a="http://schemas.openxmlformats.org/drawingml/2006/main">
              <a:ext uri="{FF2B5EF4-FFF2-40B4-BE49-F238E27FC236}">
                <a16:creationId xmlns:a16="http://schemas.microsoft.com/office/drawing/2014/main" id="{DC20F8E4-F21F-4F6A-AA82-3989854D695C}"/>
              </a:ext>
            </a:extLst>
          </p:cNvPr>
          <p:cNvSpPr>
            <a:spLocks xmlns:a="http://schemas.openxmlformats.org/drawingml/2006/main" noGrp="1"/>
          </p:cNvSpPr>
          <p:nvPr/>
        </p:nvSpPr>
        <p:spPr>
          <a:xfrm xmlns:a="http://schemas.openxmlformats.org/drawingml/2006/main">
            <a:off x="571500" y="6353175"/>
            <a:ext cx="11049000"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4" name="shape-306">
            <a:extLst xmlns:a="http://schemas.openxmlformats.org/drawingml/2006/main">
              <a:ext uri="{FF2B5EF4-FFF2-40B4-BE49-F238E27FC236}">
                <a16:creationId xmlns:a16="http://schemas.microsoft.com/office/drawing/2014/main" id="{17020D4C-746E-4F4E-8915-DC24F5F9609D}"/>
              </a:ext>
            </a:extLst>
          </p:cNvPr>
          <p:cNvSpPr>
            <a:spLocks xmlns:a="http://schemas.openxmlformats.org/drawingml/2006/main" noGrp="1"/>
          </p:cNvSpPr>
          <p:nvPr/>
        </p:nvSpPr>
        <p:spPr>
          <a:xfrm xmlns:a="http://schemas.openxmlformats.org/drawingml/2006/main">
            <a:off x="5715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A9BBCB"/>
                </a:solidFill>
                <a:latin typeface="Liberation Sans"/>
                <a:ea typeface="Liberation Sans"/>
                <a:cs typeface="Liberation Sans"/>
              </a:defRPr>
            </a:defPPr>
          </a:lstStyle>
          <a:p xmlns:a="http://schemas.openxmlformats.org/drawingml/2006/main">
            <a:pPr algn="l">
              <a:defRPr sz="900" b="0">
                <a:solidFill>
                  <a:srgbClr val="A9BBCB"/>
                </a:solidFill>
                <a:latin typeface="Liberation Sans"/>
                <a:ea typeface="Liberation Sans"/>
                <a:cs typeface="Liberation Sans"/>
              </a:defRPr>
            </a:pPr>
            <a:r>
              <a:rPr sz="900" b="0">
                <a:solidFill>
                  <a:srgbClr val="A9BBCB"/>
                </a:solidFill>
                <a:latin typeface="Liberation Sans"/>
                <a:ea typeface="Liberation Sans"/>
                <a:cs typeface="Liberation Sans"/>
              </a:rPr>
              <a:t>SYNTHETIC DATA · PORTFOLIO PROJECT</a:t>
            </a:r>
          </a:p>
        </p:txBody>
      </p:sp>
      <p:sp>
        <p:nvSpPr>
          <p:cNvPr id="5" name="shape-307">
            <a:extLst xmlns:a="http://schemas.openxmlformats.org/drawingml/2006/main">
              <a:ext uri="{FF2B5EF4-FFF2-40B4-BE49-F238E27FC236}">
                <a16:creationId xmlns:a16="http://schemas.microsoft.com/office/drawing/2014/main" id="{C2A66CFA-EEB9-4FA2-A444-F4D09FCFB3FF}"/>
              </a:ext>
            </a:extLst>
          </p:cNvPr>
          <p:cNvSpPr>
            <a:spLocks xmlns:a="http://schemas.openxmlformats.org/drawingml/2006/main" noGrp="1"/>
          </p:cNvSpPr>
          <p:nvPr/>
        </p:nvSpPr>
        <p:spPr>
          <a:xfrm xmlns:a="http://schemas.openxmlformats.org/drawingml/2006/main">
            <a:off x="11144250" y="646747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9BBCB"/>
                </a:solidFill>
                <a:latin typeface="Liberation Sans"/>
                <a:ea typeface="Liberation Sans"/>
                <a:cs typeface="Liberation Sans"/>
              </a:defRPr>
            </a:defPPr>
          </a:lstStyle>
          <a:p xmlns:a="http://schemas.openxmlformats.org/drawingml/2006/main">
            <a:pPr algn="r">
              <a:defRPr sz="1275" b="0">
                <a:solidFill>
                  <a:srgbClr val="A9BBCB"/>
                </a:solidFill>
                <a:latin typeface="Liberation Sans"/>
                <a:ea typeface="Liberation Sans"/>
                <a:cs typeface="Liberation Sans"/>
              </a:defRPr>
            </a:pPr>
            <a:r>
              <a:rPr sz="1275" b="0">
                <a:solidFill>
                  <a:srgbClr val="A9BBCB"/>
                </a:solidFill>
                <a:latin typeface="Liberation Sans"/>
                <a:ea typeface="Liberation Sans"/>
                <a:cs typeface="Liberation Sans"/>
              </a:rPr>
              <a:t>12</a:t>
            </a:r>
          </a:p>
        </p:txBody>
      </p:sp>
      <p:sp>
        <p:nvSpPr>
          <p:cNvPr id="6" name="shape-308">
            <a:extLst xmlns:a="http://schemas.openxmlformats.org/drawingml/2006/main">
              <a:ext uri="{FF2B5EF4-FFF2-40B4-BE49-F238E27FC236}">
                <a16:creationId xmlns:a16="http://schemas.microsoft.com/office/drawing/2014/main" id="{C3A6EE1E-FBD9-4302-A292-6D19FFAAE21E}"/>
              </a:ext>
            </a:extLst>
          </p:cNvPr>
          <p:cNvSpPr>
            <a:spLocks xmlns:a="http://schemas.openxmlformats.org/drawingml/2006/main" noGrp="1"/>
          </p:cNvSpPr>
          <p:nvPr/>
        </p:nvSpPr>
        <p:spPr>
          <a:xfrm xmlns:a="http://schemas.openxmlformats.org/drawingml/2006/main">
            <a:off x="571500" y="1733550"/>
            <a:ext cx="3467100" cy="1628775"/>
          </a:xfrm>
          <a:prstGeom xmlns:a="http://schemas.openxmlformats.org/drawingml/2006/main" prst="roundRect">
            <a:avLst>
              <a:gd name="adj" fmla="val 7018"/>
            </a:avLst>
          </a:prstGeom>
          <a:solidFill xmlns:a="http://schemas.openxmlformats.org/drawingml/2006/main">
            <a:srgbClr val="122536"/>
          </a:solidFill>
          <a:ln xmlns:a="http://schemas.openxmlformats.org/drawingml/2006/main" w="9525">
            <a:solidFill>
              <a:srgbClr val="2A4052"/>
            </a:solidFill>
            <a:prstDash val="solid"/>
          </a:ln>
        </p:spPr>
      </p:sp>
      <p:sp>
        <p:nvSpPr>
          <p:cNvPr id="7" name="shape-309">
            <a:extLst xmlns:a="http://schemas.openxmlformats.org/drawingml/2006/main">
              <a:ext uri="{FF2B5EF4-FFF2-40B4-BE49-F238E27FC236}">
                <a16:creationId xmlns:a16="http://schemas.microsoft.com/office/drawing/2014/main" id="{7CB2E2D5-DA10-47D3-B205-301B3002A293}"/>
              </a:ext>
            </a:extLst>
          </p:cNvPr>
          <p:cNvSpPr>
            <a:spLocks xmlns:a="http://schemas.openxmlformats.org/drawingml/2006/main" noGrp="1"/>
          </p:cNvSpPr>
          <p:nvPr/>
        </p:nvSpPr>
        <p:spPr>
          <a:xfrm xmlns:a="http://schemas.openxmlformats.org/drawingml/2006/main">
            <a:off x="762000" y="1914525"/>
            <a:ext cx="30861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3F7FB"/>
                </a:solidFill>
                <a:latin typeface="Liberation Sans"/>
                <a:ea typeface="Liberation Sans"/>
                <a:cs typeface="Liberation Sans"/>
              </a:defRPr>
            </a:defPPr>
          </a:lstStyle>
          <a:p xmlns:a="http://schemas.openxmlformats.org/drawingml/2006/main">
            <a:pPr algn="l">
              <a:defRPr sz="1950" b="1">
                <a:solidFill>
                  <a:srgbClr val="F3F7FB"/>
                </a:solidFill>
                <a:latin typeface="Liberation Sans"/>
                <a:ea typeface="Liberation Sans"/>
                <a:cs typeface="Liberation Sans"/>
              </a:defRPr>
            </a:pPr>
            <a:r>
              <a:rPr sz="1950" b="1">
                <a:solidFill>
                  <a:srgbClr val="F3F7FB"/>
                </a:solidFill>
                <a:latin typeface="Liberation Sans"/>
                <a:ea typeface="Liberation Sans"/>
                <a:cs typeface="Liberation Sans"/>
              </a:rPr>
              <a:t>Data Engineering</a:t>
            </a:r>
          </a:p>
        </p:txBody>
      </p:sp>
      <p:sp>
        <p:nvSpPr>
          <p:cNvPr id="8" name="shape-310">
            <a:extLst xmlns:a="http://schemas.openxmlformats.org/drawingml/2006/main">
              <a:ext uri="{FF2B5EF4-FFF2-40B4-BE49-F238E27FC236}">
                <a16:creationId xmlns:a16="http://schemas.microsoft.com/office/drawing/2014/main" id="{5D1D8585-6098-4D9B-9A4C-CA504C72B905}"/>
              </a:ext>
            </a:extLst>
          </p:cNvPr>
          <p:cNvSpPr>
            <a:spLocks xmlns:a="http://schemas.openxmlformats.org/drawingml/2006/main" noGrp="1"/>
          </p:cNvSpPr>
          <p:nvPr/>
        </p:nvSpPr>
        <p:spPr>
          <a:xfrm xmlns:a="http://schemas.openxmlformats.org/drawingml/2006/main">
            <a:off x="762000" y="2466975"/>
            <a:ext cx="3086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A9BBCB"/>
                </a:solidFill>
                <a:latin typeface="Liberation Sans"/>
                <a:ea typeface="Liberation Sans"/>
                <a:cs typeface="Liberation Sans"/>
              </a:defRPr>
            </a:defPPr>
          </a:lstStyle>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Python, Pandas</a:t>
            </a:r>
          </a:p>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ETL design, psycopg2</a:t>
            </a:r>
          </a:p>
        </p:txBody>
      </p:sp>
      <p:sp>
        <p:nvSpPr>
          <p:cNvPr id="9" name="shape-311">
            <a:extLst xmlns:a="http://schemas.openxmlformats.org/drawingml/2006/main">
              <a:ext uri="{FF2B5EF4-FFF2-40B4-BE49-F238E27FC236}">
                <a16:creationId xmlns:a16="http://schemas.microsoft.com/office/drawing/2014/main" id="{0A306B40-B2EC-41DB-A7B3-CDF4C8157BF1}"/>
              </a:ext>
            </a:extLst>
          </p:cNvPr>
          <p:cNvSpPr>
            <a:spLocks xmlns:a="http://schemas.openxmlformats.org/drawingml/2006/main" noGrp="1"/>
          </p:cNvSpPr>
          <p:nvPr/>
        </p:nvSpPr>
        <p:spPr>
          <a:xfrm xmlns:a="http://schemas.openxmlformats.org/drawingml/2006/main">
            <a:off x="4362450" y="1733550"/>
            <a:ext cx="3467100" cy="1628775"/>
          </a:xfrm>
          <a:prstGeom xmlns:a="http://schemas.openxmlformats.org/drawingml/2006/main" prst="roundRect">
            <a:avLst>
              <a:gd name="adj" fmla="val 7018"/>
            </a:avLst>
          </a:prstGeom>
          <a:solidFill xmlns:a="http://schemas.openxmlformats.org/drawingml/2006/main">
            <a:srgbClr val="122536"/>
          </a:solidFill>
          <a:ln xmlns:a="http://schemas.openxmlformats.org/drawingml/2006/main" w="9525">
            <a:solidFill>
              <a:srgbClr val="2A4052"/>
            </a:solidFill>
            <a:prstDash val="solid"/>
          </a:ln>
        </p:spPr>
      </p:sp>
      <p:sp>
        <p:nvSpPr>
          <p:cNvPr id="10" name="shape-312">
            <a:extLst xmlns:a="http://schemas.openxmlformats.org/drawingml/2006/main">
              <a:ext uri="{FF2B5EF4-FFF2-40B4-BE49-F238E27FC236}">
                <a16:creationId xmlns:a16="http://schemas.microsoft.com/office/drawing/2014/main" id="{54EA1397-5123-4BA1-B722-AC27FB889C00}"/>
              </a:ext>
            </a:extLst>
          </p:cNvPr>
          <p:cNvSpPr>
            <a:spLocks xmlns:a="http://schemas.openxmlformats.org/drawingml/2006/main" noGrp="1"/>
          </p:cNvSpPr>
          <p:nvPr/>
        </p:nvSpPr>
        <p:spPr>
          <a:xfrm xmlns:a="http://schemas.openxmlformats.org/drawingml/2006/main">
            <a:off x="4552950" y="1914525"/>
            <a:ext cx="30861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3F7FB"/>
                </a:solidFill>
                <a:latin typeface="Liberation Sans"/>
                <a:ea typeface="Liberation Sans"/>
                <a:cs typeface="Liberation Sans"/>
              </a:defRPr>
            </a:defPPr>
          </a:lstStyle>
          <a:p xmlns:a="http://schemas.openxmlformats.org/drawingml/2006/main">
            <a:pPr algn="l">
              <a:defRPr sz="1950" b="1">
                <a:solidFill>
                  <a:srgbClr val="F3F7FB"/>
                </a:solidFill>
                <a:latin typeface="Liberation Sans"/>
                <a:ea typeface="Liberation Sans"/>
                <a:cs typeface="Liberation Sans"/>
              </a:defRPr>
            </a:pPr>
            <a:r>
              <a:rPr sz="1950" b="1">
                <a:solidFill>
                  <a:srgbClr val="F3F7FB"/>
                </a:solidFill>
                <a:latin typeface="Liberation Sans"/>
                <a:ea typeface="Liberation Sans"/>
                <a:cs typeface="Liberation Sans"/>
              </a:rPr>
              <a:t>SQL &amp; Databases</a:t>
            </a:r>
          </a:p>
        </p:txBody>
      </p:sp>
      <p:sp>
        <p:nvSpPr>
          <p:cNvPr id="11" name="shape-313">
            <a:extLst xmlns:a="http://schemas.openxmlformats.org/drawingml/2006/main">
              <a:ext uri="{FF2B5EF4-FFF2-40B4-BE49-F238E27FC236}">
                <a16:creationId xmlns:a16="http://schemas.microsoft.com/office/drawing/2014/main" id="{6B7C1B99-683D-43FC-A078-56267FD3B03D}"/>
              </a:ext>
            </a:extLst>
          </p:cNvPr>
          <p:cNvSpPr>
            <a:spLocks xmlns:a="http://schemas.openxmlformats.org/drawingml/2006/main" noGrp="1"/>
          </p:cNvSpPr>
          <p:nvPr/>
        </p:nvSpPr>
        <p:spPr>
          <a:xfrm xmlns:a="http://schemas.openxmlformats.org/drawingml/2006/main">
            <a:off x="4552950" y="2466975"/>
            <a:ext cx="3086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A9BBCB"/>
                </a:solidFill>
                <a:latin typeface="Liberation Sans"/>
                <a:ea typeface="Liberation Sans"/>
                <a:cs typeface="Liberation Sans"/>
              </a:defRPr>
            </a:defPPr>
          </a:lstStyle>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PostgreSQL, data modeling</a:t>
            </a:r>
          </a:p>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Analytical SQL</a:t>
            </a:r>
          </a:p>
        </p:txBody>
      </p:sp>
      <p:sp>
        <p:nvSpPr>
          <p:cNvPr id="12" name="shape-314">
            <a:extLst xmlns:a="http://schemas.openxmlformats.org/drawingml/2006/main">
              <a:ext uri="{FF2B5EF4-FFF2-40B4-BE49-F238E27FC236}">
                <a16:creationId xmlns:a16="http://schemas.microsoft.com/office/drawing/2014/main" id="{A0786A81-B275-4E61-A33B-6FEBF9FBB35C}"/>
              </a:ext>
            </a:extLst>
          </p:cNvPr>
          <p:cNvSpPr>
            <a:spLocks xmlns:a="http://schemas.openxmlformats.org/drawingml/2006/main" noGrp="1"/>
          </p:cNvSpPr>
          <p:nvPr/>
        </p:nvSpPr>
        <p:spPr>
          <a:xfrm xmlns:a="http://schemas.openxmlformats.org/drawingml/2006/main">
            <a:off x="8153400" y="1733550"/>
            <a:ext cx="3467100" cy="1628775"/>
          </a:xfrm>
          <a:prstGeom xmlns:a="http://schemas.openxmlformats.org/drawingml/2006/main" prst="roundRect">
            <a:avLst>
              <a:gd name="adj" fmla="val 7018"/>
            </a:avLst>
          </a:prstGeom>
          <a:solidFill xmlns:a="http://schemas.openxmlformats.org/drawingml/2006/main">
            <a:srgbClr val="122536"/>
          </a:solidFill>
          <a:ln xmlns:a="http://schemas.openxmlformats.org/drawingml/2006/main" w="9525">
            <a:solidFill>
              <a:srgbClr val="2A4052"/>
            </a:solidFill>
            <a:prstDash val="solid"/>
          </a:ln>
        </p:spPr>
      </p:sp>
      <p:sp>
        <p:nvSpPr>
          <p:cNvPr id="13" name="shape-315">
            <a:extLst xmlns:a="http://schemas.openxmlformats.org/drawingml/2006/main">
              <a:ext uri="{FF2B5EF4-FFF2-40B4-BE49-F238E27FC236}">
                <a16:creationId xmlns:a16="http://schemas.microsoft.com/office/drawing/2014/main" id="{C7793809-79A7-45A6-A4A3-D5036F51C2E9}"/>
              </a:ext>
            </a:extLst>
          </p:cNvPr>
          <p:cNvSpPr>
            <a:spLocks xmlns:a="http://schemas.openxmlformats.org/drawingml/2006/main" noGrp="1"/>
          </p:cNvSpPr>
          <p:nvPr/>
        </p:nvSpPr>
        <p:spPr>
          <a:xfrm xmlns:a="http://schemas.openxmlformats.org/drawingml/2006/main">
            <a:off x="8343900" y="1914525"/>
            <a:ext cx="30861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3F7FB"/>
                </a:solidFill>
                <a:latin typeface="Liberation Sans"/>
                <a:ea typeface="Liberation Sans"/>
                <a:cs typeface="Liberation Sans"/>
              </a:defRPr>
            </a:defPPr>
          </a:lstStyle>
          <a:p xmlns:a="http://schemas.openxmlformats.org/drawingml/2006/main">
            <a:pPr algn="l">
              <a:defRPr sz="1950" b="1">
                <a:solidFill>
                  <a:srgbClr val="F3F7FB"/>
                </a:solidFill>
                <a:latin typeface="Liberation Sans"/>
                <a:ea typeface="Liberation Sans"/>
                <a:cs typeface="Liberation Sans"/>
              </a:defRPr>
            </a:pPr>
            <a:r>
              <a:rPr sz="1950" b="1">
                <a:solidFill>
                  <a:srgbClr val="F3F7FB"/>
                </a:solidFill>
                <a:latin typeface="Liberation Sans"/>
                <a:ea typeface="Liberation Sans"/>
                <a:cs typeface="Liberation Sans"/>
              </a:rPr>
              <a:t>Analytics Engineering</a:t>
            </a:r>
          </a:p>
        </p:txBody>
      </p:sp>
      <p:sp>
        <p:nvSpPr>
          <p:cNvPr id="14" name="shape-316">
            <a:extLst xmlns:a="http://schemas.openxmlformats.org/drawingml/2006/main">
              <a:ext uri="{FF2B5EF4-FFF2-40B4-BE49-F238E27FC236}">
                <a16:creationId xmlns:a16="http://schemas.microsoft.com/office/drawing/2014/main" id="{3B337C6D-60B8-42ED-8714-36958CEB240E}"/>
              </a:ext>
            </a:extLst>
          </p:cNvPr>
          <p:cNvSpPr>
            <a:spLocks xmlns:a="http://schemas.openxmlformats.org/drawingml/2006/main" noGrp="1"/>
          </p:cNvSpPr>
          <p:nvPr/>
        </p:nvSpPr>
        <p:spPr>
          <a:xfrm xmlns:a="http://schemas.openxmlformats.org/drawingml/2006/main">
            <a:off x="8343900" y="2466975"/>
            <a:ext cx="3086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A9BBCB"/>
                </a:solidFill>
                <a:latin typeface="Liberation Sans"/>
                <a:ea typeface="Liberation Sans"/>
                <a:cs typeface="Liberation Sans"/>
              </a:defRPr>
            </a:defPPr>
          </a:lstStyle>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dbt, staging, marts</a:t>
            </a:r>
          </a:p>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Data-quality tests</a:t>
            </a:r>
          </a:p>
        </p:txBody>
      </p:sp>
      <p:sp>
        <p:nvSpPr>
          <p:cNvPr id="15" name="shape-317">
            <a:extLst xmlns:a="http://schemas.openxmlformats.org/drawingml/2006/main">
              <a:ext uri="{FF2B5EF4-FFF2-40B4-BE49-F238E27FC236}">
                <a16:creationId xmlns:a16="http://schemas.microsoft.com/office/drawing/2014/main" id="{68E991BB-2097-4918-AB9A-E7D43E5AFB31}"/>
              </a:ext>
            </a:extLst>
          </p:cNvPr>
          <p:cNvSpPr>
            <a:spLocks xmlns:a="http://schemas.openxmlformats.org/drawingml/2006/main" noGrp="1"/>
          </p:cNvSpPr>
          <p:nvPr/>
        </p:nvSpPr>
        <p:spPr>
          <a:xfrm xmlns:a="http://schemas.openxmlformats.org/drawingml/2006/main">
            <a:off x="571500" y="3571875"/>
            <a:ext cx="3467100" cy="1628775"/>
          </a:xfrm>
          <a:prstGeom xmlns:a="http://schemas.openxmlformats.org/drawingml/2006/main" prst="roundRect">
            <a:avLst>
              <a:gd name="adj" fmla="val 7018"/>
            </a:avLst>
          </a:prstGeom>
          <a:solidFill xmlns:a="http://schemas.openxmlformats.org/drawingml/2006/main">
            <a:srgbClr val="122536"/>
          </a:solidFill>
          <a:ln xmlns:a="http://schemas.openxmlformats.org/drawingml/2006/main" w="9525">
            <a:solidFill>
              <a:srgbClr val="2A4052"/>
            </a:solidFill>
            <a:prstDash val="solid"/>
          </a:ln>
        </p:spPr>
      </p:sp>
      <p:sp>
        <p:nvSpPr>
          <p:cNvPr id="16" name="shape-318">
            <a:extLst xmlns:a="http://schemas.openxmlformats.org/drawingml/2006/main">
              <a:ext uri="{FF2B5EF4-FFF2-40B4-BE49-F238E27FC236}">
                <a16:creationId xmlns:a16="http://schemas.microsoft.com/office/drawing/2014/main" id="{4E4D9C40-39B9-4FBA-ACBE-1823C4D51605}"/>
              </a:ext>
            </a:extLst>
          </p:cNvPr>
          <p:cNvSpPr>
            <a:spLocks xmlns:a="http://schemas.openxmlformats.org/drawingml/2006/main" noGrp="1"/>
          </p:cNvSpPr>
          <p:nvPr/>
        </p:nvSpPr>
        <p:spPr>
          <a:xfrm xmlns:a="http://schemas.openxmlformats.org/drawingml/2006/main">
            <a:off x="762000" y="3752850"/>
            <a:ext cx="30861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3F7FB"/>
                </a:solidFill>
                <a:latin typeface="Liberation Sans"/>
                <a:ea typeface="Liberation Sans"/>
                <a:cs typeface="Liberation Sans"/>
              </a:defRPr>
            </a:defPPr>
          </a:lstStyle>
          <a:p xmlns:a="http://schemas.openxmlformats.org/drawingml/2006/main">
            <a:pPr algn="l">
              <a:defRPr sz="1950" b="1">
                <a:solidFill>
                  <a:srgbClr val="F3F7FB"/>
                </a:solidFill>
                <a:latin typeface="Liberation Sans"/>
                <a:ea typeface="Liberation Sans"/>
                <a:cs typeface="Liberation Sans"/>
              </a:defRPr>
            </a:pPr>
            <a:r>
              <a:rPr sz="1950" b="1">
                <a:solidFill>
                  <a:srgbClr val="F3F7FB"/>
                </a:solidFill>
                <a:latin typeface="Liberation Sans"/>
                <a:ea typeface="Liberation Sans"/>
                <a:cs typeface="Liberation Sans"/>
              </a:rPr>
              <a:t>Workflow Orchestration</a:t>
            </a:r>
          </a:p>
        </p:txBody>
      </p:sp>
      <p:sp>
        <p:nvSpPr>
          <p:cNvPr id="17" name="shape-319">
            <a:extLst xmlns:a="http://schemas.openxmlformats.org/drawingml/2006/main">
              <a:ext uri="{FF2B5EF4-FFF2-40B4-BE49-F238E27FC236}">
                <a16:creationId xmlns:a16="http://schemas.microsoft.com/office/drawing/2014/main" id="{DF656C42-928C-43D8-A1D4-0AE6C6771B27}"/>
              </a:ext>
            </a:extLst>
          </p:cNvPr>
          <p:cNvSpPr>
            <a:spLocks xmlns:a="http://schemas.openxmlformats.org/drawingml/2006/main" noGrp="1"/>
          </p:cNvSpPr>
          <p:nvPr/>
        </p:nvSpPr>
        <p:spPr>
          <a:xfrm xmlns:a="http://schemas.openxmlformats.org/drawingml/2006/main">
            <a:off x="762000" y="4305300"/>
            <a:ext cx="3086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A9BBCB"/>
                </a:solidFill>
                <a:latin typeface="Liberation Sans"/>
                <a:ea typeface="Liberation Sans"/>
                <a:cs typeface="Liberation Sans"/>
              </a:defRPr>
            </a:defPPr>
          </a:lstStyle>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Apache Airflow</a:t>
            </a:r>
          </a:p>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DAG dependencies</a:t>
            </a:r>
          </a:p>
        </p:txBody>
      </p:sp>
      <p:sp>
        <p:nvSpPr>
          <p:cNvPr id="18" name="shape-320">
            <a:extLst xmlns:a="http://schemas.openxmlformats.org/drawingml/2006/main">
              <a:ext uri="{FF2B5EF4-FFF2-40B4-BE49-F238E27FC236}">
                <a16:creationId xmlns:a16="http://schemas.microsoft.com/office/drawing/2014/main" id="{84F77C7A-CFE7-49D9-80E7-657F8386CDB0}"/>
              </a:ext>
            </a:extLst>
          </p:cNvPr>
          <p:cNvSpPr>
            <a:spLocks xmlns:a="http://schemas.openxmlformats.org/drawingml/2006/main" noGrp="1"/>
          </p:cNvSpPr>
          <p:nvPr/>
        </p:nvSpPr>
        <p:spPr>
          <a:xfrm xmlns:a="http://schemas.openxmlformats.org/drawingml/2006/main">
            <a:off x="4362450" y="3571875"/>
            <a:ext cx="3467100" cy="1628775"/>
          </a:xfrm>
          <a:prstGeom xmlns:a="http://schemas.openxmlformats.org/drawingml/2006/main" prst="roundRect">
            <a:avLst>
              <a:gd name="adj" fmla="val 7018"/>
            </a:avLst>
          </a:prstGeom>
          <a:solidFill xmlns:a="http://schemas.openxmlformats.org/drawingml/2006/main">
            <a:srgbClr val="122536"/>
          </a:solidFill>
          <a:ln xmlns:a="http://schemas.openxmlformats.org/drawingml/2006/main" w="9525">
            <a:solidFill>
              <a:srgbClr val="2A4052"/>
            </a:solidFill>
            <a:prstDash val="solid"/>
          </a:ln>
        </p:spPr>
      </p:sp>
      <p:sp>
        <p:nvSpPr>
          <p:cNvPr id="19" name="shape-321">
            <a:extLst xmlns:a="http://schemas.openxmlformats.org/drawingml/2006/main">
              <a:ext uri="{FF2B5EF4-FFF2-40B4-BE49-F238E27FC236}">
                <a16:creationId xmlns:a16="http://schemas.microsoft.com/office/drawing/2014/main" id="{E7B99001-E8ED-446F-95ED-CAB7B3CB60A3}"/>
              </a:ext>
            </a:extLst>
          </p:cNvPr>
          <p:cNvSpPr>
            <a:spLocks xmlns:a="http://schemas.openxmlformats.org/drawingml/2006/main" noGrp="1"/>
          </p:cNvSpPr>
          <p:nvPr/>
        </p:nvSpPr>
        <p:spPr>
          <a:xfrm xmlns:a="http://schemas.openxmlformats.org/drawingml/2006/main">
            <a:off x="4552950" y="3752850"/>
            <a:ext cx="30861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3F7FB"/>
                </a:solidFill>
                <a:latin typeface="Liberation Sans"/>
                <a:ea typeface="Liberation Sans"/>
                <a:cs typeface="Liberation Sans"/>
              </a:defRPr>
            </a:defPPr>
          </a:lstStyle>
          <a:p xmlns:a="http://schemas.openxmlformats.org/drawingml/2006/main">
            <a:pPr algn="l">
              <a:defRPr sz="1950" b="1">
                <a:solidFill>
                  <a:srgbClr val="F3F7FB"/>
                </a:solidFill>
                <a:latin typeface="Liberation Sans"/>
                <a:ea typeface="Liberation Sans"/>
                <a:cs typeface="Liberation Sans"/>
              </a:defRPr>
            </a:pPr>
            <a:r>
              <a:rPr sz="1950" b="1">
                <a:solidFill>
                  <a:srgbClr val="F3F7FB"/>
                </a:solidFill>
                <a:latin typeface="Liberation Sans"/>
                <a:ea typeface="Liberation Sans"/>
                <a:cs typeface="Liberation Sans"/>
              </a:rPr>
              <a:t>Business Intelligence</a:t>
            </a:r>
          </a:p>
        </p:txBody>
      </p:sp>
      <p:sp>
        <p:nvSpPr>
          <p:cNvPr id="20" name="shape-322">
            <a:extLst xmlns:a="http://schemas.openxmlformats.org/drawingml/2006/main">
              <a:ext uri="{FF2B5EF4-FFF2-40B4-BE49-F238E27FC236}">
                <a16:creationId xmlns:a16="http://schemas.microsoft.com/office/drawing/2014/main" id="{7A0303EB-73CF-40ED-9AA3-6BF6F1C2FC04}"/>
              </a:ext>
            </a:extLst>
          </p:cNvPr>
          <p:cNvSpPr>
            <a:spLocks xmlns:a="http://schemas.openxmlformats.org/drawingml/2006/main" noGrp="1"/>
          </p:cNvSpPr>
          <p:nvPr/>
        </p:nvSpPr>
        <p:spPr>
          <a:xfrm xmlns:a="http://schemas.openxmlformats.org/drawingml/2006/main">
            <a:off x="4552950" y="4305300"/>
            <a:ext cx="3086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A9BBCB"/>
                </a:solidFill>
                <a:latin typeface="Liberation Sans"/>
                <a:ea typeface="Liberation Sans"/>
                <a:cs typeface="Liberation Sans"/>
              </a:defRPr>
            </a:defPPr>
          </a:lstStyle>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Power BI, KPI design</a:t>
            </a:r>
          </a:p>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Dashboarding</a:t>
            </a:r>
          </a:p>
        </p:txBody>
      </p:sp>
      <p:sp>
        <p:nvSpPr>
          <p:cNvPr id="21" name="shape-323">
            <a:extLst xmlns:a="http://schemas.openxmlformats.org/drawingml/2006/main">
              <a:ext uri="{FF2B5EF4-FFF2-40B4-BE49-F238E27FC236}">
                <a16:creationId xmlns:a16="http://schemas.microsoft.com/office/drawing/2014/main" id="{C3BC4218-D182-47C0-973E-C77546598577}"/>
              </a:ext>
            </a:extLst>
          </p:cNvPr>
          <p:cNvSpPr>
            <a:spLocks xmlns:a="http://schemas.openxmlformats.org/drawingml/2006/main" noGrp="1"/>
          </p:cNvSpPr>
          <p:nvPr/>
        </p:nvSpPr>
        <p:spPr>
          <a:xfrm xmlns:a="http://schemas.openxmlformats.org/drawingml/2006/main">
            <a:off x="8153400" y="3571875"/>
            <a:ext cx="3467100" cy="1628775"/>
          </a:xfrm>
          <a:prstGeom xmlns:a="http://schemas.openxmlformats.org/drawingml/2006/main" prst="roundRect">
            <a:avLst>
              <a:gd name="adj" fmla="val 7018"/>
            </a:avLst>
          </a:prstGeom>
          <a:solidFill xmlns:a="http://schemas.openxmlformats.org/drawingml/2006/main">
            <a:srgbClr val="122536"/>
          </a:solidFill>
          <a:ln xmlns:a="http://schemas.openxmlformats.org/drawingml/2006/main" w="9525">
            <a:solidFill>
              <a:srgbClr val="2A4052"/>
            </a:solidFill>
            <a:prstDash val="solid"/>
          </a:ln>
        </p:spPr>
      </p:sp>
      <p:sp>
        <p:nvSpPr>
          <p:cNvPr id="22" name="shape-324">
            <a:extLst xmlns:a="http://schemas.openxmlformats.org/drawingml/2006/main">
              <a:ext uri="{FF2B5EF4-FFF2-40B4-BE49-F238E27FC236}">
                <a16:creationId xmlns:a16="http://schemas.microsoft.com/office/drawing/2014/main" id="{D017EA7C-5E69-44FA-9670-9E6C3D977F52}"/>
              </a:ext>
            </a:extLst>
          </p:cNvPr>
          <p:cNvSpPr>
            <a:spLocks xmlns:a="http://schemas.openxmlformats.org/drawingml/2006/main" noGrp="1"/>
          </p:cNvSpPr>
          <p:nvPr/>
        </p:nvSpPr>
        <p:spPr>
          <a:xfrm xmlns:a="http://schemas.openxmlformats.org/drawingml/2006/main">
            <a:off x="8343900" y="3752850"/>
            <a:ext cx="30861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3F7FB"/>
                </a:solidFill>
                <a:latin typeface="Liberation Sans"/>
                <a:ea typeface="Liberation Sans"/>
                <a:cs typeface="Liberation Sans"/>
              </a:defRPr>
            </a:defPPr>
          </a:lstStyle>
          <a:p xmlns:a="http://schemas.openxmlformats.org/drawingml/2006/main">
            <a:pPr algn="l">
              <a:defRPr sz="1950" b="1">
                <a:solidFill>
                  <a:srgbClr val="F3F7FB"/>
                </a:solidFill>
                <a:latin typeface="Liberation Sans"/>
                <a:ea typeface="Liberation Sans"/>
                <a:cs typeface="Liberation Sans"/>
              </a:defRPr>
            </a:pPr>
            <a:r>
              <a:rPr sz="1950" b="1">
                <a:solidFill>
                  <a:srgbClr val="F3F7FB"/>
                </a:solidFill>
                <a:latin typeface="Liberation Sans"/>
                <a:ea typeface="Liberation Sans"/>
                <a:cs typeface="Liberation Sans"/>
              </a:rPr>
              <a:t>Engineering Practices</a:t>
            </a:r>
          </a:p>
        </p:txBody>
      </p:sp>
      <p:sp>
        <p:nvSpPr>
          <p:cNvPr id="23" name="shape-325">
            <a:extLst xmlns:a="http://schemas.openxmlformats.org/drawingml/2006/main">
              <a:ext uri="{FF2B5EF4-FFF2-40B4-BE49-F238E27FC236}">
                <a16:creationId xmlns:a16="http://schemas.microsoft.com/office/drawing/2014/main" id="{C68AE1B8-87ED-42E5-AAE8-761F9A338274}"/>
              </a:ext>
            </a:extLst>
          </p:cNvPr>
          <p:cNvSpPr>
            <a:spLocks xmlns:a="http://schemas.openxmlformats.org/drawingml/2006/main" noGrp="1"/>
          </p:cNvSpPr>
          <p:nvPr/>
        </p:nvSpPr>
        <p:spPr>
          <a:xfrm xmlns:a="http://schemas.openxmlformats.org/drawingml/2006/main">
            <a:off x="8343900" y="4305300"/>
            <a:ext cx="3086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A9BBCB"/>
                </a:solidFill>
                <a:latin typeface="Liberation Sans"/>
                <a:ea typeface="Liberation Sans"/>
                <a:cs typeface="Liberation Sans"/>
              </a:defRPr>
            </a:defPPr>
          </a:lstStyle>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WSL/Linux, Git/GitHub</a:t>
            </a:r>
          </a:p>
          <a:p xmlns:a="http://schemas.openxmlformats.org/drawingml/2006/main">
            <a:pPr algn="l">
              <a:defRPr sz="1725" b="0">
                <a:solidFill>
                  <a:srgbClr val="A9BBCB"/>
                </a:solidFill>
                <a:latin typeface="Liberation Sans"/>
                <a:ea typeface="Liberation Sans"/>
                <a:cs typeface="Liberation Sans"/>
              </a:defRPr>
            </a:pPr>
            <a:r>
              <a:rPr sz="1725" b="0">
                <a:solidFill>
                  <a:srgbClr val="A9BBCB"/>
                </a:solidFill>
                <a:latin typeface="Liberation Sans"/>
                <a:ea typeface="Liberation Sans"/>
                <a:cs typeface="Liberation Sans"/>
              </a:rPr>
              <a:t>Environment variables, debugging</a:t>
            </a:r>
          </a:p>
        </p:txBody>
      </p:sp>
      <p:sp>
        <p:nvSpPr>
          <p:cNvPr id="24" name="shape-326">
            <a:extLst xmlns:a="http://schemas.openxmlformats.org/drawingml/2006/main">
              <a:ext uri="{FF2B5EF4-FFF2-40B4-BE49-F238E27FC236}">
                <a16:creationId xmlns:a16="http://schemas.microsoft.com/office/drawing/2014/main" id="{C16A0CC5-4D2A-4C68-8F8B-F20DFE6EAB80}"/>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8DCE7"/>
                </a:solidFill>
                <a:latin typeface="Liberation Sans"/>
                <a:ea typeface="Liberation Sans"/>
                <a:cs typeface="Liberation Sans"/>
              </a:defRPr>
            </a:defPPr>
          </a:lstStyle>
          <a:p xmlns:a="http://schemas.openxmlformats.org/drawingml/2006/main">
            <a:pPr algn="l">
              <a:defRPr sz="1425" b="0">
                <a:solidFill>
                  <a:srgbClr val="48DCE7"/>
                </a:solidFill>
                <a:latin typeface="Liberation Sans"/>
                <a:ea typeface="Liberation Sans"/>
                <a:cs typeface="Liberation Sans"/>
              </a:defRPr>
            </a:pPr>
            <a:r>
              <a:rPr sz="1425" b="0">
                <a:solidFill>
                  <a:srgbClr val="48DCE7"/>
                </a:solidFill>
                <a:latin typeface="Liberation Sans"/>
                <a:ea typeface="Liberation Sans"/>
                <a:cs typeface="Liberation Sans"/>
              </a:rPr>
              <a:t>The complete analytics lifecycle: raw source data to validated business intelligence.</a:t>
            </a:r>
          </a:p>
        </p:txBody>
      </p:sp>
    </p:spTree>
    <p:extLst>
      <p:ext uri="{BB962C8B-B14F-4D97-AF65-F5344CB8AC3E}">
        <p14:creationId xmlns:p14="http://schemas.microsoft.com/office/powerpoint/2010/main" val="1713230742"/>
      </p:ext>
    </p:extLst>
  </p:cSld>
</p:sld>
</file>

<file path=ppt/slides/slide13.xml><?xml version="1.0" encoding="utf-8"?>
<p:sld xmlns:p="http://schemas.openxmlformats.org/presentationml/2006/main">
  <p:cSld>
    <p:bg>
      <p:bgPr>
        <a:solidFill xmlns:a="http://schemas.openxmlformats.org/drawingml/2006/main">
          <a:srgbClr val="091522"/>
        </a:solidFill>
      </p:bgPr>
    </p:bg>
    <p:spTree>
      <p:nvGrpSpPr>
        <p:cNvPr id="1" name=""/>
        <p:cNvGrpSpPr/>
        <p:nvPr/>
      </p:nvGrpSpPr>
      <p:grpSpPr>
        <a:xfrm xmlns:a="http://schemas.openxmlformats.org/drawingml/2006/main"/>
      </p:grpSpPr>
      <p:cxnSp>
        <p:nvCxnSpPr>
          <p:cNvPr id="45" name="">
            <a:extLst xmlns:a="http://schemas.openxmlformats.org/drawingml/2006/main">
              <a:ext uri="{FF2B5EF4-FFF2-40B4-BE49-F238E27FC236}">
                <a16:creationId xmlns:a16="http://schemas.microsoft.com/office/drawing/2014/main" id="{32154722-A178-4E19-9000-04C7CE855A68}"/>
              </a:ext>
            </a:extLst>
          </p:cNvPr>
          <p:cNvCxnSpPr>
            <a:stCxn xmlns:a="http://schemas.openxmlformats.org/drawingml/2006/main" id="25" idx="3"/>
            <a:endCxn xmlns:a="http://schemas.openxmlformats.org/drawingml/2006/main" id="34" idx="1"/>
          </p:cNvCxnSpPr>
          <p:nvPr/>
        </p:nvCxnSpPr>
        <p:spPr>
          <a:xfrm xmlns:a="http://schemas.openxmlformats.org/drawingml/2006/main">
            <a:off x="8791575" y="3952875"/>
            <a:ext cx="266700" cy="0"/>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cxnSp>
        <p:nvCxnSpPr>
          <p:cNvPr id="44" name="">
            <a:extLst xmlns:a="http://schemas.openxmlformats.org/drawingml/2006/main">
              <a:ext uri="{FF2B5EF4-FFF2-40B4-BE49-F238E27FC236}">
                <a16:creationId xmlns:a16="http://schemas.microsoft.com/office/drawing/2014/main" id="{C8900C45-9B9D-4182-83A5-64D7C80D7383}"/>
              </a:ext>
            </a:extLst>
          </p:cNvPr>
          <p:cNvCxnSpPr>
            <a:stCxn xmlns:a="http://schemas.openxmlformats.org/drawingml/2006/main" id="16" idx="3"/>
            <a:endCxn xmlns:a="http://schemas.openxmlformats.org/drawingml/2006/main" id="25" idx="1"/>
          </p:cNvCxnSpPr>
          <p:nvPr/>
        </p:nvCxnSpPr>
        <p:spPr>
          <a:xfrm xmlns:a="http://schemas.openxmlformats.org/drawingml/2006/main">
            <a:off x="5962650" y="3952875"/>
            <a:ext cx="266700" cy="0"/>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cxnSp>
        <p:nvCxnSpPr>
          <p:cNvPr id="43" name="">
            <a:extLst xmlns:a="http://schemas.openxmlformats.org/drawingml/2006/main">
              <a:ext uri="{FF2B5EF4-FFF2-40B4-BE49-F238E27FC236}">
                <a16:creationId xmlns:a16="http://schemas.microsoft.com/office/drawing/2014/main" id="{438D83E6-4994-434E-98CE-749D0249DDD4}"/>
              </a:ext>
            </a:extLst>
          </p:cNvPr>
          <p:cNvCxnSpPr>
            <a:stCxn xmlns:a="http://schemas.openxmlformats.org/drawingml/2006/main" id="7" idx="3"/>
            <a:endCxn xmlns:a="http://schemas.openxmlformats.org/drawingml/2006/main" id="16" idx="1"/>
          </p:cNvCxnSpPr>
          <p:nvPr/>
        </p:nvCxnSpPr>
        <p:spPr>
          <a:xfrm xmlns:a="http://schemas.openxmlformats.org/drawingml/2006/main">
            <a:off x="3133725" y="3952875"/>
            <a:ext cx="266700" cy="0"/>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sp>
        <p:nvSpPr>
          <p:cNvPr id="47" name="shape-327">
            <a:extLst xmlns:a="http://schemas.openxmlformats.org/drawingml/2006/main">
              <a:ext uri="{FF2B5EF4-FFF2-40B4-BE49-F238E27FC236}">
                <a16:creationId xmlns:a16="http://schemas.microsoft.com/office/drawing/2014/main" id="{6F044B77-16BF-44F2-BE00-2D288AE4D947}"/>
              </a:ext>
            </a:extLst>
          </p:cNvPr>
          <p:cNvSpPr>
            <a:spLocks xmlns:a="http://schemas.openxmlformats.org/drawingml/2006/main" noGrp="1"/>
          </p:cNvSpPr>
          <p:nvPr/>
        </p:nvSpPr>
        <p:spPr>
          <a:xfrm xmlns:a="http://schemas.openxmlformats.org/drawingml/2006/main">
            <a:off x="571500" y="333375"/>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48DCE7"/>
                </a:solidFill>
                <a:latin typeface="Liberation Sans"/>
                <a:ea typeface="Liberation Sans"/>
                <a:cs typeface="Liberation Sans"/>
              </a:defRPr>
            </a:defPPr>
          </a:lstStyle>
          <a:p xmlns:a="http://schemas.openxmlformats.org/drawingml/2006/main">
            <a:pPr algn="l">
              <a:defRPr sz="1125" b="1">
                <a:solidFill>
                  <a:srgbClr val="48DCE7"/>
                </a:solidFill>
                <a:latin typeface="Liberation Sans"/>
                <a:ea typeface="Liberation Sans"/>
                <a:cs typeface="Liberation Sans"/>
              </a:defRPr>
            </a:pPr>
            <a:r>
              <a:rPr sz="1125" b="1">
                <a:solidFill>
                  <a:srgbClr val="48DCE7"/>
                </a:solidFill>
                <a:latin typeface="Liberation Sans"/>
                <a:ea typeface="Liberation Sans"/>
                <a:cs typeface="Liberation Sans"/>
              </a:rPr>
              <a:t>FUTURE IMPROVEMENTS</a:t>
            </a:r>
          </a:p>
        </p:txBody>
      </p:sp>
      <p:sp>
        <p:nvSpPr>
          <p:cNvPr id="2" name="shape-328">
            <a:extLst xmlns:a="http://schemas.openxmlformats.org/drawingml/2006/main">
              <a:ext uri="{FF2B5EF4-FFF2-40B4-BE49-F238E27FC236}">
                <a16:creationId xmlns:a16="http://schemas.microsoft.com/office/drawing/2014/main" id="{2166011C-7D97-4502-82EE-27BAF61F30E5}"/>
              </a:ext>
            </a:extLst>
          </p:cNvPr>
          <p:cNvSpPr>
            <a:spLocks xmlns:a="http://schemas.openxmlformats.org/drawingml/2006/main" noGrp="1"/>
          </p:cNvSpPr>
          <p:nvPr/>
        </p:nvSpPr>
        <p:spPr>
          <a:xfrm xmlns:a="http://schemas.openxmlformats.org/drawingml/2006/main">
            <a:off x="571500" y="704850"/>
            <a:ext cx="110490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3F7FB"/>
                </a:solidFill>
                <a:latin typeface="Liberation Sans"/>
                <a:ea typeface="Liberation Sans"/>
                <a:cs typeface="Liberation Sans"/>
              </a:defRPr>
            </a:defPPr>
          </a:lstStyle>
          <a:p xmlns:a="http://schemas.openxmlformats.org/drawingml/2006/main">
            <a:pPr algn="l">
              <a:defRPr sz="3225" b="1">
                <a:solidFill>
                  <a:srgbClr val="F3F7FB"/>
                </a:solidFill>
                <a:latin typeface="Liberation Sans"/>
                <a:ea typeface="Liberation Sans"/>
                <a:cs typeface="Liberation Sans"/>
              </a:defRPr>
            </a:pPr>
            <a:r>
              <a:rPr sz="3225" b="1">
                <a:solidFill>
                  <a:srgbClr val="F3F7FB"/>
                </a:solidFill>
                <a:latin typeface="Liberation Sans"/>
                <a:ea typeface="Liberation Sans"/>
                <a:cs typeface="Liberation Sans"/>
              </a:rPr>
              <a:t>Next Version — Productionizing the Pipeline</a:t>
            </a:r>
          </a:p>
        </p:txBody>
      </p:sp>
      <p:sp>
        <p:nvSpPr>
          <p:cNvPr id="3" name="line-329">
            <a:extLst xmlns:a="http://schemas.openxmlformats.org/drawingml/2006/main">
              <a:ext uri="{FF2B5EF4-FFF2-40B4-BE49-F238E27FC236}">
                <a16:creationId xmlns:a16="http://schemas.microsoft.com/office/drawing/2014/main" id="{69458E1A-CFBB-4D24-8382-083BB4267715}"/>
              </a:ext>
            </a:extLst>
          </p:cNvPr>
          <p:cNvSpPr>
            <a:spLocks xmlns:a="http://schemas.openxmlformats.org/drawingml/2006/main" noGrp="1"/>
          </p:cNvSpPr>
          <p:nvPr/>
        </p:nvSpPr>
        <p:spPr>
          <a:xfrm xmlns:a="http://schemas.openxmlformats.org/drawingml/2006/main">
            <a:off x="571500" y="6353175"/>
            <a:ext cx="11049000"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4" name="shape-330">
            <a:extLst xmlns:a="http://schemas.openxmlformats.org/drawingml/2006/main">
              <a:ext uri="{FF2B5EF4-FFF2-40B4-BE49-F238E27FC236}">
                <a16:creationId xmlns:a16="http://schemas.microsoft.com/office/drawing/2014/main" id="{55183AF7-C950-4C07-8311-E6CA501E2241}"/>
              </a:ext>
            </a:extLst>
          </p:cNvPr>
          <p:cNvSpPr>
            <a:spLocks xmlns:a="http://schemas.openxmlformats.org/drawingml/2006/main" noGrp="1"/>
          </p:cNvSpPr>
          <p:nvPr/>
        </p:nvSpPr>
        <p:spPr>
          <a:xfrm xmlns:a="http://schemas.openxmlformats.org/drawingml/2006/main">
            <a:off x="5715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A9BBCB"/>
                </a:solidFill>
                <a:latin typeface="Liberation Sans"/>
                <a:ea typeface="Liberation Sans"/>
                <a:cs typeface="Liberation Sans"/>
              </a:defRPr>
            </a:defPPr>
          </a:lstStyle>
          <a:p xmlns:a="http://schemas.openxmlformats.org/drawingml/2006/main">
            <a:pPr algn="l">
              <a:defRPr sz="900" b="0">
                <a:solidFill>
                  <a:srgbClr val="A9BBCB"/>
                </a:solidFill>
                <a:latin typeface="Liberation Sans"/>
                <a:ea typeface="Liberation Sans"/>
                <a:cs typeface="Liberation Sans"/>
              </a:defRPr>
            </a:pPr>
            <a:r>
              <a:rPr sz="900" b="0">
                <a:solidFill>
                  <a:srgbClr val="A9BBCB"/>
                </a:solidFill>
                <a:latin typeface="Liberation Sans"/>
                <a:ea typeface="Liberation Sans"/>
                <a:cs typeface="Liberation Sans"/>
              </a:rPr>
              <a:t>SYNTHETIC DATA · PORTFOLIO PROJECT</a:t>
            </a:r>
          </a:p>
        </p:txBody>
      </p:sp>
      <p:sp>
        <p:nvSpPr>
          <p:cNvPr id="5" name="shape-331">
            <a:extLst xmlns:a="http://schemas.openxmlformats.org/drawingml/2006/main">
              <a:ext uri="{FF2B5EF4-FFF2-40B4-BE49-F238E27FC236}">
                <a16:creationId xmlns:a16="http://schemas.microsoft.com/office/drawing/2014/main" id="{020CFB79-8EB7-40D5-A894-F7995511436A}"/>
              </a:ext>
            </a:extLst>
          </p:cNvPr>
          <p:cNvSpPr>
            <a:spLocks xmlns:a="http://schemas.openxmlformats.org/drawingml/2006/main" noGrp="1"/>
          </p:cNvSpPr>
          <p:nvPr/>
        </p:nvSpPr>
        <p:spPr>
          <a:xfrm xmlns:a="http://schemas.openxmlformats.org/drawingml/2006/main">
            <a:off x="11144250" y="646747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9BBCB"/>
                </a:solidFill>
                <a:latin typeface="Liberation Sans"/>
                <a:ea typeface="Liberation Sans"/>
                <a:cs typeface="Liberation Sans"/>
              </a:defRPr>
            </a:defPPr>
          </a:lstStyle>
          <a:p xmlns:a="http://schemas.openxmlformats.org/drawingml/2006/main">
            <a:pPr algn="r">
              <a:defRPr sz="1275" b="0">
                <a:solidFill>
                  <a:srgbClr val="A9BBCB"/>
                </a:solidFill>
                <a:latin typeface="Liberation Sans"/>
                <a:ea typeface="Liberation Sans"/>
                <a:cs typeface="Liberation Sans"/>
              </a:defRPr>
            </a:pPr>
            <a:r>
              <a:rPr sz="1275" b="0">
                <a:solidFill>
                  <a:srgbClr val="A9BBCB"/>
                </a:solidFill>
                <a:latin typeface="Liberation Sans"/>
                <a:ea typeface="Liberation Sans"/>
                <a:cs typeface="Liberation Sans"/>
              </a:rPr>
              <a:t>13</a:t>
            </a:r>
          </a:p>
        </p:txBody>
      </p:sp>
      <p:sp>
        <p:nvSpPr>
          <p:cNvPr id="6" name="shape-332">
            <a:extLst xmlns:a="http://schemas.openxmlformats.org/drawingml/2006/main">
              <a:ext uri="{FF2B5EF4-FFF2-40B4-BE49-F238E27FC236}">
                <a16:creationId xmlns:a16="http://schemas.microsoft.com/office/drawing/2014/main" id="{7CED80B7-2B75-42E6-AAC0-02A3DC05923D}"/>
              </a:ext>
            </a:extLst>
          </p:cNvPr>
          <p:cNvSpPr>
            <a:spLocks xmlns:a="http://schemas.openxmlformats.org/drawingml/2006/main" noGrp="1"/>
          </p:cNvSpPr>
          <p:nvPr/>
        </p:nvSpPr>
        <p:spPr>
          <a:xfrm xmlns:a="http://schemas.openxmlformats.org/drawingml/2006/main">
            <a:off x="571500" y="1666875"/>
            <a:ext cx="1104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FFBF69"/>
                </a:solidFill>
                <a:latin typeface="Liberation Sans"/>
                <a:ea typeface="Liberation Sans"/>
                <a:cs typeface="Liberation Sans"/>
              </a:defRPr>
            </a:defPPr>
          </a:lstStyle>
          <a:p xmlns:a="http://schemas.openxmlformats.org/drawingml/2006/main">
            <a:pPr algn="l">
              <a:defRPr sz="1500" b="1">
                <a:solidFill>
                  <a:srgbClr val="FFBF69"/>
                </a:solidFill>
                <a:latin typeface="Liberation Sans"/>
                <a:ea typeface="Liberation Sans"/>
                <a:cs typeface="Liberation Sans"/>
              </a:defRPr>
            </a:pPr>
            <a:r>
              <a:rPr sz="1500" b="1">
                <a:solidFill>
                  <a:srgbClr val="FFBF69"/>
                </a:solidFill>
                <a:latin typeface="Liberation Sans"/>
                <a:ea typeface="Liberation Sans"/>
                <a:cs typeface="Liberation Sans"/>
              </a:rPr>
              <a:t>PROPOSED ROADMAP · FEATURES NOT YET IMPLEMENTED</a:t>
            </a:r>
          </a:p>
        </p:txBody>
      </p:sp>
      <p:sp>
        <p:nvSpPr>
          <p:cNvPr id="7" name="shape-333">
            <a:extLst xmlns:a="http://schemas.openxmlformats.org/drawingml/2006/main">
              <a:ext uri="{FF2B5EF4-FFF2-40B4-BE49-F238E27FC236}">
                <a16:creationId xmlns:a16="http://schemas.microsoft.com/office/drawing/2014/main" id="{12645B00-39B8-480F-870E-021042302573}"/>
              </a:ext>
            </a:extLst>
          </p:cNvPr>
          <p:cNvSpPr>
            <a:spLocks xmlns:a="http://schemas.openxmlformats.org/drawingml/2006/main" noGrp="1"/>
          </p:cNvSpPr>
          <p:nvPr/>
        </p:nvSpPr>
        <p:spPr>
          <a:xfrm xmlns:a="http://schemas.openxmlformats.org/drawingml/2006/main">
            <a:off x="571500" y="2333625"/>
            <a:ext cx="2562225" cy="3238500"/>
          </a:xfrm>
          <a:prstGeom xmlns:a="http://schemas.openxmlformats.org/drawingml/2006/main" prst="roundRect">
            <a:avLst>
              <a:gd name="adj" fmla="val 4461"/>
            </a:avLst>
          </a:prstGeom>
          <a:solidFill xmlns:a="http://schemas.openxmlformats.org/drawingml/2006/main">
            <a:srgbClr val="122536"/>
          </a:solidFill>
          <a:ln xmlns:a="http://schemas.openxmlformats.org/drawingml/2006/main" w="9525">
            <a:solidFill>
              <a:srgbClr val="2A4052"/>
            </a:solidFill>
            <a:prstDash val="solid"/>
          </a:ln>
        </p:spPr>
      </p:sp>
      <p:sp>
        <p:nvSpPr>
          <p:cNvPr id="8" name="shape-334">
            <a:extLst xmlns:a="http://schemas.openxmlformats.org/drawingml/2006/main">
              <a:ext uri="{FF2B5EF4-FFF2-40B4-BE49-F238E27FC236}">
                <a16:creationId xmlns:a16="http://schemas.microsoft.com/office/drawing/2014/main" id="{7FA128BA-5708-485E-9927-021F0701C559}"/>
              </a:ext>
            </a:extLst>
          </p:cNvPr>
          <p:cNvSpPr>
            <a:spLocks xmlns:a="http://schemas.openxmlformats.org/drawingml/2006/main" noGrp="1"/>
          </p:cNvSpPr>
          <p:nvPr/>
        </p:nvSpPr>
        <p:spPr>
          <a:xfrm xmlns:a="http://schemas.openxmlformats.org/drawingml/2006/main">
            <a:off x="762000" y="2514600"/>
            <a:ext cx="21812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48DCE7"/>
                </a:solidFill>
                <a:latin typeface="Liberation Sans"/>
                <a:ea typeface="Liberation Sans"/>
                <a:cs typeface="Liberation Sans"/>
              </a:defRPr>
            </a:defPPr>
          </a:lstStyle>
          <a:p xmlns:a="http://schemas.openxmlformats.org/drawingml/2006/main">
            <a:pPr algn="l">
              <a:defRPr sz="1350" b="1">
                <a:solidFill>
                  <a:srgbClr val="48DCE7"/>
                </a:solidFill>
                <a:latin typeface="Liberation Sans"/>
                <a:ea typeface="Liberation Sans"/>
                <a:cs typeface="Liberation Sans"/>
              </a:defRPr>
            </a:pPr>
            <a:r>
              <a:rPr sz="1350" b="1">
                <a:solidFill>
                  <a:srgbClr val="48DCE7"/>
                </a:solidFill>
                <a:latin typeface="Liberation Sans"/>
                <a:ea typeface="Liberation Sans"/>
                <a:cs typeface="Liberation Sans"/>
              </a:rPr>
              <a:t>PHASE 01</a:t>
            </a:r>
          </a:p>
        </p:txBody>
      </p:sp>
      <p:sp>
        <p:nvSpPr>
          <p:cNvPr id="9" name="shape-335">
            <a:extLst xmlns:a="http://schemas.openxmlformats.org/drawingml/2006/main">
              <a:ext uri="{FF2B5EF4-FFF2-40B4-BE49-F238E27FC236}">
                <a16:creationId xmlns:a16="http://schemas.microsoft.com/office/drawing/2014/main" id="{4F61FB02-84DF-4411-8966-38EA78350F42}"/>
              </a:ext>
            </a:extLst>
          </p:cNvPr>
          <p:cNvSpPr>
            <a:spLocks xmlns:a="http://schemas.openxmlformats.org/drawingml/2006/main" noGrp="1"/>
          </p:cNvSpPr>
          <p:nvPr/>
        </p:nvSpPr>
        <p:spPr>
          <a:xfrm xmlns:a="http://schemas.openxmlformats.org/drawingml/2006/main">
            <a:off x="762000" y="2952750"/>
            <a:ext cx="21812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3F7FB"/>
                </a:solidFill>
                <a:latin typeface="Liberation Sans"/>
                <a:ea typeface="Liberation Sans"/>
                <a:cs typeface="Liberation Sans"/>
              </a:defRPr>
            </a:defPPr>
          </a:lstStyle>
          <a:p xmlns:a="http://schemas.openxmlformats.org/drawingml/2006/main">
            <a:pPr algn="l">
              <a:defRPr sz="2025" b="1">
                <a:solidFill>
                  <a:srgbClr val="F3F7FB"/>
                </a:solidFill>
                <a:latin typeface="Liberation Sans"/>
                <a:ea typeface="Liberation Sans"/>
                <a:cs typeface="Liberation Sans"/>
              </a:defRPr>
            </a:pPr>
            <a:r>
              <a:rPr sz="2025" b="1">
                <a:solidFill>
                  <a:srgbClr val="F3F7FB"/>
                </a:solidFill>
                <a:latin typeface="Liberation Sans"/>
                <a:ea typeface="Liberation Sans"/>
                <a:cs typeface="Liberation Sans"/>
              </a:rPr>
              <a:t>Reliable execution</a:t>
            </a:r>
          </a:p>
        </p:txBody>
      </p:sp>
      <p:sp>
        <p:nvSpPr>
          <p:cNvPr id="10" name="line-336">
            <a:extLst xmlns:a="http://schemas.openxmlformats.org/drawingml/2006/main">
              <a:ext uri="{FF2B5EF4-FFF2-40B4-BE49-F238E27FC236}">
                <a16:creationId xmlns:a16="http://schemas.microsoft.com/office/drawing/2014/main" id="{057370B2-9961-4956-B574-5BF0F1797FDA}"/>
              </a:ext>
            </a:extLst>
          </p:cNvPr>
          <p:cNvSpPr>
            <a:spLocks xmlns:a="http://schemas.openxmlformats.org/drawingml/2006/main" noGrp="1"/>
          </p:cNvSpPr>
          <p:nvPr/>
        </p:nvSpPr>
        <p:spPr>
          <a:xfrm xmlns:a="http://schemas.openxmlformats.org/drawingml/2006/main">
            <a:off x="762000" y="3790950"/>
            <a:ext cx="2181225"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11" name="shape-337">
            <a:extLst xmlns:a="http://schemas.openxmlformats.org/drawingml/2006/main">
              <a:ext uri="{FF2B5EF4-FFF2-40B4-BE49-F238E27FC236}">
                <a16:creationId xmlns:a16="http://schemas.microsoft.com/office/drawing/2014/main" id="{E2F2C73A-1389-427E-A1CF-5E3105E577FE}"/>
              </a:ext>
            </a:extLst>
          </p:cNvPr>
          <p:cNvSpPr>
            <a:spLocks xmlns:a="http://schemas.openxmlformats.org/drawingml/2006/main" noGrp="1"/>
          </p:cNvSpPr>
          <p:nvPr/>
        </p:nvSpPr>
        <p:spPr>
          <a:xfrm xmlns:a="http://schemas.openxmlformats.org/drawingml/2006/main">
            <a:off x="762000" y="3905250"/>
            <a:ext cx="21812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A9BBCB"/>
                </a:solidFill>
                <a:latin typeface="Liberation Sans"/>
                <a:ea typeface="Liberation Sans"/>
                <a:cs typeface="Liberation Sans"/>
              </a:defRPr>
            </a:defPPr>
          </a:lstStyle>
          <a:p xmlns:a="http://schemas.openxmlformats.org/drawingml/2006/main">
            <a:pPr algn="l">
              <a:defRPr sz="1650" b="0">
                <a:solidFill>
                  <a:srgbClr val="A9BBCB"/>
                </a:solidFill>
                <a:latin typeface="Liberation Sans"/>
                <a:ea typeface="Liberation Sans"/>
                <a:cs typeface="Liberation Sans"/>
              </a:defRPr>
            </a:pPr>
            <a:r>
              <a:rPr sz="1650" b="0">
                <a:solidFill>
                  <a:srgbClr val="A9BBCB"/>
                </a:solidFill>
                <a:latin typeface="Liberation Sans"/>
                <a:ea typeface="Liberation Sans"/>
                <a:cs typeface="Liberation Sans"/>
              </a:rPr>
              <a:t>Automated scheduling</a:t>
            </a:r>
          </a:p>
        </p:txBody>
      </p:sp>
      <p:sp>
        <p:nvSpPr>
          <p:cNvPr id="12" name="line-338">
            <a:extLst xmlns:a="http://schemas.openxmlformats.org/drawingml/2006/main">
              <a:ext uri="{FF2B5EF4-FFF2-40B4-BE49-F238E27FC236}">
                <a16:creationId xmlns:a16="http://schemas.microsoft.com/office/drawing/2014/main" id="{F89D9681-580D-4D49-AA24-5997F00614F8}"/>
              </a:ext>
            </a:extLst>
          </p:cNvPr>
          <p:cNvSpPr>
            <a:spLocks xmlns:a="http://schemas.openxmlformats.org/drawingml/2006/main" noGrp="1"/>
          </p:cNvSpPr>
          <p:nvPr/>
        </p:nvSpPr>
        <p:spPr>
          <a:xfrm xmlns:a="http://schemas.openxmlformats.org/drawingml/2006/main">
            <a:off x="762000" y="4438650"/>
            <a:ext cx="2181225"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13" name="shape-339">
            <a:extLst xmlns:a="http://schemas.openxmlformats.org/drawingml/2006/main">
              <a:ext uri="{FF2B5EF4-FFF2-40B4-BE49-F238E27FC236}">
                <a16:creationId xmlns:a16="http://schemas.microsoft.com/office/drawing/2014/main" id="{030270E7-49F7-48B9-96D6-272C7D91BFA0}"/>
              </a:ext>
            </a:extLst>
          </p:cNvPr>
          <p:cNvSpPr>
            <a:spLocks xmlns:a="http://schemas.openxmlformats.org/drawingml/2006/main" noGrp="1"/>
          </p:cNvSpPr>
          <p:nvPr/>
        </p:nvSpPr>
        <p:spPr>
          <a:xfrm xmlns:a="http://schemas.openxmlformats.org/drawingml/2006/main">
            <a:off x="762000" y="4552950"/>
            <a:ext cx="21812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A9BBCB"/>
                </a:solidFill>
                <a:latin typeface="Liberation Sans"/>
                <a:ea typeface="Liberation Sans"/>
                <a:cs typeface="Liberation Sans"/>
              </a:defRPr>
            </a:defPPr>
          </a:lstStyle>
          <a:p xmlns:a="http://schemas.openxmlformats.org/drawingml/2006/main">
            <a:pPr algn="l">
              <a:defRPr sz="1650" b="0">
                <a:solidFill>
                  <a:srgbClr val="A9BBCB"/>
                </a:solidFill>
                <a:latin typeface="Liberation Sans"/>
                <a:ea typeface="Liberation Sans"/>
                <a:cs typeface="Liberation Sans"/>
              </a:defRPr>
            </a:pPr>
            <a:r>
              <a:rPr sz="1650" b="0">
                <a:solidFill>
                  <a:srgbClr val="A9BBCB"/>
                </a:solidFill>
                <a:latin typeface="Liberation Sans"/>
                <a:ea typeface="Liberation Sans"/>
                <a:cs typeface="Liberation Sans"/>
              </a:rPr>
              <a:t>Retry logic</a:t>
            </a:r>
          </a:p>
        </p:txBody>
      </p:sp>
      <p:sp>
        <p:nvSpPr>
          <p:cNvPr id="14" name="line-340">
            <a:extLst xmlns:a="http://schemas.openxmlformats.org/drawingml/2006/main">
              <a:ext uri="{FF2B5EF4-FFF2-40B4-BE49-F238E27FC236}">
                <a16:creationId xmlns:a16="http://schemas.microsoft.com/office/drawing/2014/main" id="{7800F2AE-14A0-414C-BA1A-8C47581CEB02}"/>
              </a:ext>
            </a:extLst>
          </p:cNvPr>
          <p:cNvSpPr>
            <a:spLocks xmlns:a="http://schemas.openxmlformats.org/drawingml/2006/main" noGrp="1"/>
          </p:cNvSpPr>
          <p:nvPr/>
        </p:nvSpPr>
        <p:spPr>
          <a:xfrm xmlns:a="http://schemas.openxmlformats.org/drawingml/2006/main">
            <a:off x="762000" y="5086350"/>
            <a:ext cx="2181225"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15" name="shape-341">
            <a:extLst xmlns:a="http://schemas.openxmlformats.org/drawingml/2006/main">
              <a:ext uri="{FF2B5EF4-FFF2-40B4-BE49-F238E27FC236}">
                <a16:creationId xmlns:a16="http://schemas.microsoft.com/office/drawing/2014/main" id="{26FCBFD0-4ED1-49B5-A93D-4A99220EB622}"/>
              </a:ext>
            </a:extLst>
          </p:cNvPr>
          <p:cNvSpPr>
            <a:spLocks xmlns:a="http://schemas.openxmlformats.org/drawingml/2006/main" noGrp="1"/>
          </p:cNvSpPr>
          <p:nvPr/>
        </p:nvSpPr>
        <p:spPr>
          <a:xfrm xmlns:a="http://schemas.openxmlformats.org/drawingml/2006/main">
            <a:off x="762000" y="5200650"/>
            <a:ext cx="21812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A9BBCB"/>
                </a:solidFill>
                <a:latin typeface="Liberation Sans"/>
                <a:ea typeface="Liberation Sans"/>
                <a:cs typeface="Liberation Sans"/>
              </a:defRPr>
            </a:defPPr>
          </a:lstStyle>
          <a:p xmlns:a="http://schemas.openxmlformats.org/drawingml/2006/main">
            <a:pPr algn="l">
              <a:defRPr sz="1650" b="0">
                <a:solidFill>
                  <a:srgbClr val="A9BBCB"/>
                </a:solidFill>
                <a:latin typeface="Liberation Sans"/>
                <a:ea typeface="Liberation Sans"/>
                <a:cs typeface="Liberation Sans"/>
              </a:defRPr>
            </a:pPr>
            <a:r>
              <a:rPr sz="1650" b="0">
                <a:solidFill>
                  <a:srgbClr val="A9BBCB"/>
                </a:solidFill>
                <a:latin typeface="Liberation Sans"/>
                <a:ea typeface="Liberation Sans"/>
                <a:cs typeface="Liberation Sans"/>
              </a:rPr>
              <a:t>Failure alerts</a:t>
            </a:r>
          </a:p>
        </p:txBody>
      </p:sp>
      <p:sp>
        <p:nvSpPr>
          <p:cNvPr id="16" name="shape-342">
            <a:extLst xmlns:a="http://schemas.openxmlformats.org/drawingml/2006/main">
              <a:ext uri="{FF2B5EF4-FFF2-40B4-BE49-F238E27FC236}">
                <a16:creationId xmlns:a16="http://schemas.microsoft.com/office/drawing/2014/main" id="{ECF09A19-8882-4248-9D51-851EB68B2808}"/>
              </a:ext>
            </a:extLst>
          </p:cNvPr>
          <p:cNvSpPr>
            <a:spLocks xmlns:a="http://schemas.openxmlformats.org/drawingml/2006/main" noGrp="1"/>
          </p:cNvSpPr>
          <p:nvPr/>
        </p:nvSpPr>
        <p:spPr>
          <a:xfrm xmlns:a="http://schemas.openxmlformats.org/drawingml/2006/main">
            <a:off x="3400425" y="2333625"/>
            <a:ext cx="2562225" cy="3238500"/>
          </a:xfrm>
          <a:prstGeom xmlns:a="http://schemas.openxmlformats.org/drawingml/2006/main" prst="roundRect">
            <a:avLst>
              <a:gd name="adj" fmla="val 4461"/>
            </a:avLst>
          </a:prstGeom>
          <a:solidFill xmlns:a="http://schemas.openxmlformats.org/drawingml/2006/main">
            <a:srgbClr val="122536"/>
          </a:solidFill>
          <a:ln xmlns:a="http://schemas.openxmlformats.org/drawingml/2006/main" w="9525">
            <a:solidFill>
              <a:srgbClr val="2A4052"/>
            </a:solidFill>
            <a:prstDash val="solid"/>
          </a:ln>
        </p:spPr>
      </p:sp>
      <p:sp>
        <p:nvSpPr>
          <p:cNvPr id="17" name="shape-343">
            <a:extLst xmlns:a="http://schemas.openxmlformats.org/drawingml/2006/main">
              <a:ext uri="{FF2B5EF4-FFF2-40B4-BE49-F238E27FC236}">
                <a16:creationId xmlns:a16="http://schemas.microsoft.com/office/drawing/2014/main" id="{8DCD0B6C-C240-4D6D-983E-365B979595BE}"/>
              </a:ext>
            </a:extLst>
          </p:cNvPr>
          <p:cNvSpPr>
            <a:spLocks xmlns:a="http://schemas.openxmlformats.org/drawingml/2006/main" noGrp="1"/>
          </p:cNvSpPr>
          <p:nvPr/>
        </p:nvSpPr>
        <p:spPr>
          <a:xfrm xmlns:a="http://schemas.openxmlformats.org/drawingml/2006/main">
            <a:off x="3590925" y="2514600"/>
            <a:ext cx="21812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48DCE7"/>
                </a:solidFill>
                <a:latin typeface="Liberation Sans"/>
                <a:ea typeface="Liberation Sans"/>
                <a:cs typeface="Liberation Sans"/>
              </a:defRPr>
            </a:defPPr>
          </a:lstStyle>
          <a:p xmlns:a="http://schemas.openxmlformats.org/drawingml/2006/main">
            <a:pPr algn="l">
              <a:defRPr sz="1350" b="1">
                <a:solidFill>
                  <a:srgbClr val="48DCE7"/>
                </a:solidFill>
                <a:latin typeface="Liberation Sans"/>
                <a:ea typeface="Liberation Sans"/>
                <a:cs typeface="Liberation Sans"/>
              </a:defRPr>
            </a:pPr>
            <a:r>
              <a:rPr sz="1350" b="1">
                <a:solidFill>
                  <a:srgbClr val="48DCE7"/>
                </a:solidFill>
                <a:latin typeface="Liberation Sans"/>
                <a:ea typeface="Liberation Sans"/>
                <a:cs typeface="Liberation Sans"/>
              </a:rPr>
              <a:t>PHASE 02</a:t>
            </a:r>
          </a:p>
        </p:txBody>
      </p:sp>
      <p:sp>
        <p:nvSpPr>
          <p:cNvPr id="18" name="shape-344">
            <a:extLst xmlns:a="http://schemas.openxmlformats.org/drawingml/2006/main">
              <a:ext uri="{FF2B5EF4-FFF2-40B4-BE49-F238E27FC236}">
                <a16:creationId xmlns:a16="http://schemas.microsoft.com/office/drawing/2014/main" id="{42F599B2-1124-45F6-AABE-A7F08C0C8C97}"/>
              </a:ext>
            </a:extLst>
          </p:cNvPr>
          <p:cNvSpPr>
            <a:spLocks xmlns:a="http://schemas.openxmlformats.org/drawingml/2006/main" noGrp="1"/>
          </p:cNvSpPr>
          <p:nvPr/>
        </p:nvSpPr>
        <p:spPr>
          <a:xfrm xmlns:a="http://schemas.openxmlformats.org/drawingml/2006/main">
            <a:off x="3590925" y="2952750"/>
            <a:ext cx="21812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3F7FB"/>
                </a:solidFill>
                <a:latin typeface="Liberation Sans"/>
                <a:ea typeface="Liberation Sans"/>
                <a:cs typeface="Liberation Sans"/>
              </a:defRPr>
            </a:defPPr>
          </a:lstStyle>
          <a:p xmlns:a="http://schemas.openxmlformats.org/drawingml/2006/main">
            <a:pPr algn="l">
              <a:defRPr sz="2025" b="1">
                <a:solidFill>
                  <a:srgbClr val="F3F7FB"/>
                </a:solidFill>
                <a:latin typeface="Liberation Sans"/>
                <a:ea typeface="Liberation Sans"/>
                <a:cs typeface="Liberation Sans"/>
              </a:defRPr>
            </a:pPr>
            <a:r>
              <a:rPr sz="2025" b="1">
                <a:solidFill>
                  <a:srgbClr val="F3F7FB"/>
                </a:solidFill>
                <a:latin typeface="Liberation Sans"/>
                <a:ea typeface="Liberation Sans"/>
                <a:cs typeface="Liberation Sans"/>
              </a:rPr>
              <a:t>Scale &amp; visibility</a:t>
            </a:r>
          </a:p>
        </p:txBody>
      </p:sp>
      <p:sp>
        <p:nvSpPr>
          <p:cNvPr id="19" name="line-345">
            <a:extLst xmlns:a="http://schemas.openxmlformats.org/drawingml/2006/main">
              <a:ext uri="{FF2B5EF4-FFF2-40B4-BE49-F238E27FC236}">
                <a16:creationId xmlns:a16="http://schemas.microsoft.com/office/drawing/2014/main" id="{6204C8B3-946D-40E1-8FAE-87737B6F3E93}"/>
              </a:ext>
            </a:extLst>
          </p:cNvPr>
          <p:cNvSpPr>
            <a:spLocks xmlns:a="http://schemas.openxmlformats.org/drawingml/2006/main" noGrp="1"/>
          </p:cNvSpPr>
          <p:nvPr/>
        </p:nvSpPr>
        <p:spPr>
          <a:xfrm xmlns:a="http://schemas.openxmlformats.org/drawingml/2006/main">
            <a:off x="3590925" y="3790950"/>
            <a:ext cx="2181225"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20" name="shape-346">
            <a:extLst xmlns:a="http://schemas.openxmlformats.org/drawingml/2006/main">
              <a:ext uri="{FF2B5EF4-FFF2-40B4-BE49-F238E27FC236}">
                <a16:creationId xmlns:a16="http://schemas.microsoft.com/office/drawing/2014/main" id="{20B7592C-B69B-434A-A779-5026E7E04748}"/>
              </a:ext>
            </a:extLst>
          </p:cNvPr>
          <p:cNvSpPr>
            <a:spLocks xmlns:a="http://schemas.openxmlformats.org/drawingml/2006/main" noGrp="1"/>
          </p:cNvSpPr>
          <p:nvPr/>
        </p:nvSpPr>
        <p:spPr>
          <a:xfrm xmlns:a="http://schemas.openxmlformats.org/drawingml/2006/main">
            <a:off x="3590925" y="3905250"/>
            <a:ext cx="21812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A9BBCB"/>
                </a:solidFill>
                <a:latin typeface="Liberation Sans"/>
                <a:ea typeface="Liberation Sans"/>
                <a:cs typeface="Liberation Sans"/>
              </a:defRPr>
            </a:defPPr>
          </a:lstStyle>
          <a:p xmlns:a="http://schemas.openxmlformats.org/drawingml/2006/main">
            <a:pPr algn="l">
              <a:defRPr sz="1650" b="0">
                <a:solidFill>
                  <a:srgbClr val="A9BBCB"/>
                </a:solidFill>
                <a:latin typeface="Liberation Sans"/>
                <a:ea typeface="Liberation Sans"/>
                <a:cs typeface="Liberation Sans"/>
              </a:defRPr>
            </a:pPr>
            <a:r>
              <a:rPr sz="1650" b="0">
                <a:solidFill>
                  <a:srgbClr val="A9BBCB"/>
                </a:solidFill>
                <a:latin typeface="Liberation Sans"/>
                <a:ea typeface="Liberation Sans"/>
                <a:cs typeface="Liberation Sans"/>
              </a:rPr>
              <a:t>Incremental dbt models</a:t>
            </a:r>
          </a:p>
        </p:txBody>
      </p:sp>
      <p:sp>
        <p:nvSpPr>
          <p:cNvPr id="21" name="line-347">
            <a:extLst xmlns:a="http://schemas.openxmlformats.org/drawingml/2006/main">
              <a:ext uri="{FF2B5EF4-FFF2-40B4-BE49-F238E27FC236}">
                <a16:creationId xmlns:a16="http://schemas.microsoft.com/office/drawing/2014/main" id="{9C8126FD-0577-445E-B003-EA854C357965}"/>
              </a:ext>
            </a:extLst>
          </p:cNvPr>
          <p:cNvSpPr>
            <a:spLocks xmlns:a="http://schemas.openxmlformats.org/drawingml/2006/main" noGrp="1"/>
          </p:cNvSpPr>
          <p:nvPr/>
        </p:nvSpPr>
        <p:spPr>
          <a:xfrm xmlns:a="http://schemas.openxmlformats.org/drawingml/2006/main">
            <a:off x="3590925" y="4438650"/>
            <a:ext cx="2181225"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22" name="shape-348">
            <a:extLst xmlns:a="http://schemas.openxmlformats.org/drawingml/2006/main">
              <a:ext uri="{FF2B5EF4-FFF2-40B4-BE49-F238E27FC236}">
                <a16:creationId xmlns:a16="http://schemas.microsoft.com/office/drawing/2014/main" id="{CCD697A4-3F8E-4CC6-8AB5-C0CCE4349B12}"/>
              </a:ext>
            </a:extLst>
          </p:cNvPr>
          <p:cNvSpPr>
            <a:spLocks xmlns:a="http://schemas.openxmlformats.org/drawingml/2006/main" noGrp="1"/>
          </p:cNvSpPr>
          <p:nvPr/>
        </p:nvSpPr>
        <p:spPr>
          <a:xfrm xmlns:a="http://schemas.openxmlformats.org/drawingml/2006/main">
            <a:off x="3590925" y="4552950"/>
            <a:ext cx="21812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A9BBCB"/>
                </a:solidFill>
                <a:latin typeface="Liberation Sans"/>
                <a:ea typeface="Liberation Sans"/>
                <a:cs typeface="Liberation Sans"/>
              </a:defRPr>
            </a:defPPr>
          </a:lstStyle>
          <a:p xmlns:a="http://schemas.openxmlformats.org/drawingml/2006/main">
            <a:pPr algn="l">
              <a:defRPr sz="1650" b="0">
                <a:solidFill>
                  <a:srgbClr val="A9BBCB"/>
                </a:solidFill>
                <a:latin typeface="Liberation Sans"/>
                <a:ea typeface="Liberation Sans"/>
                <a:cs typeface="Liberation Sans"/>
              </a:defRPr>
            </a:pPr>
            <a:r>
              <a:rPr sz="1650" b="0">
                <a:solidFill>
                  <a:srgbClr val="A9BBCB"/>
                </a:solidFill>
                <a:latin typeface="Liberation Sans"/>
                <a:ea typeface="Liberation Sans"/>
                <a:cs typeface="Liberation Sans"/>
              </a:rPr>
              <a:t>Data-quality monitoring</a:t>
            </a:r>
          </a:p>
        </p:txBody>
      </p:sp>
      <p:sp>
        <p:nvSpPr>
          <p:cNvPr id="23" name="line-349">
            <a:extLst xmlns:a="http://schemas.openxmlformats.org/drawingml/2006/main">
              <a:ext uri="{FF2B5EF4-FFF2-40B4-BE49-F238E27FC236}">
                <a16:creationId xmlns:a16="http://schemas.microsoft.com/office/drawing/2014/main" id="{1FE11442-116D-4AA8-8F05-007AC1DFDE5C}"/>
              </a:ext>
            </a:extLst>
          </p:cNvPr>
          <p:cNvSpPr>
            <a:spLocks xmlns:a="http://schemas.openxmlformats.org/drawingml/2006/main" noGrp="1"/>
          </p:cNvSpPr>
          <p:nvPr/>
        </p:nvSpPr>
        <p:spPr>
          <a:xfrm xmlns:a="http://schemas.openxmlformats.org/drawingml/2006/main">
            <a:off x="3590925" y="5086350"/>
            <a:ext cx="2181225"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24" name="shape-350">
            <a:extLst xmlns:a="http://schemas.openxmlformats.org/drawingml/2006/main">
              <a:ext uri="{FF2B5EF4-FFF2-40B4-BE49-F238E27FC236}">
                <a16:creationId xmlns:a16="http://schemas.microsoft.com/office/drawing/2014/main" id="{4BDE5A24-149E-438F-841E-BA5E2156F40C}"/>
              </a:ext>
            </a:extLst>
          </p:cNvPr>
          <p:cNvSpPr>
            <a:spLocks xmlns:a="http://schemas.openxmlformats.org/drawingml/2006/main" noGrp="1"/>
          </p:cNvSpPr>
          <p:nvPr/>
        </p:nvSpPr>
        <p:spPr>
          <a:xfrm xmlns:a="http://schemas.openxmlformats.org/drawingml/2006/main">
            <a:off x="3590925" y="5200650"/>
            <a:ext cx="21812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A9BBCB"/>
                </a:solidFill>
                <a:latin typeface="Liberation Sans"/>
                <a:ea typeface="Liberation Sans"/>
                <a:cs typeface="Liberation Sans"/>
              </a:defRPr>
            </a:defPPr>
          </a:lstStyle>
          <a:p xmlns:a="http://schemas.openxmlformats.org/drawingml/2006/main">
            <a:pPr algn="l">
              <a:defRPr sz="1650" b="0">
                <a:solidFill>
                  <a:srgbClr val="A9BBCB"/>
                </a:solidFill>
                <a:latin typeface="Liberation Sans"/>
                <a:ea typeface="Liberation Sans"/>
                <a:cs typeface="Liberation Sans"/>
              </a:defRPr>
            </a:pPr>
            <a:r>
              <a:rPr sz="1650" b="0">
                <a:solidFill>
                  <a:srgbClr val="A9BBCB"/>
                </a:solidFill>
                <a:latin typeface="Liberation Sans"/>
                <a:ea typeface="Liberation Sans"/>
                <a:cs typeface="Liberation Sans"/>
              </a:rPr>
              <a:t>Power BI drill-through</a:t>
            </a:r>
          </a:p>
        </p:txBody>
      </p:sp>
      <p:sp>
        <p:nvSpPr>
          <p:cNvPr id="25" name="shape-351">
            <a:extLst xmlns:a="http://schemas.openxmlformats.org/drawingml/2006/main">
              <a:ext uri="{FF2B5EF4-FFF2-40B4-BE49-F238E27FC236}">
                <a16:creationId xmlns:a16="http://schemas.microsoft.com/office/drawing/2014/main" id="{DB2FE49C-84BD-4B54-99DC-416849B7367C}"/>
              </a:ext>
            </a:extLst>
          </p:cNvPr>
          <p:cNvSpPr>
            <a:spLocks xmlns:a="http://schemas.openxmlformats.org/drawingml/2006/main" noGrp="1"/>
          </p:cNvSpPr>
          <p:nvPr/>
        </p:nvSpPr>
        <p:spPr>
          <a:xfrm xmlns:a="http://schemas.openxmlformats.org/drawingml/2006/main">
            <a:off x="6229350" y="2333625"/>
            <a:ext cx="2562225" cy="3238500"/>
          </a:xfrm>
          <a:prstGeom xmlns:a="http://schemas.openxmlformats.org/drawingml/2006/main" prst="roundRect">
            <a:avLst>
              <a:gd name="adj" fmla="val 4461"/>
            </a:avLst>
          </a:prstGeom>
          <a:solidFill xmlns:a="http://schemas.openxmlformats.org/drawingml/2006/main">
            <a:srgbClr val="122536"/>
          </a:solidFill>
          <a:ln xmlns:a="http://schemas.openxmlformats.org/drawingml/2006/main" w="9525">
            <a:solidFill>
              <a:srgbClr val="2A4052"/>
            </a:solidFill>
            <a:prstDash val="solid"/>
          </a:ln>
        </p:spPr>
      </p:sp>
      <p:sp>
        <p:nvSpPr>
          <p:cNvPr id="26" name="shape-352">
            <a:extLst xmlns:a="http://schemas.openxmlformats.org/drawingml/2006/main">
              <a:ext uri="{FF2B5EF4-FFF2-40B4-BE49-F238E27FC236}">
                <a16:creationId xmlns:a16="http://schemas.microsoft.com/office/drawing/2014/main" id="{5EE8BF34-3F27-46EC-B76E-85064C593FE6}"/>
              </a:ext>
            </a:extLst>
          </p:cNvPr>
          <p:cNvSpPr>
            <a:spLocks xmlns:a="http://schemas.openxmlformats.org/drawingml/2006/main" noGrp="1"/>
          </p:cNvSpPr>
          <p:nvPr/>
        </p:nvSpPr>
        <p:spPr>
          <a:xfrm xmlns:a="http://schemas.openxmlformats.org/drawingml/2006/main">
            <a:off x="6419850" y="2514600"/>
            <a:ext cx="21812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48DCE7"/>
                </a:solidFill>
                <a:latin typeface="Liberation Sans"/>
                <a:ea typeface="Liberation Sans"/>
                <a:cs typeface="Liberation Sans"/>
              </a:defRPr>
            </a:defPPr>
          </a:lstStyle>
          <a:p xmlns:a="http://schemas.openxmlformats.org/drawingml/2006/main">
            <a:pPr algn="l">
              <a:defRPr sz="1350" b="1">
                <a:solidFill>
                  <a:srgbClr val="48DCE7"/>
                </a:solidFill>
                <a:latin typeface="Liberation Sans"/>
                <a:ea typeface="Liberation Sans"/>
                <a:cs typeface="Liberation Sans"/>
              </a:defRPr>
            </a:pPr>
            <a:r>
              <a:rPr sz="1350" b="1">
                <a:solidFill>
                  <a:srgbClr val="48DCE7"/>
                </a:solidFill>
                <a:latin typeface="Liberation Sans"/>
                <a:ea typeface="Liberation Sans"/>
                <a:cs typeface="Liberation Sans"/>
              </a:rPr>
              <a:t>PHASE 03</a:t>
            </a:r>
          </a:p>
        </p:txBody>
      </p:sp>
      <p:sp>
        <p:nvSpPr>
          <p:cNvPr id="27" name="shape-353">
            <a:extLst xmlns:a="http://schemas.openxmlformats.org/drawingml/2006/main">
              <a:ext uri="{FF2B5EF4-FFF2-40B4-BE49-F238E27FC236}">
                <a16:creationId xmlns:a16="http://schemas.microsoft.com/office/drawing/2014/main" id="{6112DEFE-5C83-434E-BC73-B156AD0805D9}"/>
              </a:ext>
            </a:extLst>
          </p:cNvPr>
          <p:cNvSpPr>
            <a:spLocks xmlns:a="http://schemas.openxmlformats.org/drawingml/2006/main" noGrp="1"/>
          </p:cNvSpPr>
          <p:nvPr/>
        </p:nvSpPr>
        <p:spPr>
          <a:xfrm xmlns:a="http://schemas.openxmlformats.org/drawingml/2006/main">
            <a:off x="6419850" y="2952750"/>
            <a:ext cx="21812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3F7FB"/>
                </a:solidFill>
                <a:latin typeface="Liberation Sans"/>
                <a:ea typeface="Liberation Sans"/>
                <a:cs typeface="Liberation Sans"/>
              </a:defRPr>
            </a:defPPr>
          </a:lstStyle>
          <a:p xmlns:a="http://schemas.openxmlformats.org/drawingml/2006/main">
            <a:pPr algn="l">
              <a:defRPr sz="2025" b="1">
                <a:solidFill>
                  <a:srgbClr val="F3F7FB"/>
                </a:solidFill>
                <a:latin typeface="Liberation Sans"/>
                <a:ea typeface="Liberation Sans"/>
                <a:cs typeface="Liberation Sans"/>
              </a:defRPr>
            </a:pPr>
            <a:r>
              <a:rPr sz="2025" b="1">
                <a:solidFill>
                  <a:srgbClr val="F3F7FB"/>
                </a:solidFill>
                <a:latin typeface="Liberation Sans"/>
                <a:ea typeface="Liberation Sans"/>
                <a:cs typeface="Liberation Sans"/>
              </a:rPr>
              <a:t>Reproducible deployment</a:t>
            </a:r>
          </a:p>
        </p:txBody>
      </p:sp>
      <p:sp>
        <p:nvSpPr>
          <p:cNvPr id="28" name="line-354">
            <a:extLst xmlns:a="http://schemas.openxmlformats.org/drawingml/2006/main">
              <a:ext uri="{FF2B5EF4-FFF2-40B4-BE49-F238E27FC236}">
                <a16:creationId xmlns:a16="http://schemas.microsoft.com/office/drawing/2014/main" id="{2FD31D69-3576-4539-BBE8-7792E8483A82}"/>
              </a:ext>
            </a:extLst>
          </p:cNvPr>
          <p:cNvSpPr>
            <a:spLocks xmlns:a="http://schemas.openxmlformats.org/drawingml/2006/main" noGrp="1"/>
          </p:cNvSpPr>
          <p:nvPr/>
        </p:nvSpPr>
        <p:spPr>
          <a:xfrm xmlns:a="http://schemas.openxmlformats.org/drawingml/2006/main">
            <a:off x="6419850" y="3790950"/>
            <a:ext cx="2181225"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29" name="shape-355">
            <a:extLst xmlns:a="http://schemas.openxmlformats.org/drawingml/2006/main">
              <a:ext uri="{FF2B5EF4-FFF2-40B4-BE49-F238E27FC236}">
                <a16:creationId xmlns:a16="http://schemas.microsoft.com/office/drawing/2014/main" id="{BC54F594-EDAF-415F-8A86-5E986B9E2B21}"/>
              </a:ext>
            </a:extLst>
          </p:cNvPr>
          <p:cNvSpPr>
            <a:spLocks xmlns:a="http://schemas.openxmlformats.org/drawingml/2006/main" noGrp="1"/>
          </p:cNvSpPr>
          <p:nvPr/>
        </p:nvSpPr>
        <p:spPr>
          <a:xfrm xmlns:a="http://schemas.openxmlformats.org/drawingml/2006/main">
            <a:off x="6419850" y="3905250"/>
            <a:ext cx="21812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A9BBCB"/>
                </a:solidFill>
                <a:latin typeface="Liberation Sans"/>
                <a:ea typeface="Liberation Sans"/>
                <a:cs typeface="Liberation Sans"/>
              </a:defRPr>
            </a:defPPr>
          </a:lstStyle>
          <a:p xmlns:a="http://schemas.openxmlformats.org/drawingml/2006/main">
            <a:pPr algn="l">
              <a:defRPr sz="1650" b="0">
                <a:solidFill>
                  <a:srgbClr val="A9BBCB"/>
                </a:solidFill>
                <a:latin typeface="Liberation Sans"/>
                <a:ea typeface="Liberation Sans"/>
                <a:cs typeface="Liberation Sans"/>
              </a:defRPr>
            </a:pPr>
            <a:r>
              <a:rPr sz="1650" b="0">
                <a:solidFill>
                  <a:srgbClr val="A9BBCB"/>
                </a:solidFill>
                <a:latin typeface="Liberation Sans"/>
                <a:ea typeface="Liberation Sans"/>
                <a:cs typeface="Liberation Sans"/>
              </a:rPr>
              <a:t>Dockerization</a:t>
            </a:r>
          </a:p>
        </p:txBody>
      </p:sp>
      <p:sp>
        <p:nvSpPr>
          <p:cNvPr id="30" name="line-356">
            <a:extLst xmlns:a="http://schemas.openxmlformats.org/drawingml/2006/main">
              <a:ext uri="{FF2B5EF4-FFF2-40B4-BE49-F238E27FC236}">
                <a16:creationId xmlns:a16="http://schemas.microsoft.com/office/drawing/2014/main" id="{78FF3C52-7EE9-4986-97EE-0F7BCD09E28F}"/>
              </a:ext>
            </a:extLst>
          </p:cNvPr>
          <p:cNvSpPr>
            <a:spLocks xmlns:a="http://schemas.openxmlformats.org/drawingml/2006/main" noGrp="1"/>
          </p:cNvSpPr>
          <p:nvPr/>
        </p:nvSpPr>
        <p:spPr>
          <a:xfrm xmlns:a="http://schemas.openxmlformats.org/drawingml/2006/main">
            <a:off x="6419850" y="4438650"/>
            <a:ext cx="2181225"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31" name="shape-357">
            <a:extLst xmlns:a="http://schemas.openxmlformats.org/drawingml/2006/main">
              <a:ext uri="{FF2B5EF4-FFF2-40B4-BE49-F238E27FC236}">
                <a16:creationId xmlns:a16="http://schemas.microsoft.com/office/drawing/2014/main" id="{6D539ACC-2E08-4F01-9533-1AADEE20DEA1}"/>
              </a:ext>
            </a:extLst>
          </p:cNvPr>
          <p:cNvSpPr>
            <a:spLocks xmlns:a="http://schemas.openxmlformats.org/drawingml/2006/main" noGrp="1"/>
          </p:cNvSpPr>
          <p:nvPr/>
        </p:nvSpPr>
        <p:spPr>
          <a:xfrm xmlns:a="http://schemas.openxmlformats.org/drawingml/2006/main">
            <a:off x="6419850" y="4552950"/>
            <a:ext cx="21812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A9BBCB"/>
                </a:solidFill>
                <a:latin typeface="Liberation Sans"/>
                <a:ea typeface="Liberation Sans"/>
                <a:cs typeface="Liberation Sans"/>
              </a:defRPr>
            </a:defPPr>
          </a:lstStyle>
          <a:p xmlns:a="http://schemas.openxmlformats.org/drawingml/2006/main">
            <a:pPr algn="l">
              <a:defRPr sz="1650" b="0">
                <a:solidFill>
                  <a:srgbClr val="A9BBCB"/>
                </a:solidFill>
                <a:latin typeface="Liberation Sans"/>
                <a:ea typeface="Liberation Sans"/>
                <a:cs typeface="Liberation Sans"/>
              </a:defRPr>
            </a:pPr>
            <a:r>
              <a:rPr sz="1650" b="0">
                <a:solidFill>
                  <a:srgbClr val="A9BBCB"/>
                </a:solidFill>
                <a:latin typeface="Liberation Sans"/>
                <a:ea typeface="Liberation Sans"/>
                <a:cs typeface="Liberation Sans"/>
              </a:rPr>
              <a:t>CI/CD</a:t>
            </a:r>
          </a:p>
        </p:txBody>
      </p:sp>
      <p:sp>
        <p:nvSpPr>
          <p:cNvPr id="32" name="line-358">
            <a:extLst xmlns:a="http://schemas.openxmlformats.org/drawingml/2006/main">
              <a:ext uri="{FF2B5EF4-FFF2-40B4-BE49-F238E27FC236}">
                <a16:creationId xmlns:a16="http://schemas.microsoft.com/office/drawing/2014/main" id="{F0922B51-F9F4-4A01-A559-34F3DD030CCA}"/>
              </a:ext>
            </a:extLst>
          </p:cNvPr>
          <p:cNvSpPr>
            <a:spLocks xmlns:a="http://schemas.openxmlformats.org/drawingml/2006/main" noGrp="1"/>
          </p:cNvSpPr>
          <p:nvPr/>
        </p:nvSpPr>
        <p:spPr>
          <a:xfrm xmlns:a="http://schemas.openxmlformats.org/drawingml/2006/main">
            <a:off x="6419850" y="5086350"/>
            <a:ext cx="2181225"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33" name="shape-359">
            <a:extLst xmlns:a="http://schemas.openxmlformats.org/drawingml/2006/main">
              <a:ext uri="{FF2B5EF4-FFF2-40B4-BE49-F238E27FC236}">
                <a16:creationId xmlns:a16="http://schemas.microsoft.com/office/drawing/2014/main" id="{663A3F1E-20B5-4EF4-B01C-699C29134977}"/>
              </a:ext>
            </a:extLst>
          </p:cNvPr>
          <p:cNvSpPr>
            <a:spLocks xmlns:a="http://schemas.openxmlformats.org/drawingml/2006/main" noGrp="1"/>
          </p:cNvSpPr>
          <p:nvPr/>
        </p:nvSpPr>
        <p:spPr>
          <a:xfrm xmlns:a="http://schemas.openxmlformats.org/drawingml/2006/main">
            <a:off x="6419850" y="5200650"/>
            <a:ext cx="21812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A9BBCB"/>
                </a:solidFill>
                <a:latin typeface="Liberation Sans"/>
                <a:ea typeface="Liberation Sans"/>
                <a:cs typeface="Liberation Sans"/>
              </a:defRPr>
            </a:defPPr>
          </a:lstStyle>
          <a:p xmlns:a="http://schemas.openxmlformats.org/drawingml/2006/main">
            <a:pPr algn="l">
              <a:defRPr sz="1650" b="0">
                <a:solidFill>
                  <a:srgbClr val="A9BBCB"/>
                </a:solidFill>
                <a:latin typeface="Liberation Sans"/>
                <a:ea typeface="Liberation Sans"/>
                <a:cs typeface="Liberation Sans"/>
              </a:defRPr>
            </a:pPr>
            <a:r>
              <a:rPr sz="1650" b="0">
                <a:solidFill>
                  <a:srgbClr val="A9BBCB"/>
                </a:solidFill>
                <a:latin typeface="Liberation Sans"/>
                <a:ea typeface="Liberation Sans"/>
                <a:cs typeface="Liberation Sans"/>
              </a:rPr>
              <a:t>Cloud deployment</a:t>
            </a:r>
          </a:p>
        </p:txBody>
      </p:sp>
      <p:sp>
        <p:nvSpPr>
          <p:cNvPr id="34" name="shape-360">
            <a:extLst xmlns:a="http://schemas.openxmlformats.org/drawingml/2006/main">
              <a:ext uri="{FF2B5EF4-FFF2-40B4-BE49-F238E27FC236}">
                <a16:creationId xmlns:a16="http://schemas.microsoft.com/office/drawing/2014/main" id="{A4F29295-9D89-4540-A2F5-DB5B5B46D8E0}"/>
              </a:ext>
            </a:extLst>
          </p:cNvPr>
          <p:cNvSpPr>
            <a:spLocks xmlns:a="http://schemas.openxmlformats.org/drawingml/2006/main" noGrp="1"/>
          </p:cNvSpPr>
          <p:nvPr/>
        </p:nvSpPr>
        <p:spPr>
          <a:xfrm xmlns:a="http://schemas.openxmlformats.org/drawingml/2006/main">
            <a:off x="9058275" y="2333625"/>
            <a:ext cx="2562225" cy="3238500"/>
          </a:xfrm>
          <a:prstGeom xmlns:a="http://schemas.openxmlformats.org/drawingml/2006/main" prst="roundRect">
            <a:avLst>
              <a:gd name="adj" fmla="val 4461"/>
            </a:avLst>
          </a:prstGeom>
          <a:solidFill xmlns:a="http://schemas.openxmlformats.org/drawingml/2006/main">
            <a:srgbClr val="122536"/>
          </a:solidFill>
          <a:ln xmlns:a="http://schemas.openxmlformats.org/drawingml/2006/main" w="9525">
            <a:solidFill>
              <a:srgbClr val="2A4052"/>
            </a:solidFill>
            <a:prstDash val="solid"/>
          </a:ln>
        </p:spPr>
      </p:sp>
      <p:sp>
        <p:nvSpPr>
          <p:cNvPr id="35" name="shape-361">
            <a:extLst xmlns:a="http://schemas.openxmlformats.org/drawingml/2006/main">
              <a:ext uri="{FF2B5EF4-FFF2-40B4-BE49-F238E27FC236}">
                <a16:creationId xmlns:a16="http://schemas.microsoft.com/office/drawing/2014/main" id="{932B7405-C3E9-4B69-8DDF-F97ED4D60A0A}"/>
              </a:ext>
            </a:extLst>
          </p:cNvPr>
          <p:cNvSpPr>
            <a:spLocks xmlns:a="http://schemas.openxmlformats.org/drawingml/2006/main" noGrp="1"/>
          </p:cNvSpPr>
          <p:nvPr/>
        </p:nvSpPr>
        <p:spPr>
          <a:xfrm xmlns:a="http://schemas.openxmlformats.org/drawingml/2006/main">
            <a:off x="9248775" y="2514600"/>
            <a:ext cx="21812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48DCE7"/>
                </a:solidFill>
                <a:latin typeface="Liberation Sans"/>
                <a:ea typeface="Liberation Sans"/>
                <a:cs typeface="Liberation Sans"/>
              </a:defRPr>
            </a:defPPr>
          </a:lstStyle>
          <a:p xmlns:a="http://schemas.openxmlformats.org/drawingml/2006/main">
            <a:pPr algn="l">
              <a:defRPr sz="1350" b="1">
                <a:solidFill>
                  <a:srgbClr val="48DCE7"/>
                </a:solidFill>
                <a:latin typeface="Liberation Sans"/>
                <a:ea typeface="Liberation Sans"/>
                <a:cs typeface="Liberation Sans"/>
              </a:defRPr>
            </a:pPr>
            <a:r>
              <a:rPr sz="1350" b="1">
                <a:solidFill>
                  <a:srgbClr val="48DCE7"/>
                </a:solidFill>
                <a:latin typeface="Liberation Sans"/>
                <a:ea typeface="Liberation Sans"/>
                <a:cs typeface="Liberation Sans"/>
              </a:rPr>
              <a:t>PHASE 04</a:t>
            </a:r>
          </a:p>
        </p:txBody>
      </p:sp>
      <p:sp>
        <p:nvSpPr>
          <p:cNvPr id="36" name="shape-362">
            <a:extLst xmlns:a="http://schemas.openxmlformats.org/drawingml/2006/main">
              <a:ext uri="{FF2B5EF4-FFF2-40B4-BE49-F238E27FC236}">
                <a16:creationId xmlns:a16="http://schemas.microsoft.com/office/drawing/2014/main" id="{D07C46E8-299C-4F58-9D61-1EB876EFA5AC}"/>
              </a:ext>
            </a:extLst>
          </p:cNvPr>
          <p:cNvSpPr>
            <a:spLocks xmlns:a="http://schemas.openxmlformats.org/drawingml/2006/main" noGrp="1"/>
          </p:cNvSpPr>
          <p:nvPr/>
        </p:nvSpPr>
        <p:spPr>
          <a:xfrm xmlns:a="http://schemas.openxmlformats.org/drawingml/2006/main">
            <a:off x="9248775" y="2952750"/>
            <a:ext cx="21812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3F7FB"/>
                </a:solidFill>
                <a:latin typeface="Liberation Sans"/>
                <a:ea typeface="Liberation Sans"/>
                <a:cs typeface="Liberation Sans"/>
              </a:defRPr>
            </a:defPPr>
          </a:lstStyle>
          <a:p xmlns:a="http://schemas.openxmlformats.org/drawingml/2006/main">
            <a:pPr algn="l">
              <a:defRPr sz="2025" b="1">
                <a:solidFill>
                  <a:srgbClr val="F3F7FB"/>
                </a:solidFill>
                <a:latin typeface="Liberation Sans"/>
                <a:ea typeface="Liberation Sans"/>
                <a:cs typeface="Liberation Sans"/>
              </a:defRPr>
            </a:pPr>
            <a:r>
              <a:rPr sz="2025" b="1">
                <a:solidFill>
                  <a:srgbClr val="F3F7FB"/>
                </a:solidFill>
                <a:latin typeface="Liberation Sans"/>
                <a:ea typeface="Liberation Sans"/>
                <a:cs typeface="Liberation Sans"/>
              </a:rPr>
              <a:t>Deeper analytics</a:t>
            </a:r>
          </a:p>
        </p:txBody>
      </p:sp>
      <p:sp>
        <p:nvSpPr>
          <p:cNvPr id="37" name="line-363">
            <a:extLst xmlns:a="http://schemas.openxmlformats.org/drawingml/2006/main">
              <a:ext uri="{FF2B5EF4-FFF2-40B4-BE49-F238E27FC236}">
                <a16:creationId xmlns:a16="http://schemas.microsoft.com/office/drawing/2014/main" id="{EC2EB4A6-E754-4DAA-BA8F-F3F74E5BD5BB}"/>
              </a:ext>
            </a:extLst>
          </p:cNvPr>
          <p:cNvSpPr>
            <a:spLocks xmlns:a="http://schemas.openxmlformats.org/drawingml/2006/main" noGrp="1"/>
          </p:cNvSpPr>
          <p:nvPr/>
        </p:nvSpPr>
        <p:spPr>
          <a:xfrm xmlns:a="http://schemas.openxmlformats.org/drawingml/2006/main">
            <a:off x="9248775" y="3790950"/>
            <a:ext cx="2181225"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38" name="shape-364">
            <a:extLst xmlns:a="http://schemas.openxmlformats.org/drawingml/2006/main">
              <a:ext uri="{FF2B5EF4-FFF2-40B4-BE49-F238E27FC236}">
                <a16:creationId xmlns:a16="http://schemas.microsoft.com/office/drawing/2014/main" id="{2D5599D3-4392-4C9C-8AAB-76AB4A26F208}"/>
              </a:ext>
            </a:extLst>
          </p:cNvPr>
          <p:cNvSpPr>
            <a:spLocks xmlns:a="http://schemas.openxmlformats.org/drawingml/2006/main" noGrp="1"/>
          </p:cNvSpPr>
          <p:nvPr/>
        </p:nvSpPr>
        <p:spPr>
          <a:xfrm xmlns:a="http://schemas.openxmlformats.org/drawingml/2006/main">
            <a:off x="9248775" y="3905250"/>
            <a:ext cx="21812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A9BBCB"/>
                </a:solidFill>
                <a:latin typeface="Liberation Sans"/>
                <a:ea typeface="Liberation Sans"/>
                <a:cs typeface="Liberation Sans"/>
              </a:defRPr>
            </a:defPPr>
          </a:lstStyle>
          <a:p xmlns:a="http://schemas.openxmlformats.org/drawingml/2006/main">
            <a:pPr algn="l">
              <a:defRPr sz="1650" b="0">
                <a:solidFill>
                  <a:srgbClr val="A9BBCB"/>
                </a:solidFill>
                <a:latin typeface="Liberation Sans"/>
                <a:ea typeface="Liberation Sans"/>
                <a:cs typeface="Liberation Sans"/>
              </a:defRPr>
            </a:pPr>
            <a:r>
              <a:rPr sz="1650" b="0">
                <a:solidFill>
                  <a:srgbClr val="A9BBCB"/>
                </a:solidFill>
                <a:latin typeface="Liberation Sans"/>
                <a:ea typeface="Liberation Sans"/>
                <a:cs typeface="Liberation Sans"/>
              </a:rPr>
              <a:t>Merchant analytics</a:t>
            </a:r>
          </a:p>
        </p:txBody>
      </p:sp>
      <p:sp>
        <p:nvSpPr>
          <p:cNvPr id="39" name="line-365">
            <a:extLst xmlns:a="http://schemas.openxmlformats.org/drawingml/2006/main">
              <a:ext uri="{FF2B5EF4-FFF2-40B4-BE49-F238E27FC236}">
                <a16:creationId xmlns:a16="http://schemas.microsoft.com/office/drawing/2014/main" id="{067B08DA-0264-496C-8CE7-ABFCA7BE52CA}"/>
              </a:ext>
            </a:extLst>
          </p:cNvPr>
          <p:cNvSpPr>
            <a:spLocks xmlns:a="http://schemas.openxmlformats.org/drawingml/2006/main" noGrp="1"/>
          </p:cNvSpPr>
          <p:nvPr/>
        </p:nvSpPr>
        <p:spPr>
          <a:xfrm xmlns:a="http://schemas.openxmlformats.org/drawingml/2006/main">
            <a:off x="9248775" y="4438650"/>
            <a:ext cx="2181225"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40" name="shape-366">
            <a:extLst xmlns:a="http://schemas.openxmlformats.org/drawingml/2006/main">
              <a:ext uri="{FF2B5EF4-FFF2-40B4-BE49-F238E27FC236}">
                <a16:creationId xmlns:a16="http://schemas.microsoft.com/office/drawing/2014/main" id="{D59E7BEB-2800-482A-B3D2-C790A1DBF491}"/>
              </a:ext>
            </a:extLst>
          </p:cNvPr>
          <p:cNvSpPr>
            <a:spLocks xmlns:a="http://schemas.openxmlformats.org/drawingml/2006/main" noGrp="1"/>
          </p:cNvSpPr>
          <p:nvPr/>
        </p:nvSpPr>
        <p:spPr>
          <a:xfrm xmlns:a="http://schemas.openxmlformats.org/drawingml/2006/main">
            <a:off x="9248775" y="4552950"/>
            <a:ext cx="21812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A9BBCB"/>
                </a:solidFill>
                <a:latin typeface="Liberation Sans"/>
                <a:ea typeface="Liberation Sans"/>
                <a:cs typeface="Liberation Sans"/>
              </a:defRPr>
            </a:defPPr>
          </a:lstStyle>
          <a:p xmlns:a="http://schemas.openxmlformats.org/drawingml/2006/main">
            <a:pPr algn="l">
              <a:defRPr sz="1650" b="0">
                <a:solidFill>
                  <a:srgbClr val="A9BBCB"/>
                </a:solidFill>
                <a:latin typeface="Liberation Sans"/>
                <a:ea typeface="Liberation Sans"/>
                <a:cs typeface="Liberation Sans"/>
              </a:defRPr>
            </a:pPr>
            <a:r>
              <a:rPr sz="1650" b="0">
                <a:solidFill>
                  <a:srgbClr val="A9BBCB"/>
                </a:solidFill>
                <a:latin typeface="Liberation Sans"/>
                <a:ea typeface="Liberation Sans"/>
                <a:cs typeface="Liberation Sans"/>
              </a:rPr>
              <a:t>COD reconciliation</a:t>
            </a:r>
          </a:p>
        </p:txBody>
      </p:sp>
      <p:sp>
        <p:nvSpPr>
          <p:cNvPr id="41" name="line-367">
            <a:extLst xmlns:a="http://schemas.openxmlformats.org/drawingml/2006/main">
              <a:ext uri="{FF2B5EF4-FFF2-40B4-BE49-F238E27FC236}">
                <a16:creationId xmlns:a16="http://schemas.microsoft.com/office/drawing/2014/main" id="{BB95DAA2-4434-4B98-867D-6E9D532B7FD8}"/>
              </a:ext>
            </a:extLst>
          </p:cNvPr>
          <p:cNvSpPr>
            <a:spLocks xmlns:a="http://schemas.openxmlformats.org/drawingml/2006/main" noGrp="1"/>
          </p:cNvSpPr>
          <p:nvPr/>
        </p:nvSpPr>
        <p:spPr>
          <a:xfrm xmlns:a="http://schemas.openxmlformats.org/drawingml/2006/main">
            <a:off x="9248775" y="5086350"/>
            <a:ext cx="2181225"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42" name="shape-368">
            <a:extLst xmlns:a="http://schemas.openxmlformats.org/drawingml/2006/main">
              <a:ext uri="{FF2B5EF4-FFF2-40B4-BE49-F238E27FC236}">
                <a16:creationId xmlns:a16="http://schemas.microsoft.com/office/drawing/2014/main" id="{6E5ED868-3022-4554-BA31-A1385062CECE}"/>
              </a:ext>
            </a:extLst>
          </p:cNvPr>
          <p:cNvSpPr>
            <a:spLocks xmlns:a="http://schemas.openxmlformats.org/drawingml/2006/main" noGrp="1"/>
          </p:cNvSpPr>
          <p:nvPr/>
        </p:nvSpPr>
        <p:spPr>
          <a:xfrm xmlns:a="http://schemas.openxmlformats.org/drawingml/2006/main">
            <a:off x="9248775" y="5200650"/>
            <a:ext cx="21812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A9BBCB"/>
                </a:solidFill>
                <a:latin typeface="Liberation Sans"/>
                <a:ea typeface="Liberation Sans"/>
                <a:cs typeface="Liberation Sans"/>
              </a:defRPr>
            </a:defPPr>
          </a:lstStyle>
          <a:p xmlns:a="http://schemas.openxmlformats.org/drawingml/2006/main">
            <a:pPr algn="l">
              <a:defRPr sz="1650" b="0">
                <a:solidFill>
                  <a:srgbClr val="A9BBCB"/>
                </a:solidFill>
                <a:latin typeface="Liberation Sans"/>
                <a:ea typeface="Liberation Sans"/>
                <a:cs typeface="Liberation Sans"/>
              </a:defRPr>
            </a:pPr>
            <a:r>
              <a:rPr sz="1650" b="0">
                <a:solidFill>
                  <a:srgbClr val="A9BBCB"/>
                </a:solidFill>
                <a:latin typeface="Liberation Sans"/>
                <a:ea typeface="Liberation Sans"/>
                <a:cs typeface="Liberation Sans"/>
              </a:rPr>
              <a:t>Delivery-risk modeling</a:t>
            </a:r>
          </a:p>
        </p:txBody>
      </p:sp>
      <p:sp>
        <p:nvSpPr>
          <p:cNvPr id="46" name="shape-369">
            <a:extLst xmlns:a="http://schemas.openxmlformats.org/drawingml/2006/main">
              <a:ext uri="{FF2B5EF4-FFF2-40B4-BE49-F238E27FC236}">
                <a16:creationId xmlns:a16="http://schemas.microsoft.com/office/drawing/2014/main" id="{CF7DFB38-CF6A-496B-8B71-3D4E2EFC64D9}"/>
              </a:ext>
            </a:extLst>
          </p:cNvPr>
          <p:cNvSpPr>
            <a:spLocks xmlns:a="http://schemas.openxmlformats.org/drawingml/2006/main" noGrp="1"/>
          </p:cNvSpPr>
          <p:nvPr/>
        </p:nvSpPr>
        <p:spPr>
          <a:xfrm xmlns:a="http://schemas.openxmlformats.org/drawingml/2006/main">
            <a:off x="571500" y="5838825"/>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A9BBCB"/>
                </a:solidFill>
                <a:latin typeface="Liberation Sans"/>
                <a:ea typeface="Liberation Sans"/>
                <a:cs typeface="Liberation Sans"/>
              </a:defRPr>
            </a:defPPr>
          </a:lstStyle>
          <a:p xmlns:a="http://schemas.openxmlformats.org/drawingml/2006/main">
            <a:pPr algn="l">
              <a:defRPr sz="1425" b="0">
                <a:solidFill>
                  <a:srgbClr val="A9BBCB"/>
                </a:solidFill>
                <a:latin typeface="Liberation Sans"/>
                <a:ea typeface="Liberation Sans"/>
                <a:cs typeface="Liberation Sans"/>
              </a:defRPr>
            </a:pPr>
            <a:r>
              <a:rPr sz="1425" b="0">
                <a:solidFill>
                  <a:srgbClr val="A9BBCB"/>
                </a:solidFill>
                <a:latin typeface="Liberation Sans"/>
                <a:ea typeface="Liberation Sans"/>
                <a:cs typeface="Liberation Sans"/>
              </a:rPr>
              <a:t>Predictive delivery-risk modeling is a future research candidate. No predictive model results are claimed.</a:t>
            </a:r>
          </a:p>
        </p:txBody>
      </p:sp>
    </p:spTree>
    <p:extLst>
      <p:ext uri="{BB962C8B-B14F-4D97-AF65-F5344CB8AC3E}">
        <p14:creationId xmlns:p14="http://schemas.microsoft.com/office/powerpoint/2010/main" val="747551807"/>
      </p:ext>
    </p:extLst>
  </p:cSld>
</p:sld>
</file>

<file path=ppt/slides/slide14.xml><?xml version="1.0" encoding="utf-8"?>
<p:sld xmlns:p="http://schemas.openxmlformats.org/presentationml/2006/main">
  <p:cSld>
    <p:bg>
      <p:bgPr>
        <a:solidFill xmlns:a="http://schemas.openxmlformats.org/drawingml/2006/main">
          <a:srgbClr val="091522"/>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E6843CA0-BF40-440C-92D3-996C666C096B}"/>
              </a:ext>
            </a:extLst>
          </p:cNvPr>
          <p:cNvCxnSpPr>
            <a:stCxn xmlns:a="http://schemas.openxmlformats.org/drawingml/2006/main" id="15" idx="3"/>
            <a:endCxn xmlns:a="http://schemas.openxmlformats.org/drawingml/2006/main" id="18" idx="1"/>
          </p:cNvCxnSpPr>
          <p:nvPr/>
        </p:nvCxnSpPr>
        <p:spPr>
          <a:xfrm xmlns:a="http://schemas.openxmlformats.org/drawingml/2006/main">
            <a:off x="9353550" y="2890838"/>
            <a:ext cx="285750" cy="0"/>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DC8FA323-05C7-411C-B397-2C9E33FCE198}"/>
              </a:ext>
            </a:extLst>
          </p:cNvPr>
          <p:cNvCxnSpPr>
            <a:stCxn xmlns:a="http://schemas.openxmlformats.org/drawingml/2006/main" id="12" idx="3"/>
            <a:endCxn xmlns:a="http://schemas.openxmlformats.org/drawingml/2006/main" id="15" idx="1"/>
          </p:cNvCxnSpPr>
          <p:nvPr/>
        </p:nvCxnSpPr>
        <p:spPr>
          <a:xfrm xmlns:a="http://schemas.openxmlformats.org/drawingml/2006/main">
            <a:off x="7086600" y="2890838"/>
            <a:ext cx="285750" cy="0"/>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ADB92595-B4C7-4CD9-8DEF-097C552B7CC0}"/>
              </a:ext>
            </a:extLst>
          </p:cNvPr>
          <p:cNvCxnSpPr>
            <a:stCxn xmlns:a="http://schemas.openxmlformats.org/drawingml/2006/main" id="9" idx="3"/>
            <a:endCxn xmlns:a="http://schemas.openxmlformats.org/drawingml/2006/main" id="12" idx="1"/>
          </p:cNvCxnSpPr>
          <p:nvPr/>
        </p:nvCxnSpPr>
        <p:spPr>
          <a:xfrm xmlns:a="http://schemas.openxmlformats.org/drawingml/2006/main">
            <a:off x="4819650" y="2890838"/>
            <a:ext cx="285750" cy="0"/>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0E699BEE-450B-48B1-846F-8625070B9D50}"/>
              </a:ext>
            </a:extLst>
          </p:cNvPr>
          <p:cNvCxnSpPr>
            <a:stCxn xmlns:a="http://schemas.openxmlformats.org/drawingml/2006/main" id="6" idx="3"/>
            <a:endCxn xmlns:a="http://schemas.openxmlformats.org/drawingml/2006/main" id="9" idx="1"/>
          </p:cNvCxnSpPr>
          <p:nvPr/>
        </p:nvCxnSpPr>
        <p:spPr>
          <a:xfrm xmlns:a="http://schemas.openxmlformats.org/drawingml/2006/main">
            <a:off x="2552700" y="2890838"/>
            <a:ext cx="285750" cy="0"/>
          </a:xfrm>
          <a:prstGeom xmlns:a="http://schemas.openxmlformats.org/drawingml/2006/main" prst="straightConnector1">
            <a:avLst/>
          </a:prstGeom>
          <a:ln xmlns:a="http://schemas.openxmlformats.org/drawingml/2006/main" w="19050">
            <a:solidFill>
              <a:srgbClr val="48DCE7"/>
            </a:solidFill>
            <a:prstDash val="solid"/>
            <a:tailEnd type="triangle" w="sm" len="sm"/>
          </a:ln>
        </p:spPr>
      </p:cxnSp>
      <p:sp>
        <p:nvSpPr>
          <p:cNvPr id="36" name="shape-370">
            <a:extLst xmlns:a="http://schemas.openxmlformats.org/drawingml/2006/main">
              <a:ext uri="{FF2B5EF4-FFF2-40B4-BE49-F238E27FC236}">
                <a16:creationId xmlns:a16="http://schemas.microsoft.com/office/drawing/2014/main" id="{A48F6609-7C48-4C19-9AE9-DE99AD49B5C9}"/>
              </a:ext>
            </a:extLst>
          </p:cNvPr>
          <p:cNvSpPr>
            <a:spLocks xmlns:a="http://schemas.openxmlformats.org/drawingml/2006/main" noGrp="1"/>
          </p:cNvSpPr>
          <p:nvPr/>
        </p:nvSpPr>
        <p:spPr>
          <a:xfrm xmlns:a="http://schemas.openxmlformats.org/drawingml/2006/main">
            <a:off x="571500" y="333375"/>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48DCE7"/>
                </a:solidFill>
                <a:latin typeface="Liberation Sans"/>
                <a:ea typeface="Liberation Sans"/>
                <a:cs typeface="Liberation Sans"/>
              </a:defRPr>
            </a:defPPr>
          </a:lstStyle>
          <a:p xmlns:a="http://schemas.openxmlformats.org/drawingml/2006/main">
            <a:pPr algn="l">
              <a:defRPr sz="1125" b="1">
                <a:solidFill>
                  <a:srgbClr val="48DCE7"/>
                </a:solidFill>
                <a:latin typeface="Liberation Sans"/>
                <a:ea typeface="Liberation Sans"/>
                <a:cs typeface="Liberation Sans"/>
              </a:defRPr>
            </a:pPr>
            <a:r>
              <a:rPr sz="1125" b="1">
                <a:solidFill>
                  <a:srgbClr val="48DCE7"/>
                </a:solidFill>
                <a:latin typeface="Liberation Sans"/>
                <a:ea typeface="Liberation Sans"/>
                <a:cs typeface="Liberation Sans"/>
              </a:rPr>
              <a:t>PROJECT VALUE</a:t>
            </a:r>
          </a:p>
        </p:txBody>
      </p:sp>
      <p:sp>
        <p:nvSpPr>
          <p:cNvPr id="2" name="shape-371">
            <a:extLst xmlns:a="http://schemas.openxmlformats.org/drawingml/2006/main">
              <a:ext uri="{FF2B5EF4-FFF2-40B4-BE49-F238E27FC236}">
                <a16:creationId xmlns:a16="http://schemas.microsoft.com/office/drawing/2014/main" id="{BA87013E-416B-4F40-A0DA-98B370DC8B9D}"/>
              </a:ext>
            </a:extLst>
          </p:cNvPr>
          <p:cNvSpPr>
            <a:spLocks xmlns:a="http://schemas.openxmlformats.org/drawingml/2006/main" noGrp="1"/>
          </p:cNvSpPr>
          <p:nvPr/>
        </p:nvSpPr>
        <p:spPr>
          <a:xfrm xmlns:a="http://schemas.openxmlformats.org/drawingml/2006/main">
            <a:off x="571500" y="704850"/>
            <a:ext cx="110490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3F7FB"/>
                </a:solidFill>
                <a:latin typeface="Liberation Sans"/>
                <a:ea typeface="Liberation Sans"/>
                <a:cs typeface="Liberation Sans"/>
              </a:defRPr>
            </a:defPPr>
          </a:lstStyle>
          <a:p xmlns:a="http://schemas.openxmlformats.org/drawingml/2006/main">
            <a:pPr algn="l">
              <a:defRPr sz="3225" b="1">
                <a:solidFill>
                  <a:srgbClr val="F3F7FB"/>
                </a:solidFill>
                <a:latin typeface="Liberation Sans"/>
                <a:ea typeface="Liberation Sans"/>
                <a:cs typeface="Liberation Sans"/>
              </a:defRPr>
            </a:pPr>
            <a:r>
              <a:rPr sz="3225" b="1">
                <a:solidFill>
                  <a:srgbClr val="F3F7FB"/>
                </a:solidFill>
                <a:latin typeface="Liberation Sans"/>
                <a:ea typeface="Liberation Sans"/>
                <a:cs typeface="Liberation Sans"/>
              </a:rPr>
              <a:t>From 4.24M+ Events to</a:t>
            </a:r>
          </a:p>
          <a:p xmlns:a="http://schemas.openxmlformats.org/drawingml/2006/main">
            <a:pPr algn="l">
              <a:defRPr sz="3225" b="1">
                <a:solidFill>
                  <a:srgbClr val="F3F7FB"/>
                </a:solidFill>
                <a:latin typeface="Liberation Sans"/>
                <a:ea typeface="Liberation Sans"/>
                <a:cs typeface="Liberation Sans"/>
              </a:defRPr>
            </a:pPr>
            <a:r>
              <a:rPr sz="3225" b="1">
                <a:solidFill>
                  <a:srgbClr val="F3F7FB"/>
                </a:solidFill>
                <a:latin typeface="Liberation Sans"/>
                <a:ea typeface="Liberation Sans"/>
                <a:cs typeface="Liberation Sans"/>
              </a:rPr>
              <a:t>Actionable Logistics Intelligence</a:t>
            </a:r>
          </a:p>
        </p:txBody>
      </p:sp>
      <p:sp>
        <p:nvSpPr>
          <p:cNvPr id="3" name="line-372">
            <a:extLst xmlns:a="http://schemas.openxmlformats.org/drawingml/2006/main">
              <a:ext uri="{FF2B5EF4-FFF2-40B4-BE49-F238E27FC236}">
                <a16:creationId xmlns:a16="http://schemas.microsoft.com/office/drawing/2014/main" id="{F0150DFD-3F40-4999-A4C1-FF840A0C849F}"/>
              </a:ext>
            </a:extLst>
          </p:cNvPr>
          <p:cNvSpPr>
            <a:spLocks xmlns:a="http://schemas.openxmlformats.org/drawingml/2006/main" noGrp="1"/>
          </p:cNvSpPr>
          <p:nvPr/>
        </p:nvSpPr>
        <p:spPr>
          <a:xfrm xmlns:a="http://schemas.openxmlformats.org/drawingml/2006/main">
            <a:off x="571500" y="6353175"/>
            <a:ext cx="11049000" cy="0"/>
          </a:xfrm>
          <a:prstGeom xmlns:a="http://schemas.openxmlformats.org/drawingml/2006/main" prst="line">
            <a:avLst/>
          </a:prstGeom>
          <a:noFill xmlns:a="http://schemas.openxmlformats.org/drawingml/2006/main"/>
          <a:ln xmlns:a="http://schemas.openxmlformats.org/drawingml/2006/main" w="9525">
            <a:solidFill>
              <a:srgbClr val="2A4052"/>
            </a:solidFill>
            <a:prstDash val="solid"/>
          </a:ln>
        </p:spPr>
      </p:sp>
      <p:sp>
        <p:nvSpPr>
          <p:cNvPr id="4" name="shape-373">
            <a:extLst xmlns:a="http://schemas.openxmlformats.org/drawingml/2006/main">
              <a:ext uri="{FF2B5EF4-FFF2-40B4-BE49-F238E27FC236}">
                <a16:creationId xmlns:a16="http://schemas.microsoft.com/office/drawing/2014/main" id="{4CCACAB8-92B0-4648-B9A2-6F1EC88C3EB4}"/>
              </a:ext>
            </a:extLst>
          </p:cNvPr>
          <p:cNvSpPr>
            <a:spLocks xmlns:a="http://schemas.openxmlformats.org/drawingml/2006/main" noGrp="1"/>
          </p:cNvSpPr>
          <p:nvPr/>
        </p:nvSpPr>
        <p:spPr>
          <a:xfrm xmlns:a="http://schemas.openxmlformats.org/drawingml/2006/main">
            <a:off x="571500" y="6505575"/>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A9BBCB"/>
                </a:solidFill>
                <a:latin typeface="Liberation Sans"/>
                <a:ea typeface="Liberation Sans"/>
                <a:cs typeface="Liberation Sans"/>
              </a:defRPr>
            </a:defPPr>
          </a:lstStyle>
          <a:p xmlns:a="http://schemas.openxmlformats.org/drawingml/2006/main">
            <a:pPr algn="l">
              <a:defRPr sz="900" b="0">
                <a:solidFill>
                  <a:srgbClr val="A9BBCB"/>
                </a:solidFill>
                <a:latin typeface="Liberation Sans"/>
                <a:ea typeface="Liberation Sans"/>
                <a:cs typeface="Liberation Sans"/>
              </a:defRPr>
            </a:pPr>
            <a:r>
              <a:rPr sz="900" b="0">
                <a:solidFill>
                  <a:srgbClr val="A9BBCB"/>
                </a:solidFill>
                <a:latin typeface="Liberation Sans"/>
                <a:ea typeface="Liberation Sans"/>
                <a:cs typeface="Liberation Sans"/>
              </a:rPr>
              <a:t>SYNTHETIC DATA · PORTFOLIO PROJECT</a:t>
            </a:r>
          </a:p>
        </p:txBody>
      </p:sp>
      <p:sp>
        <p:nvSpPr>
          <p:cNvPr id="5" name="shape-374">
            <a:extLst xmlns:a="http://schemas.openxmlformats.org/drawingml/2006/main">
              <a:ext uri="{FF2B5EF4-FFF2-40B4-BE49-F238E27FC236}">
                <a16:creationId xmlns:a16="http://schemas.microsoft.com/office/drawing/2014/main" id="{D6E53276-C8F0-4596-A949-C62D6F798065}"/>
              </a:ext>
            </a:extLst>
          </p:cNvPr>
          <p:cNvSpPr>
            <a:spLocks xmlns:a="http://schemas.openxmlformats.org/drawingml/2006/main" noGrp="1"/>
          </p:cNvSpPr>
          <p:nvPr/>
        </p:nvSpPr>
        <p:spPr>
          <a:xfrm xmlns:a="http://schemas.openxmlformats.org/drawingml/2006/main">
            <a:off x="11144250" y="646747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9BBCB"/>
                </a:solidFill>
                <a:latin typeface="Liberation Sans"/>
                <a:ea typeface="Liberation Sans"/>
                <a:cs typeface="Liberation Sans"/>
              </a:defRPr>
            </a:defPPr>
          </a:lstStyle>
          <a:p xmlns:a="http://schemas.openxmlformats.org/drawingml/2006/main">
            <a:pPr algn="r">
              <a:defRPr sz="1275" b="0">
                <a:solidFill>
                  <a:srgbClr val="A9BBCB"/>
                </a:solidFill>
                <a:latin typeface="Liberation Sans"/>
                <a:ea typeface="Liberation Sans"/>
                <a:cs typeface="Liberation Sans"/>
              </a:defRPr>
            </a:pPr>
            <a:r>
              <a:rPr sz="1275" b="0">
                <a:solidFill>
                  <a:srgbClr val="A9BBCB"/>
                </a:solidFill>
                <a:latin typeface="Liberation Sans"/>
                <a:ea typeface="Liberation Sans"/>
                <a:cs typeface="Liberation Sans"/>
              </a:rPr>
              <a:t>14</a:t>
            </a:r>
          </a:p>
        </p:txBody>
      </p:sp>
      <p:sp>
        <p:nvSpPr>
          <p:cNvPr id="6" name="shape-375">
            <a:extLst xmlns:a="http://schemas.openxmlformats.org/drawingml/2006/main">
              <a:ext uri="{FF2B5EF4-FFF2-40B4-BE49-F238E27FC236}">
                <a16:creationId xmlns:a16="http://schemas.microsoft.com/office/drawing/2014/main" id="{0E823BE4-AA0E-4E2A-9144-2CDD7B41CA21}"/>
              </a:ext>
            </a:extLst>
          </p:cNvPr>
          <p:cNvSpPr>
            <a:spLocks xmlns:a="http://schemas.openxmlformats.org/drawingml/2006/main" noGrp="1"/>
          </p:cNvSpPr>
          <p:nvPr/>
        </p:nvSpPr>
        <p:spPr>
          <a:xfrm xmlns:a="http://schemas.openxmlformats.org/drawingml/2006/main">
            <a:off x="571500" y="2362200"/>
            <a:ext cx="1981200" cy="1057275"/>
          </a:xfrm>
          <a:prstGeom xmlns:a="http://schemas.openxmlformats.org/drawingml/2006/main" prst="roundRect">
            <a:avLst>
              <a:gd name="adj" fmla="val 10811"/>
            </a:avLst>
          </a:prstGeom>
          <a:solidFill xmlns:a="http://schemas.openxmlformats.org/drawingml/2006/main">
            <a:srgbClr val="122536"/>
          </a:solidFill>
          <a:ln xmlns:a="http://schemas.openxmlformats.org/drawingml/2006/main" w="9525">
            <a:solidFill>
              <a:srgbClr val="2A4052"/>
            </a:solidFill>
            <a:prstDash val="solid"/>
          </a:ln>
        </p:spPr>
      </p:sp>
      <p:sp>
        <p:nvSpPr>
          <p:cNvPr id="7" name="shape-376">
            <a:extLst xmlns:a="http://schemas.openxmlformats.org/drawingml/2006/main">
              <a:ext uri="{FF2B5EF4-FFF2-40B4-BE49-F238E27FC236}">
                <a16:creationId xmlns:a16="http://schemas.microsoft.com/office/drawing/2014/main" id="{BD70C964-DD09-4F4A-A5C5-E28C03C0F275}"/>
              </a:ext>
            </a:extLst>
          </p:cNvPr>
          <p:cNvSpPr>
            <a:spLocks xmlns:a="http://schemas.openxmlformats.org/drawingml/2006/main" noGrp="1"/>
          </p:cNvSpPr>
          <p:nvPr/>
        </p:nvSpPr>
        <p:spPr>
          <a:xfrm xmlns:a="http://schemas.openxmlformats.org/drawingml/2006/main">
            <a:off x="685800" y="2524125"/>
            <a:ext cx="1752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1">
                <a:solidFill>
                  <a:srgbClr val="48DCE7"/>
                </a:solidFill>
                <a:latin typeface="Liberation Sans"/>
                <a:ea typeface="Liberation Sans"/>
                <a:cs typeface="Liberation Sans"/>
              </a:defRPr>
            </a:defPPr>
          </a:lstStyle>
          <a:p xmlns:a="http://schemas.openxmlformats.org/drawingml/2006/main">
            <a:pPr algn="ctr">
              <a:defRPr sz="2025" b="1">
                <a:solidFill>
                  <a:srgbClr val="48DCE7"/>
                </a:solidFill>
                <a:latin typeface="Liberation Sans"/>
                <a:ea typeface="Liberation Sans"/>
                <a:cs typeface="Liberation Sans"/>
              </a:defRPr>
            </a:pPr>
            <a:r>
              <a:rPr sz="2025" b="1">
                <a:solidFill>
                  <a:srgbClr val="48DCE7"/>
                </a:solidFill>
                <a:latin typeface="Liberation Sans"/>
                <a:ea typeface="Liberation Sans"/>
                <a:cs typeface="Liberation Sans"/>
              </a:rPr>
              <a:t>4.24M+</a:t>
            </a:r>
          </a:p>
        </p:txBody>
      </p:sp>
      <p:sp>
        <p:nvSpPr>
          <p:cNvPr id="8" name="shape-377">
            <a:extLst xmlns:a="http://schemas.openxmlformats.org/drawingml/2006/main">
              <a:ext uri="{FF2B5EF4-FFF2-40B4-BE49-F238E27FC236}">
                <a16:creationId xmlns:a16="http://schemas.microsoft.com/office/drawing/2014/main" id="{D475DDAA-97A3-4C1B-A89A-01C1A45872E2}"/>
              </a:ext>
            </a:extLst>
          </p:cNvPr>
          <p:cNvSpPr>
            <a:spLocks xmlns:a="http://schemas.openxmlformats.org/drawingml/2006/main" noGrp="1"/>
          </p:cNvSpPr>
          <p:nvPr/>
        </p:nvSpPr>
        <p:spPr>
          <a:xfrm xmlns:a="http://schemas.openxmlformats.org/drawingml/2006/main">
            <a:off x="685800" y="2943225"/>
            <a:ext cx="1752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F3F7FB"/>
                </a:solidFill>
                <a:latin typeface="Liberation Sans"/>
                <a:ea typeface="Liberation Sans"/>
                <a:cs typeface="Liberation Sans"/>
              </a:defRPr>
            </a:defPPr>
          </a:lstStyle>
          <a:p xmlns:a="http://schemas.openxmlformats.org/drawingml/2006/main">
            <a:pPr algn="ctr">
              <a:defRPr sz="1650" b="0">
                <a:solidFill>
                  <a:srgbClr val="F3F7FB"/>
                </a:solidFill>
                <a:latin typeface="Liberation Sans"/>
                <a:ea typeface="Liberation Sans"/>
                <a:cs typeface="Liberation Sans"/>
              </a:defRPr>
            </a:pPr>
            <a:r>
              <a:rPr sz="1650" b="0">
                <a:solidFill>
                  <a:srgbClr val="F3F7FB"/>
                </a:solidFill>
                <a:latin typeface="Liberation Sans"/>
                <a:ea typeface="Liberation Sans"/>
                <a:cs typeface="Liberation Sans"/>
              </a:rPr>
              <a:t>Tracking Events</a:t>
            </a:r>
          </a:p>
        </p:txBody>
      </p:sp>
      <p:sp>
        <p:nvSpPr>
          <p:cNvPr id="9" name="shape-378">
            <a:extLst xmlns:a="http://schemas.openxmlformats.org/drawingml/2006/main">
              <a:ext uri="{FF2B5EF4-FFF2-40B4-BE49-F238E27FC236}">
                <a16:creationId xmlns:a16="http://schemas.microsoft.com/office/drawing/2014/main" id="{355747B5-B99A-46E7-BA73-BB7DC7520F1C}"/>
              </a:ext>
            </a:extLst>
          </p:cNvPr>
          <p:cNvSpPr>
            <a:spLocks xmlns:a="http://schemas.openxmlformats.org/drawingml/2006/main" noGrp="1"/>
          </p:cNvSpPr>
          <p:nvPr/>
        </p:nvSpPr>
        <p:spPr>
          <a:xfrm xmlns:a="http://schemas.openxmlformats.org/drawingml/2006/main">
            <a:off x="2838450" y="2362200"/>
            <a:ext cx="1981200" cy="1057275"/>
          </a:xfrm>
          <a:prstGeom xmlns:a="http://schemas.openxmlformats.org/drawingml/2006/main" prst="roundRect">
            <a:avLst>
              <a:gd name="adj" fmla="val 10811"/>
            </a:avLst>
          </a:prstGeom>
          <a:solidFill xmlns:a="http://schemas.openxmlformats.org/drawingml/2006/main">
            <a:srgbClr val="122536"/>
          </a:solidFill>
          <a:ln xmlns:a="http://schemas.openxmlformats.org/drawingml/2006/main" w="9525">
            <a:solidFill>
              <a:srgbClr val="2A4052"/>
            </a:solidFill>
            <a:prstDash val="solid"/>
          </a:ln>
        </p:spPr>
      </p:sp>
      <p:sp>
        <p:nvSpPr>
          <p:cNvPr id="10" name="shape-379">
            <a:extLst xmlns:a="http://schemas.openxmlformats.org/drawingml/2006/main">
              <a:ext uri="{FF2B5EF4-FFF2-40B4-BE49-F238E27FC236}">
                <a16:creationId xmlns:a16="http://schemas.microsoft.com/office/drawing/2014/main" id="{83CA37D8-27DD-46D6-8516-CD3475A674C8}"/>
              </a:ext>
            </a:extLst>
          </p:cNvPr>
          <p:cNvSpPr>
            <a:spLocks xmlns:a="http://schemas.openxmlformats.org/drawingml/2006/main" noGrp="1"/>
          </p:cNvSpPr>
          <p:nvPr/>
        </p:nvSpPr>
        <p:spPr>
          <a:xfrm xmlns:a="http://schemas.openxmlformats.org/drawingml/2006/main">
            <a:off x="2952750" y="2524125"/>
            <a:ext cx="1752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1">
                <a:solidFill>
                  <a:srgbClr val="48DCE7"/>
                </a:solidFill>
                <a:latin typeface="Liberation Sans"/>
                <a:ea typeface="Liberation Sans"/>
                <a:cs typeface="Liberation Sans"/>
              </a:defRPr>
            </a:defPPr>
          </a:lstStyle>
          <a:p xmlns:a="http://schemas.openxmlformats.org/drawingml/2006/main">
            <a:pPr algn="ctr">
              <a:defRPr sz="2025" b="1">
                <a:solidFill>
                  <a:srgbClr val="48DCE7"/>
                </a:solidFill>
                <a:latin typeface="Liberation Sans"/>
                <a:ea typeface="Liberation Sans"/>
                <a:cs typeface="Liberation Sans"/>
              </a:defRPr>
            </a:pPr>
            <a:r>
              <a:rPr sz="2025" b="1">
                <a:solidFill>
                  <a:srgbClr val="48DCE7"/>
                </a:solidFill>
                <a:latin typeface="Liberation Sans"/>
                <a:ea typeface="Liberation Sans"/>
                <a:cs typeface="Liberation Sans"/>
              </a:rPr>
              <a:t>Reliable</a:t>
            </a:r>
          </a:p>
        </p:txBody>
      </p:sp>
      <p:sp>
        <p:nvSpPr>
          <p:cNvPr id="11" name="shape-380">
            <a:extLst xmlns:a="http://schemas.openxmlformats.org/drawingml/2006/main">
              <a:ext uri="{FF2B5EF4-FFF2-40B4-BE49-F238E27FC236}">
                <a16:creationId xmlns:a16="http://schemas.microsoft.com/office/drawing/2014/main" id="{D1C08BD7-A1AE-45E9-BE77-31F4F009A023}"/>
              </a:ext>
            </a:extLst>
          </p:cNvPr>
          <p:cNvSpPr>
            <a:spLocks xmlns:a="http://schemas.openxmlformats.org/drawingml/2006/main" noGrp="1"/>
          </p:cNvSpPr>
          <p:nvPr/>
        </p:nvSpPr>
        <p:spPr>
          <a:xfrm xmlns:a="http://schemas.openxmlformats.org/drawingml/2006/main">
            <a:off x="2952750" y="2943225"/>
            <a:ext cx="1752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F3F7FB"/>
                </a:solidFill>
                <a:latin typeface="Liberation Sans"/>
                <a:ea typeface="Liberation Sans"/>
                <a:cs typeface="Liberation Sans"/>
              </a:defRPr>
            </a:defPPr>
          </a:lstStyle>
          <a:p xmlns:a="http://schemas.openxmlformats.org/drawingml/2006/main">
            <a:pPr algn="ctr">
              <a:defRPr sz="1650" b="0">
                <a:solidFill>
                  <a:srgbClr val="F3F7FB"/>
                </a:solidFill>
                <a:latin typeface="Liberation Sans"/>
                <a:ea typeface="Liberation Sans"/>
                <a:cs typeface="Liberation Sans"/>
              </a:defRPr>
            </a:pPr>
            <a:r>
              <a:rPr sz="1650" b="0">
                <a:solidFill>
                  <a:srgbClr val="F3F7FB"/>
                </a:solidFill>
                <a:latin typeface="Liberation Sans"/>
                <a:ea typeface="Liberation Sans"/>
                <a:cs typeface="Liberation Sans"/>
              </a:rPr>
              <a:t>Data Pipeline</a:t>
            </a:r>
          </a:p>
        </p:txBody>
      </p:sp>
      <p:sp>
        <p:nvSpPr>
          <p:cNvPr id="12" name="shape-381">
            <a:extLst xmlns:a="http://schemas.openxmlformats.org/drawingml/2006/main">
              <a:ext uri="{FF2B5EF4-FFF2-40B4-BE49-F238E27FC236}">
                <a16:creationId xmlns:a16="http://schemas.microsoft.com/office/drawing/2014/main" id="{B1CE7F74-6A7E-4728-9169-F77FE97EAAB3}"/>
              </a:ext>
            </a:extLst>
          </p:cNvPr>
          <p:cNvSpPr>
            <a:spLocks xmlns:a="http://schemas.openxmlformats.org/drawingml/2006/main" noGrp="1"/>
          </p:cNvSpPr>
          <p:nvPr/>
        </p:nvSpPr>
        <p:spPr>
          <a:xfrm xmlns:a="http://schemas.openxmlformats.org/drawingml/2006/main">
            <a:off x="5105400" y="2362200"/>
            <a:ext cx="1981200" cy="1057275"/>
          </a:xfrm>
          <a:prstGeom xmlns:a="http://schemas.openxmlformats.org/drawingml/2006/main" prst="roundRect">
            <a:avLst>
              <a:gd name="adj" fmla="val 10811"/>
            </a:avLst>
          </a:prstGeom>
          <a:solidFill xmlns:a="http://schemas.openxmlformats.org/drawingml/2006/main">
            <a:srgbClr val="122536"/>
          </a:solidFill>
          <a:ln xmlns:a="http://schemas.openxmlformats.org/drawingml/2006/main" w="9525">
            <a:solidFill>
              <a:srgbClr val="2A4052"/>
            </a:solidFill>
            <a:prstDash val="solid"/>
          </a:ln>
        </p:spPr>
      </p:sp>
      <p:sp>
        <p:nvSpPr>
          <p:cNvPr id="13" name="shape-382">
            <a:extLst xmlns:a="http://schemas.openxmlformats.org/drawingml/2006/main">
              <a:ext uri="{FF2B5EF4-FFF2-40B4-BE49-F238E27FC236}">
                <a16:creationId xmlns:a16="http://schemas.microsoft.com/office/drawing/2014/main" id="{3290F8FF-F158-4F59-A242-F63C65688A46}"/>
              </a:ext>
            </a:extLst>
          </p:cNvPr>
          <p:cNvSpPr>
            <a:spLocks xmlns:a="http://schemas.openxmlformats.org/drawingml/2006/main" noGrp="1"/>
          </p:cNvSpPr>
          <p:nvPr/>
        </p:nvSpPr>
        <p:spPr>
          <a:xfrm xmlns:a="http://schemas.openxmlformats.org/drawingml/2006/main">
            <a:off x="5219700" y="2524125"/>
            <a:ext cx="1752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1">
                <a:solidFill>
                  <a:srgbClr val="48DCE7"/>
                </a:solidFill>
                <a:latin typeface="Liberation Sans"/>
                <a:ea typeface="Liberation Sans"/>
                <a:cs typeface="Liberation Sans"/>
              </a:defRPr>
            </a:defPPr>
          </a:lstStyle>
          <a:p xmlns:a="http://schemas.openxmlformats.org/drawingml/2006/main">
            <a:pPr algn="ctr">
              <a:defRPr sz="2025" b="1">
                <a:solidFill>
                  <a:srgbClr val="48DCE7"/>
                </a:solidFill>
                <a:latin typeface="Liberation Sans"/>
                <a:ea typeface="Liberation Sans"/>
                <a:cs typeface="Liberation Sans"/>
              </a:defRPr>
            </a:pPr>
            <a:r>
              <a:rPr sz="2025" b="1">
                <a:solidFill>
                  <a:srgbClr val="48DCE7"/>
                </a:solidFill>
                <a:latin typeface="Liberation Sans"/>
                <a:ea typeface="Liberation Sans"/>
                <a:cs typeface="Liberation Sans"/>
              </a:rPr>
              <a:t>Tested</a:t>
            </a:r>
          </a:p>
        </p:txBody>
      </p:sp>
      <p:sp>
        <p:nvSpPr>
          <p:cNvPr id="14" name="shape-383">
            <a:extLst xmlns:a="http://schemas.openxmlformats.org/drawingml/2006/main">
              <a:ext uri="{FF2B5EF4-FFF2-40B4-BE49-F238E27FC236}">
                <a16:creationId xmlns:a16="http://schemas.microsoft.com/office/drawing/2014/main" id="{D055C643-8AAC-4F15-9F33-39EB0E6A3A9C}"/>
              </a:ext>
            </a:extLst>
          </p:cNvPr>
          <p:cNvSpPr>
            <a:spLocks xmlns:a="http://schemas.openxmlformats.org/drawingml/2006/main" noGrp="1"/>
          </p:cNvSpPr>
          <p:nvPr/>
        </p:nvSpPr>
        <p:spPr>
          <a:xfrm xmlns:a="http://schemas.openxmlformats.org/drawingml/2006/main">
            <a:off x="5219700" y="2943225"/>
            <a:ext cx="1752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F3F7FB"/>
                </a:solidFill>
                <a:latin typeface="Liberation Sans"/>
                <a:ea typeface="Liberation Sans"/>
                <a:cs typeface="Liberation Sans"/>
              </a:defRPr>
            </a:defPPr>
          </a:lstStyle>
          <a:p xmlns:a="http://schemas.openxmlformats.org/drawingml/2006/main">
            <a:pPr algn="ctr">
              <a:defRPr sz="1650" b="0">
                <a:solidFill>
                  <a:srgbClr val="F3F7FB"/>
                </a:solidFill>
                <a:latin typeface="Liberation Sans"/>
                <a:ea typeface="Liberation Sans"/>
                <a:cs typeface="Liberation Sans"/>
              </a:defRPr>
            </a:pPr>
            <a:r>
              <a:rPr sz="1650" b="0">
                <a:solidFill>
                  <a:srgbClr val="F3F7FB"/>
                </a:solidFill>
                <a:latin typeface="Liberation Sans"/>
                <a:ea typeface="Liberation Sans"/>
                <a:cs typeface="Liberation Sans"/>
              </a:rPr>
              <a:t>Analytics Models</a:t>
            </a:r>
          </a:p>
        </p:txBody>
      </p:sp>
      <p:sp>
        <p:nvSpPr>
          <p:cNvPr id="15" name="shape-384">
            <a:extLst xmlns:a="http://schemas.openxmlformats.org/drawingml/2006/main">
              <a:ext uri="{FF2B5EF4-FFF2-40B4-BE49-F238E27FC236}">
                <a16:creationId xmlns:a16="http://schemas.microsoft.com/office/drawing/2014/main" id="{A415B1C9-3AB3-4715-94BC-1F5589B861A9}"/>
              </a:ext>
            </a:extLst>
          </p:cNvPr>
          <p:cNvSpPr>
            <a:spLocks xmlns:a="http://schemas.openxmlformats.org/drawingml/2006/main" noGrp="1"/>
          </p:cNvSpPr>
          <p:nvPr/>
        </p:nvSpPr>
        <p:spPr>
          <a:xfrm xmlns:a="http://schemas.openxmlformats.org/drawingml/2006/main">
            <a:off x="7372350" y="2362200"/>
            <a:ext cx="1981200" cy="1057275"/>
          </a:xfrm>
          <a:prstGeom xmlns:a="http://schemas.openxmlformats.org/drawingml/2006/main" prst="roundRect">
            <a:avLst>
              <a:gd name="adj" fmla="val 10811"/>
            </a:avLst>
          </a:prstGeom>
          <a:solidFill xmlns:a="http://schemas.openxmlformats.org/drawingml/2006/main">
            <a:srgbClr val="122536"/>
          </a:solidFill>
          <a:ln xmlns:a="http://schemas.openxmlformats.org/drawingml/2006/main" w="9525">
            <a:solidFill>
              <a:srgbClr val="2A4052"/>
            </a:solidFill>
            <a:prstDash val="solid"/>
          </a:ln>
        </p:spPr>
      </p:sp>
      <p:sp>
        <p:nvSpPr>
          <p:cNvPr id="16" name="shape-385">
            <a:extLst xmlns:a="http://schemas.openxmlformats.org/drawingml/2006/main">
              <a:ext uri="{FF2B5EF4-FFF2-40B4-BE49-F238E27FC236}">
                <a16:creationId xmlns:a16="http://schemas.microsoft.com/office/drawing/2014/main" id="{B1A88E86-079F-4A64-8BAB-A636B15EC3BC}"/>
              </a:ext>
            </a:extLst>
          </p:cNvPr>
          <p:cNvSpPr>
            <a:spLocks xmlns:a="http://schemas.openxmlformats.org/drawingml/2006/main" noGrp="1"/>
          </p:cNvSpPr>
          <p:nvPr/>
        </p:nvSpPr>
        <p:spPr>
          <a:xfrm xmlns:a="http://schemas.openxmlformats.org/drawingml/2006/main">
            <a:off x="7486650" y="2524125"/>
            <a:ext cx="1752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1">
                <a:solidFill>
                  <a:srgbClr val="48DCE7"/>
                </a:solidFill>
                <a:latin typeface="Liberation Sans"/>
                <a:ea typeface="Liberation Sans"/>
                <a:cs typeface="Liberation Sans"/>
              </a:defRPr>
            </a:defPPr>
          </a:lstStyle>
          <a:p xmlns:a="http://schemas.openxmlformats.org/drawingml/2006/main">
            <a:pPr algn="ctr">
              <a:defRPr sz="2025" b="1">
                <a:solidFill>
                  <a:srgbClr val="48DCE7"/>
                </a:solidFill>
                <a:latin typeface="Liberation Sans"/>
                <a:ea typeface="Liberation Sans"/>
                <a:cs typeface="Liberation Sans"/>
              </a:defRPr>
            </a:pPr>
            <a:r>
              <a:rPr sz="2025" b="1">
                <a:solidFill>
                  <a:srgbClr val="48DCE7"/>
                </a:solidFill>
                <a:latin typeface="Liberation Sans"/>
                <a:ea typeface="Liberation Sans"/>
                <a:cs typeface="Liberation Sans"/>
              </a:rPr>
              <a:t>Automated</a:t>
            </a:r>
          </a:p>
        </p:txBody>
      </p:sp>
      <p:sp>
        <p:nvSpPr>
          <p:cNvPr id="17" name="shape-386">
            <a:extLst xmlns:a="http://schemas.openxmlformats.org/drawingml/2006/main">
              <a:ext uri="{FF2B5EF4-FFF2-40B4-BE49-F238E27FC236}">
                <a16:creationId xmlns:a16="http://schemas.microsoft.com/office/drawing/2014/main" id="{2936E198-1E6E-4D53-A40F-9FDF7F9E8352}"/>
              </a:ext>
            </a:extLst>
          </p:cNvPr>
          <p:cNvSpPr>
            <a:spLocks xmlns:a="http://schemas.openxmlformats.org/drawingml/2006/main" noGrp="1"/>
          </p:cNvSpPr>
          <p:nvPr/>
        </p:nvSpPr>
        <p:spPr>
          <a:xfrm xmlns:a="http://schemas.openxmlformats.org/drawingml/2006/main">
            <a:off x="7486650" y="2943225"/>
            <a:ext cx="1752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F3F7FB"/>
                </a:solidFill>
                <a:latin typeface="Liberation Sans"/>
                <a:ea typeface="Liberation Sans"/>
                <a:cs typeface="Liberation Sans"/>
              </a:defRPr>
            </a:defPPr>
          </a:lstStyle>
          <a:p xmlns:a="http://schemas.openxmlformats.org/drawingml/2006/main">
            <a:pPr algn="ctr">
              <a:defRPr sz="1650" b="0">
                <a:solidFill>
                  <a:srgbClr val="F3F7FB"/>
                </a:solidFill>
                <a:latin typeface="Liberation Sans"/>
                <a:ea typeface="Liberation Sans"/>
                <a:cs typeface="Liberation Sans"/>
              </a:defRPr>
            </a:pPr>
            <a:r>
              <a:rPr sz="1650" b="0">
                <a:solidFill>
                  <a:srgbClr val="F3F7FB"/>
                </a:solidFill>
                <a:latin typeface="Liberation Sans"/>
                <a:ea typeface="Liberation Sans"/>
                <a:cs typeface="Liberation Sans"/>
              </a:rPr>
              <a:t>Orchestration</a:t>
            </a:r>
          </a:p>
        </p:txBody>
      </p:sp>
      <p:sp>
        <p:nvSpPr>
          <p:cNvPr id="18" name="shape-387">
            <a:extLst xmlns:a="http://schemas.openxmlformats.org/drawingml/2006/main">
              <a:ext uri="{FF2B5EF4-FFF2-40B4-BE49-F238E27FC236}">
                <a16:creationId xmlns:a16="http://schemas.microsoft.com/office/drawing/2014/main" id="{C641D76D-69F0-437D-80DF-60C3658468EE}"/>
              </a:ext>
            </a:extLst>
          </p:cNvPr>
          <p:cNvSpPr>
            <a:spLocks xmlns:a="http://schemas.openxmlformats.org/drawingml/2006/main" noGrp="1"/>
          </p:cNvSpPr>
          <p:nvPr/>
        </p:nvSpPr>
        <p:spPr>
          <a:xfrm xmlns:a="http://schemas.openxmlformats.org/drawingml/2006/main">
            <a:off x="9639300" y="2362200"/>
            <a:ext cx="1981200" cy="1057275"/>
          </a:xfrm>
          <a:prstGeom xmlns:a="http://schemas.openxmlformats.org/drawingml/2006/main" prst="roundRect">
            <a:avLst>
              <a:gd name="adj" fmla="val 10811"/>
            </a:avLst>
          </a:prstGeom>
          <a:solidFill xmlns:a="http://schemas.openxmlformats.org/drawingml/2006/main">
            <a:srgbClr val="122536"/>
          </a:solidFill>
          <a:ln xmlns:a="http://schemas.openxmlformats.org/drawingml/2006/main" w="9525">
            <a:solidFill>
              <a:srgbClr val="2A4052"/>
            </a:solidFill>
            <a:prstDash val="solid"/>
          </a:ln>
        </p:spPr>
      </p:sp>
      <p:sp>
        <p:nvSpPr>
          <p:cNvPr id="19" name="shape-388">
            <a:extLst xmlns:a="http://schemas.openxmlformats.org/drawingml/2006/main">
              <a:ext uri="{FF2B5EF4-FFF2-40B4-BE49-F238E27FC236}">
                <a16:creationId xmlns:a16="http://schemas.microsoft.com/office/drawing/2014/main" id="{3C13617B-8AFE-46ED-BA92-77AD387A4FAC}"/>
              </a:ext>
            </a:extLst>
          </p:cNvPr>
          <p:cNvSpPr>
            <a:spLocks xmlns:a="http://schemas.openxmlformats.org/drawingml/2006/main" noGrp="1"/>
          </p:cNvSpPr>
          <p:nvPr/>
        </p:nvSpPr>
        <p:spPr>
          <a:xfrm xmlns:a="http://schemas.openxmlformats.org/drawingml/2006/main">
            <a:off x="9753600" y="2524125"/>
            <a:ext cx="1752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1">
                <a:solidFill>
                  <a:srgbClr val="39DBB0"/>
                </a:solidFill>
                <a:latin typeface="Liberation Sans"/>
                <a:ea typeface="Liberation Sans"/>
                <a:cs typeface="Liberation Sans"/>
              </a:defRPr>
            </a:defPPr>
          </a:lstStyle>
          <a:p xmlns:a="http://schemas.openxmlformats.org/drawingml/2006/main">
            <a:pPr algn="ctr">
              <a:defRPr sz="2025" b="1">
                <a:solidFill>
                  <a:srgbClr val="39DBB0"/>
                </a:solidFill>
                <a:latin typeface="Liberation Sans"/>
                <a:ea typeface="Liberation Sans"/>
                <a:cs typeface="Liberation Sans"/>
              </a:defRPr>
            </a:pPr>
            <a:r>
              <a:rPr sz="2025" b="1">
                <a:solidFill>
                  <a:srgbClr val="39DBB0"/>
                </a:solidFill>
                <a:latin typeface="Liberation Sans"/>
                <a:ea typeface="Liberation Sans"/>
                <a:cs typeface="Liberation Sans"/>
              </a:rPr>
              <a:t>Executive</a:t>
            </a:r>
          </a:p>
        </p:txBody>
      </p:sp>
      <p:sp>
        <p:nvSpPr>
          <p:cNvPr id="20" name="shape-389">
            <a:extLst xmlns:a="http://schemas.openxmlformats.org/drawingml/2006/main">
              <a:ext uri="{FF2B5EF4-FFF2-40B4-BE49-F238E27FC236}">
                <a16:creationId xmlns:a16="http://schemas.microsoft.com/office/drawing/2014/main" id="{C5BEB265-B362-4240-ADB0-063E7CA7B6D6}"/>
              </a:ext>
            </a:extLst>
          </p:cNvPr>
          <p:cNvSpPr>
            <a:spLocks xmlns:a="http://schemas.openxmlformats.org/drawingml/2006/main" noGrp="1"/>
          </p:cNvSpPr>
          <p:nvPr/>
        </p:nvSpPr>
        <p:spPr>
          <a:xfrm xmlns:a="http://schemas.openxmlformats.org/drawingml/2006/main">
            <a:off x="9753600" y="2943225"/>
            <a:ext cx="1752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F3F7FB"/>
                </a:solidFill>
                <a:latin typeface="Liberation Sans"/>
                <a:ea typeface="Liberation Sans"/>
                <a:cs typeface="Liberation Sans"/>
              </a:defRPr>
            </a:defPPr>
          </a:lstStyle>
          <a:p xmlns:a="http://schemas.openxmlformats.org/drawingml/2006/main">
            <a:pPr algn="ctr">
              <a:defRPr sz="1650" b="0">
                <a:solidFill>
                  <a:srgbClr val="F3F7FB"/>
                </a:solidFill>
                <a:latin typeface="Liberation Sans"/>
                <a:ea typeface="Liberation Sans"/>
                <a:cs typeface="Liberation Sans"/>
              </a:defRPr>
            </a:pPr>
            <a:r>
              <a:rPr sz="1650" b="0">
                <a:solidFill>
                  <a:srgbClr val="F3F7FB"/>
                </a:solidFill>
                <a:latin typeface="Liberation Sans"/>
                <a:ea typeface="Liberation Sans"/>
                <a:cs typeface="Liberation Sans"/>
              </a:rPr>
              <a:t>Dashboard</a:t>
            </a:r>
          </a:p>
        </p:txBody>
      </p:sp>
      <p:sp>
        <p:nvSpPr>
          <p:cNvPr id="25" name="line-390">
            <a:extLst xmlns:a="http://schemas.openxmlformats.org/drawingml/2006/main">
              <a:ext uri="{FF2B5EF4-FFF2-40B4-BE49-F238E27FC236}">
                <a16:creationId xmlns:a16="http://schemas.microsoft.com/office/drawing/2014/main" id="{82353C40-00C2-48C8-92A4-841850EFB8B8}"/>
              </a:ext>
            </a:extLst>
          </p:cNvPr>
          <p:cNvSpPr>
            <a:spLocks xmlns:a="http://schemas.openxmlformats.org/drawingml/2006/main" noGrp="1"/>
          </p:cNvSpPr>
          <p:nvPr/>
        </p:nvSpPr>
        <p:spPr>
          <a:xfrm xmlns:a="http://schemas.openxmlformats.org/drawingml/2006/main">
            <a:off x="571500" y="3962400"/>
            <a:ext cx="3467100" cy="0"/>
          </a:xfrm>
          <a:prstGeom xmlns:a="http://schemas.openxmlformats.org/drawingml/2006/main" prst="line">
            <a:avLst/>
          </a:prstGeom>
          <a:noFill xmlns:a="http://schemas.openxmlformats.org/drawingml/2006/main"/>
          <a:ln xmlns:a="http://schemas.openxmlformats.org/drawingml/2006/main" w="19050">
            <a:solidFill>
              <a:srgbClr val="39DBB0"/>
            </a:solidFill>
            <a:prstDash val="solid"/>
          </a:ln>
        </p:spPr>
      </p:sp>
      <p:sp>
        <p:nvSpPr>
          <p:cNvPr id="26" name="shape-391">
            <a:extLst xmlns:a="http://schemas.openxmlformats.org/drawingml/2006/main">
              <a:ext uri="{FF2B5EF4-FFF2-40B4-BE49-F238E27FC236}">
                <a16:creationId xmlns:a16="http://schemas.microsoft.com/office/drawing/2014/main" id="{5BE535C7-19FE-4572-8E9F-AC70D26EDEEE}"/>
              </a:ext>
            </a:extLst>
          </p:cNvPr>
          <p:cNvSpPr>
            <a:spLocks xmlns:a="http://schemas.openxmlformats.org/drawingml/2006/main" noGrp="1"/>
          </p:cNvSpPr>
          <p:nvPr/>
        </p:nvSpPr>
        <p:spPr>
          <a:xfrm xmlns:a="http://schemas.openxmlformats.org/drawingml/2006/main">
            <a:off x="571500" y="4171950"/>
            <a:ext cx="3467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F3F7FB"/>
                </a:solidFill>
                <a:latin typeface="Liberation Sans"/>
                <a:ea typeface="Liberation Sans"/>
                <a:cs typeface="Liberation Sans"/>
              </a:defRPr>
            </a:defPPr>
          </a:lstStyle>
          <a:p xmlns:a="http://schemas.openxmlformats.org/drawingml/2006/main">
            <a:pPr algn="l">
              <a:defRPr sz="2250" b="1">
                <a:solidFill>
                  <a:srgbClr val="F3F7FB"/>
                </a:solidFill>
                <a:latin typeface="Liberation Sans"/>
                <a:ea typeface="Liberation Sans"/>
                <a:cs typeface="Liberation Sans"/>
              </a:defRPr>
            </a:pPr>
            <a:r>
              <a:rPr sz="2250" b="1">
                <a:solidFill>
                  <a:srgbClr val="F3F7FB"/>
                </a:solidFill>
                <a:latin typeface="Liberation Sans"/>
                <a:ea typeface="Liberation Sans"/>
                <a:cs typeface="Liberation Sans"/>
              </a:rPr>
              <a:t>Reliable</a:t>
            </a:r>
          </a:p>
        </p:txBody>
      </p:sp>
      <p:sp>
        <p:nvSpPr>
          <p:cNvPr id="27" name="shape-392">
            <a:extLst xmlns:a="http://schemas.openxmlformats.org/drawingml/2006/main">
              <a:ext uri="{FF2B5EF4-FFF2-40B4-BE49-F238E27FC236}">
                <a16:creationId xmlns:a16="http://schemas.microsoft.com/office/drawing/2014/main" id="{D9AF27CD-B37B-4E39-A057-06C7FDF45FC2}"/>
              </a:ext>
            </a:extLst>
          </p:cNvPr>
          <p:cNvSpPr>
            <a:spLocks xmlns:a="http://schemas.openxmlformats.org/drawingml/2006/main" noGrp="1"/>
          </p:cNvSpPr>
          <p:nvPr/>
        </p:nvSpPr>
        <p:spPr>
          <a:xfrm xmlns:a="http://schemas.openxmlformats.org/drawingml/2006/main">
            <a:off x="571500" y="4657725"/>
            <a:ext cx="3467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A9BBCB"/>
                </a:solidFill>
                <a:latin typeface="Liberation Sans"/>
                <a:ea typeface="Liberation Sans"/>
                <a:cs typeface="Liberation Sans"/>
              </a:defRPr>
            </a:defPPr>
          </a:lstStyle>
          <a:p xmlns:a="http://schemas.openxmlformats.org/drawingml/2006/main">
            <a:pPr algn="l">
              <a:defRPr sz="1800" b="0">
                <a:solidFill>
                  <a:srgbClr val="A9BBCB"/>
                </a:solidFill>
                <a:latin typeface="Liberation Sans"/>
                <a:ea typeface="Liberation Sans"/>
                <a:cs typeface="Liberation Sans"/>
              </a:defRPr>
            </a:pPr>
            <a:r>
              <a:rPr sz="1800" b="0">
                <a:solidFill>
                  <a:srgbClr val="A9BBCB"/>
                </a:solidFill>
                <a:latin typeface="Liberation Sans"/>
                <a:ea typeface="Liberation Sans"/>
                <a:cs typeface="Liberation Sans"/>
              </a:rPr>
              <a:t>Validated ingestion</a:t>
            </a:r>
          </a:p>
          <a:p xmlns:a="http://schemas.openxmlformats.org/drawingml/2006/main">
            <a:pPr algn="l">
              <a:defRPr sz="1800" b="0">
                <a:solidFill>
                  <a:srgbClr val="A9BBCB"/>
                </a:solidFill>
                <a:latin typeface="Liberation Sans"/>
                <a:ea typeface="Liberation Sans"/>
                <a:cs typeface="Liberation Sans"/>
              </a:defRPr>
            </a:pPr>
            <a:r>
              <a:rPr sz="1800" b="0">
                <a:solidFill>
                  <a:srgbClr val="A9BBCB"/>
                </a:solidFill>
                <a:latin typeface="Liberation Sans"/>
                <a:ea typeface="Liberation Sans"/>
                <a:cs typeface="Liberation Sans"/>
              </a:rPr>
              <a:t>16/16 dbt tests passed</a:t>
            </a:r>
          </a:p>
        </p:txBody>
      </p:sp>
      <p:sp>
        <p:nvSpPr>
          <p:cNvPr id="28" name="line-393">
            <a:extLst xmlns:a="http://schemas.openxmlformats.org/drawingml/2006/main">
              <a:ext uri="{FF2B5EF4-FFF2-40B4-BE49-F238E27FC236}">
                <a16:creationId xmlns:a16="http://schemas.microsoft.com/office/drawing/2014/main" id="{295269E1-88BF-4651-8815-60D67160A570}"/>
              </a:ext>
            </a:extLst>
          </p:cNvPr>
          <p:cNvSpPr>
            <a:spLocks xmlns:a="http://schemas.openxmlformats.org/drawingml/2006/main" noGrp="1"/>
          </p:cNvSpPr>
          <p:nvPr/>
        </p:nvSpPr>
        <p:spPr>
          <a:xfrm xmlns:a="http://schemas.openxmlformats.org/drawingml/2006/main">
            <a:off x="4362450" y="3962400"/>
            <a:ext cx="3467100" cy="0"/>
          </a:xfrm>
          <a:prstGeom xmlns:a="http://schemas.openxmlformats.org/drawingml/2006/main" prst="line">
            <a:avLst/>
          </a:prstGeom>
          <a:noFill xmlns:a="http://schemas.openxmlformats.org/drawingml/2006/main"/>
          <a:ln xmlns:a="http://schemas.openxmlformats.org/drawingml/2006/main" w="19050">
            <a:solidFill>
              <a:srgbClr val="72ACFF"/>
            </a:solidFill>
            <a:prstDash val="solid"/>
          </a:ln>
        </p:spPr>
      </p:sp>
      <p:sp>
        <p:nvSpPr>
          <p:cNvPr id="29" name="shape-394">
            <a:extLst xmlns:a="http://schemas.openxmlformats.org/drawingml/2006/main">
              <a:ext uri="{FF2B5EF4-FFF2-40B4-BE49-F238E27FC236}">
                <a16:creationId xmlns:a16="http://schemas.microsoft.com/office/drawing/2014/main" id="{2BA5B642-DB53-42DC-82FA-76CACDF60F1D}"/>
              </a:ext>
            </a:extLst>
          </p:cNvPr>
          <p:cNvSpPr>
            <a:spLocks xmlns:a="http://schemas.openxmlformats.org/drawingml/2006/main" noGrp="1"/>
          </p:cNvSpPr>
          <p:nvPr/>
        </p:nvSpPr>
        <p:spPr>
          <a:xfrm xmlns:a="http://schemas.openxmlformats.org/drawingml/2006/main">
            <a:off x="4362450" y="4171950"/>
            <a:ext cx="3467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F3F7FB"/>
                </a:solidFill>
                <a:latin typeface="Liberation Sans"/>
                <a:ea typeface="Liberation Sans"/>
                <a:cs typeface="Liberation Sans"/>
              </a:defRPr>
            </a:defPPr>
          </a:lstStyle>
          <a:p xmlns:a="http://schemas.openxmlformats.org/drawingml/2006/main">
            <a:pPr algn="l">
              <a:defRPr sz="2250" b="1">
                <a:solidFill>
                  <a:srgbClr val="F3F7FB"/>
                </a:solidFill>
                <a:latin typeface="Liberation Sans"/>
                <a:ea typeface="Liberation Sans"/>
                <a:cs typeface="Liberation Sans"/>
              </a:defRPr>
            </a:pPr>
            <a:r>
              <a:rPr sz="2250" b="1">
                <a:solidFill>
                  <a:srgbClr val="F3F7FB"/>
                </a:solidFill>
                <a:latin typeface="Liberation Sans"/>
                <a:ea typeface="Liberation Sans"/>
                <a:cs typeface="Liberation Sans"/>
              </a:rPr>
              <a:t>Automated</a:t>
            </a:r>
          </a:p>
        </p:txBody>
      </p:sp>
      <p:sp>
        <p:nvSpPr>
          <p:cNvPr id="30" name="shape-395">
            <a:extLst xmlns:a="http://schemas.openxmlformats.org/drawingml/2006/main">
              <a:ext uri="{FF2B5EF4-FFF2-40B4-BE49-F238E27FC236}">
                <a16:creationId xmlns:a16="http://schemas.microsoft.com/office/drawing/2014/main" id="{3CE2C5D8-1ADC-4742-BC0A-C5753D5822EC}"/>
              </a:ext>
            </a:extLst>
          </p:cNvPr>
          <p:cNvSpPr>
            <a:spLocks xmlns:a="http://schemas.openxmlformats.org/drawingml/2006/main" noGrp="1"/>
          </p:cNvSpPr>
          <p:nvPr/>
        </p:nvSpPr>
        <p:spPr>
          <a:xfrm xmlns:a="http://schemas.openxmlformats.org/drawingml/2006/main">
            <a:off x="4362450" y="4657725"/>
            <a:ext cx="3467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A9BBCB"/>
                </a:solidFill>
                <a:latin typeface="Liberation Sans"/>
                <a:ea typeface="Liberation Sans"/>
                <a:cs typeface="Liberation Sans"/>
              </a:defRPr>
            </a:defPPr>
          </a:lstStyle>
          <a:p xmlns:a="http://schemas.openxmlformats.org/drawingml/2006/main">
            <a:pPr algn="l">
              <a:defRPr sz="1800" b="0">
                <a:solidFill>
                  <a:srgbClr val="A9BBCB"/>
                </a:solidFill>
                <a:latin typeface="Liberation Sans"/>
                <a:ea typeface="Liberation Sans"/>
                <a:cs typeface="Liberation Sans"/>
              </a:defRPr>
            </a:pPr>
            <a:r>
              <a:rPr sz="1800" b="0">
                <a:solidFill>
                  <a:srgbClr val="A9BBCB"/>
                </a:solidFill>
                <a:latin typeface="Liberation Sans"/>
                <a:ea typeface="Liberation Sans"/>
                <a:cs typeface="Liberation Sans"/>
              </a:rPr>
              <a:t>End-to-end Airflow orchestration</a:t>
            </a:r>
          </a:p>
          <a:p xmlns:a="http://schemas.openxmlformats.org/drawingml/2006/main">
            <a:pPr algn="l">
              <a:defRPr sz="1800" b="0">
                <a:solidFill>
                  <a:srgbClr val="A9BBCB"/>
                </a:solidFill>
                <a:latin typeface="Liberation Sans"/>
                <a:ea typeface="Liberation Sans"/>
                <a:cs typeface="Liberation Sans"/>
              </a:defRPr>
            </a:pPr>
            <a:r>
              <a:rPr sz="1800" b="0">
                <a:solidFill>
                  <a:srgbClr val="A9BBCB"/>
                </a:solidFill>
                <a:latin typeface="Liberation Sans"/>
                <a:ea typeface="Liberation Sans"/>
                <a:cs typeface="Liberation Sans"/>
              </a:rPr>
              <a:t>following a manual trigger</a:t>
            </a:r>
          </a:p>
        </p:txBody>
      </p:sp>
      <p:sp>
        <p:nvSpPr>
          <p:cNvPr id="31" name="line-396">
            <a:extLst xmlns:a="http://schemas.openxmlformats.org/drawingml/2006/main">
              <a:ext uri="{FF2B5EF4-FFF2-40B4-BE49-F238E27FC236}">
                <a16:creationId xmlns:a16="http://schemas.microsoft.com/office/drawing/2014/main" id="{3818BC99-B40B-4B30-BD33-762531C317BC}"/>
              </a:ext>
            </a:extLst>
          </p:cNvPr>
          <p:cNvSpPr>
            <a:spLocks xmlns:a="http://schemas.openxmlformats.org/drawingml/2006/main" noGrp="1"/>
          </p:cNvSpPr>
          <p:nvPr/>
        </p:nvSpPr>
        <p:spPr>
          <a:xfrm xmlns:a="http://schemas.openxmlformats.org/drawingml/2006/main">
            <a:off x="8153400" y="3962400"/>
            <a:ext cx="3467100" cy="0"/>
          </a:xfrm>
          <a:prstGeom xmlns:a="http://schemas.openxmlformats.org/drawingml/2006/main" prst="line">
            <a:avLst/>
          </a:prstGeom>
          <a:noFill xmlns:a="http://schemas.openxmlformats.org/drawingml/2006/main"/>
          <a:ln xmlns:a="http://schemas.openxmlformats.org/drawingml/2006/main" w="19050">
            <a:solidFill>
              <a:srgbClr val="39DBB0"/>
            </a:solidFill>
            <a:prstDash val="solid"/>
          </a:ln>
        </p:spPr>
      </p:sp>
      <p:sp>
        <p:nvSpPr>
          <p:cNvPr id="32" name="shape-397">
            <a:extLst xmlns:a="http://schemas.openxmlformats.org/drawingml/2006/main">
              <a:ext uri="{FF2B5EF4-FFF2-40B4-BE49-F238E27FC236}">
                <a16:creationId xmlns:a16="http://schemas.microsoft.com/office/drawing/2014/main" id="{14FFEFF4-5C39-4884-947C-EF226EA2BE07}"/>
              </a:ext>
            </a:extLst>
          </p:cNvPr>
          <p:cNvSpPr>
            <a:spLocks xmlns:a="http://schemas.openxmlformats.org/drawingml/2006/main" noGrp="1"/>
          </p:cNvSpPr>
          <p:nvPr/>
        </p:nvSpPr>
        <p:spPr>
          <a:xfrm xmlns:a="http://schemas.openxmlformats.org/drawingml/2006/main">
            <a:off x="8153400" y="4171950"/>
            <a:ext cx="3467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F3F7FB"/>
                </a:solidFill>
                <a:latin typeface="Liberation Sans"/>
                <a:ea typeface="Liberation Sans"/>
                <a:cs typeface="Liberation Sans"/>
              </a:defRPr>
            </a:defPPr>
          </a:lstStyle>
          <a:p xmlns:a="http://schemas.openxmlformats.org/drawingml/2006/main">
            <a:pPr algn="l">
              <a:defRPr sz="2250" b="1">
                <a:solidFill>
                  <a:srgbClr val="F3F7FB"/>
                </a:solidFill>
                <a:latin typeface="Liberation Sans"/>
                <a:ea typeface="Liberation Sans"/>
                <a:cs typeface="Liberation Sans"/>
              </a:defRPr>
            </a:pPr>
            <a:r>
              <a:rPr sz="2250" b="1">
                <a:solidFill>
                  <a:srgbClr val="F3F7FB"/>
                </a:solidFill>
                <a:latin typeface="Liberation Sans"/>
                <a:ea typeface="Liberation Sans"/>
                <a:cs typeface="Liberation Sans"/>
              </a:rPr>
              <a:t>Business-Focused</a:t>
            </a:r>
          </a:p>
        </p:txBody>
      </p:sp>
      <p:sp>
        <p:nvSpPr>
          <p:cNvPr id="33" name="shape-398">
            <a:extLst xmlns:a="http://schemas.openxmlformats.org/drawingml/2006/main">
              <a:ext uri="{FF2B5EF4-FFF2-40B4-BE49-F238E27FC236}">
                <a16:creationId xmlns:a16="http://schemas.microsoft.com/office/drawing/2014/main" id="{04E99BCA-7816-4696-ABB9-066CEE97803A}"/>
              </a:ext>
            </a:extLst>
          </p:cNvPr>
          <p:cNvSpPr>
            <a:spLocks xmlns:a="http://schemas.openxmlformats.org/drawingml/2006/main" noGrp="1"/>
          </p:cNvSpPr>
          <p:nvPr/>
        </p:nvSpPr>
        <p:spPr>
          <a:xfrm xmlns:a="http://schemas.openxmlformats.org/drawingml/2006/main">
            <a:off x="8153400" y="4657725"/>
            <a:ext cx="3467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A9BBCB"/>
                </a:solidFill>
                <a:latin typeface="Liberation Sans"/>
                <a:ea typeface="Liberation Sans"/>
                <a:cs typeface="Liberation Sans"/>
              </a:defRPr>
            </a:defPPr>
          </a:lstStyle>
          <a:p xmlns:a="http://schemas.openxmlformats.org/drawingml/2006/main">
            <a:pPr algn="l">
              <a:defRPr sz="1800" b="0">
                <a:solidFill>
                  <a:srgbClr val="A9BBCB"/>
                </a:solidFill>
                <a:latin typeface="Liberation Sans"/>
                <a:ea typeface="Liberation Sans"/>
                <a:cs typeface="Liberation Sans"/>
              </a:defRPr>
            </a:pPr>
            <a:r>
              <a:rPr sz="1800" b="0">
                <a:solidFill>
                  <a:srgbClr val="A9BBCB"/>
                </a:solidFill>
                <a:latin typeface="Liberation Sans"/>
                <a:ea typeface="Liberation Sans"/>
                <a:cs typeface="Liberation Sans"/>
              </a:rPr>
              <a:t>Operational KPIs</a:t>
            </a:r>
          </a:p>
          <a:p xmlns:a="http://schemas.openxmlformats.org/drawingml/2006/main">
            <a:pPr algn="l">
              <a:defRPr sz="1800" b="0">
                <a:solidFill>
                  <a:srgbClr val="A9BBCB"/>
                </a:solidFill>
                <a:latin typeface="Liberation Sans"/>
                <a:ea typeface="Liberation Sans"/>
                <a:cs typeface="Liberation Sans"/>
              </a:defRPr>
            </a:pPr>
            <a:r>
              <a:rPr sz="1800" b="0">
                <a:solidFill>
                  <a:srgbClr val="A9BBCB"/>
                </a:solidFill>
                <a:latin typeface="Liberation Sans"/>
                <a:ea typeface="Liberation Sans"/>
                <a:cs typeface="Liberation Sans"/>
              </a:rPr>
              <a:t>delivered through Power BI</a:t>
            </a:r>
          </a:p>
        </p:txBody>
      </p:sp>
      <p:sp>
        <p:nvSpPr>
          <p:cNvPr id="34" name="shape-399">
            <a:extLst xmlns:a="http://schemas.openxmlformats.org/drawingml/2006/main">
              <a:ext uri="{FF2B5EF4-FFF2-40B4-BE49-F238E27FC236}">
                <a16:creationId xmlns:a16="http://schemas.microsoft.com/office/drawing/2014/main" id="{0262D9D7-5E6B-4159-B003-AE283A288031}"/>
              </a:ext>
            </a:extLst>
          </p:cNvPr>
          <p:cNvSpPr>
            <a:spLocks xmlns:a="http://schemas.openxmlformats.org/drawingml/2006/main" noGrp="1"/>
          </p:cNvSpPr>
          <p:nvPr/>
        </p:nvSpPr>
        <p:spPr>
          <a:xfrm xmlns:a="http://schemas.openxmlformats.org/drawingml/2006/main">
            <a:off x="571500" y="5638800"/>
            <a:ext cx="11049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48DCE7"/>
                </a:solidFill>
                <a:latin typeface="Liberation Sans"/>
                <a:ea typeface="Liberation Sans"/>
                <a:cs typeface="Liberation Sans"/>
              </a:defRPr>
            </a:defPPr>
          </a:lstStyle>
          <a:p xmlns:a="http://schemas.openxmlformats.org/drawingml/2006/main">
            <a:pPr algn="l">
              <a:defRPr sz="1725" b="1">
                <a:solidFill>
                  <a:srgbClr val="48DCE7"/>
                </a:solidFill>
                <a:latin typeface="Liberation Sans"/>
                <a:ea typeface="Liberation Sans"/>
                <a:cs typeface="Liberation Sans"/>
              </a:defRPr>
            </a:pPr>
            <a:r>
              <a:rPr sz="1725" b="1">
                <a:solidFill>
                  <a:srgbClr val="48DCE7"/>
                </a:solidFill>
                <a:latin typeface="Liberation Sans"/>
                <a:ea typeface="Liberation Sans"/>
                <a:cs typeface="Liberation Sans"/>
              </a:rPr>
              <a:t>End-to-End Data Analytics | Engineering | Business Intelligence</a:t>
            </a:r>
          </a:p>
        </p:txBody>
      </p:sp>
      <p:sp>
        <p:nvSpPr>
          <p:cNvPr id="35" name="shape-400">
            <a:extLst xmlns:a="http://schemas.openxmlformats.org/drawingml/2006/main">
              <a:ext uri="{FF2B5EF4-FFF2-40B4-BE49-F238E27FC236}">
                <a16:creationId xmlns:a16="http://schemas.microsoft.com/office/drawing/2014/main" id="{1DA0FA3C-6183-44EC-BE34-03535231E865}"/>
              </a:ext>
            </a:extLst>
          </p:cNvPr>
          <p:cNvSpPr>
            <a:spLocks xmlns:a="http://schemas.openxmlformats.org/drawingml/2006/main" noGrp="1"/>
          </p:cNvSpPr>
          <p:nvPr/>
        </p:nvSpPr>
        <p:spPr>
          <a:xfrm xmlns:a="http://schemas.openxmlformats.org/drawingml/2006/main">
            <a:off x="571500" y="6010275"/>
            <a:ext cx="1104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3F7FB"/>
                </a:solidFill>
                <a:latin typeface="Liberation Sans"/>
                <a:ea typeface="Liberation Sans"/>
                <a:cs typeface="Liberation Sans"/>
              </a:defRPr>
            </a:defPPr>
          </a:lstStyle>
          <a:p xmlns:a="http://schemas.openxmlformats.org/drawingml/2006/main">
            <a:pPr algn="l">
              <a:defRPr sz="1725" b="1">
                <a:solidFill>
                  <a:srgbClr val="F3F7FB"/>
                </a:solidFill>
                <a:latin typeface="Liberation Sans"/>
                <a:ea typeface="Liberation Sans"/>
                <a:cs typeface="Liberation Sans"/>
              </a:defRPr>
            </a:pPr>
            <a:r>
              <a:rPr sz="1725" b="1">
                <a:solidFill>
                  <a:srgbClr val="F3F7FB"/>
                </a:solidFill>
                <a:latin typeface="Liberation Sans"/>
                <a:ea typeface="Liberation Sans"/>
                <a:cs typeface="Liberation Sans"/>
              </a:rPr>
              <a:t>Md. Maidul Hassan Shanto</a:t>
            </a:r>
          </a:p>
        </p:txBody>
      </p:sp>
    </p:spTree>
    <p:extLst>
      <p:ext uri="{BB962C8B-B14F-4D97-AF65-F5344CB8AC3E}">
        <p14:creationId xmlns:p14="http://schemas.microsoft.com/office/powerpoint/2010/main" val="1073680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2026-10-28T15:14:47.7250000Z</dcterms:created>
  <dcterms:modified xsi:type="dcterms:W3CDTF">2026-10-28T15:14:47.7250000Z</dcterms:modified>
</coreProperties>
</file>